
<file path=[Content_Types].xml><?xml version="1.0" encoding="utf-8"?>
<Types xmlns="http://schemas.openxmlformats.org/package/2006/content-types">
  <Default Extension="fntdata" ContentType="application/x-fontdata"/>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1" r:id="rId23"/>
    <p:sldId id="282" r:id="rId24"/>
    <p:sldId id="283" r:id="rId25"/>
    <p:sldId id="285" r:id="rId26"/>
    <p:sldId id="286" r:id="rId27"/>
    <p:sldId id="287" r:id="rId28"/>
    <p:sldId id="290" r:id="rId29"/>
    <p:sldId id="291" r:id="rId30"/>
    <p:sldId id="292" r:id="rId31"/>
    <p:sldId id="293" r:id="rId32"/>
    <p:sldId id="302" r:id="rId33"/>
    <p:sldId id="277" r:id="rId34"/>
    <p:sldId id="300" r:id="rId35"/>
    <p:sldId id="294" r:id="rId36"/>
    <p:sldId id="295" r:id="rId37"/>
    <p:sldId id="297" r:id="rId38"/>
    <p:sldId id="298" r:id="rId39"/>
    <p:sldId id="299" r:id="rId40"/>
  </p:sldIdLst>
  <p:sldSz cx="12192000" cy="6858000"/>
  <p:notesSz cx="6858000" cy="12192000"/>
  <p:embeddedFontLst>
    <p:embeddedFont>
      <p:font typeface="Fraunces ExtraBold" panose="020B0604020202020204" charset="0"/>
      <p:regular r:id="rId42"/>
    </p:embeddedFont>
    <p:embeddedFont>
      <p:font typeface="Instrument Sans" panose="020B0604020202020204" charset="0"/>
      <p:regular r:id="rId4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5834"/>
    <a:srgbClr val="0B9912"/>
    <a:srgbClr val="146A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D0DED1-FF51-4A34-8800-D6FA9CFA8AAA}" v="19" dt="2026-06-15T22:58:49.3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7259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marketresearch.biz/report/indoor-plants-market/"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www.fao.org/plant-health-2020/about/en/"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kaggle.com/datasets/kanishk3813/pathogen-dataset" TargetMode="External"/><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2.sv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alphaModFix amt="20000"/>
            <a:lum/>
          </a:blip>
          <a:srcRect/>
          <a:stretch>
            <a:fillRect t="-109000" b="-109000"/>
          </a:stretch>
        </a:blipFill>
        <a:effectLst/>
      </p:bgPr>
    </p:bg>
    <p:spTree>
      <p:nvGrpSpPr>
        <p:cNvPr id="1" name=""/>
        <p:cNvGrpSpPr/>
        <p:nvPr/>
      </p:nvGrpSpPr>
      <p:grpSpPr>
        <a:xfrm>
          <a:off x="0" y="0"/>
          <a:ext cx="0" cy="0"/>
          <a:chOff x="0" y="0"/>
          <a:chExt cx="0" cy="0"/>
        </a:xfrm>
      </p:grpSpPr>
      <p:sp>
        <p:nvSpPr>
          <p:cNvPr id="2" name="Text 0"/>
          <p:cNvSpPr/>
          <p:nvPr/>
        </p:nvSpPr>
        <p:spPr>
          <a:xfrm>
            <a:off x="661574" y="974824"/>
            <a:ext cx="10868547" cy="1402953"/>
          </a:xfrm>
          <a:prstGeom prst="rect">
            <a:avLst/>
          </a:prstGeom>
          <a:noFill/>
          <a:ln/>
        </p:spPr>
        <p:txBody>
          <a:bodyPr wrap="square" lIns="0" tIns="0" rIns="0" bIns="0" rtlCol="0" anchor="t">
            <a:normAutofit/>
          </a:bodyPr>
          <a:lstStyle/>
          <a:p>
            <a:pPr marL="0" indent="0" algn="ctr">
              <a:lnSpc>
                <a:spcPct val="104000"/>
              </a:lnSpc>
              <a:buNone/>
            </a:pPr>
            <a:r>
              <a:rPr lang="en-US" sz="4400" b="1" dirty="0">
                <a:solidFill>
                  <a:srgbClr val="265834"/>
                </a:solidFill>
                <a:latin typeface="Fraunces ExtraBold" pitchFamily="34" charset="0"/>
                <a:ea typeface="Fraunces ExtraBold" pitchFamily="34" charset="-122"/>
                <a:cs typeface="Fraunces ExtraBold" pitchFamily="34" charset="-120"/>
              </a:rPr>
              <a:t>FloraAi: An Ai Powered Mobile Application For Intelligent Plant Care</a:t>
            </a:r>
            <a:endParaRPr lang="en-US" sz="4400" b="1" dirty="0"/>
          </a:p>
        </p:txBody>
      </p:sp>
      <p:sp>
        <p:nvSpPr>
          <p:cNvPr id="3" name="Text 1"/>
          <p:cNvSpPr/>
          <p:nvPr/>
        </p:nvSpPr>
        <p:spPr>
          <a:xfrm>
            <a:off x="4106958" y="2463006"/>
            <a:ext cx="3977779" cy="420787"/>
          </a:xfrm>
          <a:prstGeom prst="rect">
            <a:avLst/>
          </a:prstGeom>
          <a:noFill/>
          <a:ln/>
        </p:spPr>
        <p:txBody>
          <a:bodyPr wrap="none" lIns="0" tIns="0" rIns="0" bIns="0" rtlCol="0" anchor="t"/>
          <a:lstStyle/>
          <a:p>
            <a:pPr marL="0" indent="0" algn="ctr">
              <a:lnSpc>
                <a:spcPct val="104000"/>
              </a:lnSpc>
              <a:buNone/>
            </a:pPr>
            <a:r>
              <a:rPr lang="en-US" sz="2650" b="1" dirty="0">
                <a:solidFill>
                  <a:srgbClr val="265834"/>
                </a:solidFill>
                <a:latin typeface="Fraunces ExtraBold" pitchFamily="34" charset="0"/>
                <a:ea typeface="Fraunces ExtraBold" pitchFamily="34" charset="-122"/>
                <a:cs typeface="Fraunces ExtraBold" pitchFamily="34" charset="-120"/>
              </a:rPr>
              <a:t>Graduation Project </a:t>
            </a:r>
            <a:endParaRPr lang="en-US" sz="2650" b="1" dirty="0"/>
          </a:p>
        </p:txBody>
      </p:sp>
      <p:sp>
        <p:nvSpPr>
          <p:cNvPr id="4" name="Text 2"/>
          <p:cNvSpPr/>
          <p:nvPr/>
        </p:nvSpPr>
        <p:spPr>
          <a:xfrm>
            <a:off x="4107653" y="2969022"/>
            <a:ext cx="3976390" cy="420787"/>
          </a:xfrm>
          <a:prstGeom prst="rect">
            <a:avLst/>
          </a:prstGeom>
          <a:noFill/>
          <a:ln/>
        </p:spPr>
        <p:txBody>
          <a:bodyPr wrap="none" lIns="0" tIns="0" rIns="0" bIns="0" rtlCol="0" anchor="t"/>
          <a:lstStyle/>
          <a:p>
            <a:pPr marL="0" indent="0" algn="ctr">
              <a:lnSpc>
                <a:spcPct val="104000"/>
              </a:lnSpc>
              <a:buNone/>
            </a:pPr>
            <a:r>
              <a:rPr lang="en-US" sz="2650" b="1" dirty="0">
                <a:solidFill>
                  <a:srgbClr val="265834"/>
                </a:solidFill>
                <a:latin typeface="Fraunces ExtraBold" pitchFamily="34" charset="0"/>
                <a:ea typeface="Fraunces ExtraBold" pitchFamily="34" charset="-122"/>
                <a:cs typeface="Fraunces ExtraBold" pitchFamily="34" charset="-120"/>
              </a:rPr>
              <a:t>2025-2026</a:t>
            </a:r>
            <a:endParaRPr lang="en-US" sz="2650" b="1" dirty="0"/>
          </a:p>
        </p:txBody>
      </p:sp>
      <p:sp>
        <p:nvSpPr>
          <p:cNvPr id="5" name="Shape 3"/>
          <p:cNvSpPr/>
          <p:nvPr/>
        </p:nvSpPr>
        <p:spPr>
          <a:xfrm>
            <a:off x="661574" y="3765649"/>
            <a:ext cx="10868547" cy="27980"/>
          </a:xfrm>
          <a:prstGeom prst="roundRect">
            <a:avLst>
              <a:gd name="adj" fmla="val 721992"/>
            </a:avLst>
          </a:prstGeom>
          <a:solidFill>
            <a:srgbClr val="265834"/>
          </a:solidFill>
          <a:ln/>
        </p:spPr>
        <p:txBody>
          <a:bodyPr/>
          <a:lstStyle/>
          <a:p>
            <a:endParaRPr lang="en-US"/>
          </a:p>
        </p:txBody>
      </p:sp>
      <p:sp>
        <p:nvSpPr>
          <p:cNvPr id="6" name="Text 4"/>
          <p:cNvSpPr/>
          <p:nvPr/>
        </p:nvSpPr>
        <p:spPr>
          <a:xfrm>
            <a:off x="4107653" y="4169470"/>
            <a:ext cx="3976390" cy="420787"/>
          </a:xfrm>
          <a:prstGeom prst="rect">
            <a:avLst/>
          </a:prstGeom>
          <a:noFill/>
          <a:ln/>
        </p:spPr>
        <p:txBody>
          <a:bodyPr wrap="none" lIns="0" tIns="0" rIns="0" bIns="0" rtlCol="0" anchor="t"/>
          <a:lstStyle/>
          <a:p>
            <a:pPr marL="0" indent="0" algn="ctr">
              <a:lnSpc>
                <a:spcPct val="104000"/>
              </a:lnSpc>
              <a:buNone/>
            </a:pPr>
            <a:r>
              <a:rPr lang="en-US" sz="2650" b="1" dirty="0">
                <a:solidFill>
                  <a:srgbClr val="265834"/>
                </a:solidFill>
                <a:latin typeface="Fraunces ExtraBold" pitchFamily="34" charset="0"/>
                <a:ea typeface="Fraunces ExtraBold" pitchFamily="34" charset="-122"/>
                <a:cs typeface="Fraunces ExtraBold" pitchFamily="34" charset="-120"/>
              </a:rPr>
              <a:t>Supervised By</a:t>
            </a:r>
            <a:endParaRPr lang="en-US" sz="2650" b="1" dirty="0"/>
          </a:p>
        </p:txBody>
      </p:sp>
      <p:sp>
        <p:nvSpPr>
          <p:cNvPr id="7" name="Text 5"/>
          <p:cNvSpPr/>
          <p:nvPr/>
        </p:nvSpPr>
        <p:spPr>
          <a:xfrm>
            <a:off x="3546485" y="4675485"/>
            <a:ext cx="5098724" cy="561181"/>
          </a:xfrm>
          <a:prstGeom prst="rect">
            <a:avLst/>
          </a:prstGeom>
          <a:noFill/>
          <a:ln/>
        </p:spPr>
        <p:txBody>
          <a:bodyPr wrap="none" lIns="0" tIns="0" rIns="0" bIns="0" rtlCol="0" anchor="t"/>
          <a:lstStyle/>
          <a:p>
            <a:pPr marL="0" indent="0" algn="ctr">
              <a:lnSpc>
                <a:spcPct val="104000"/>
              </a:lnSpc>
              <a:buNone/>
            </a:pPr>
            <a:r>
              <a:rPr lang="en-US" sz="3500" b="1" dirty="0">
                <a:solidFill>
                  <a:srgbClr val="265834"/>
                </a:solidFill>
                <a:latin typeface="Fraunces ExtraBold" pitchFamily="34" charset="0"/>
                <a:ea typeface="Fraunces ExtraBold" pitchFamily="34" charset="-122"/>
                <a:cs typeface="Fraunces ExtraBold" pitchFamily="34" charset="-120"/>
              </a:rPr>
              <a:t>Dr. Hanaa Bayoumi</a:t>
            </a:r>
            <a:endParaRPr lang="en-US" sz="3500" b="1" dirty="0"/>
          </a:p>
        </p:txBody>
      </p:sp>
      <p:sp>
        <p:nvSpPr>
          <p:cNvPr id="8" name="Text 6"/>
          <p:cNvSpPr/>
          <p:nvPr/>
        </p:nvSpPr>
        <p:spPr>
          <a:xfrm>
            <a:off x="3546485" y="5321895"/>
            <a:ext cx="5098724" cy="561181"/>
          </a:xfrm>
          <a:prstGeom prst="rect">
            <a:avLst/>
          </a:prstGeom>
          <a:noFill/>
          <a:ln/>
        </p:spPr>
        <p:txBody>
          <a:bodyPr wrap="none" lIns="0" tIns="0" rIns="0" bIns="0" rtlCol="0" anchor="t"/>
          <a:lstStyle/>
          <a:p>
            <a:pPr marL="0" indent="0" algn="ctr">
              <a:lnSpc>
                <a:spcPct val="104000"/>
              </a:lnSpc>
              <a:buNone/>
            </a:pPr>
            <a:r>
              <a:rPr lang="en-US" sz="3500" b="1" dirty="0">
                <a:solidFill>
                  <a:srgbClr val="265834"/>
                </a:solidFill>
                <a:latin typeface="Fraunces ExtraBold" pitchFamily="34" charset="0"/>
                <a:ea typeface="Fraunces ExtraBold" pitchFamily="34" charset="-122"/>
                <a:cs typeface="Fraunces ExtraBold" pitchFamily="34" charset="-120"/>
              </a:rPr>
              <a:t>Eng. Ali Abdullah </a:t>
            </a:r>
            <a:endParaRPr lang="en-US" sz="35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574" y="649684"/>
            <a:ext cx="6516326" cy="738287"/>
          </a:xfrm>
          <a:prstGeom prst="rect">
            <a:avLst/>
          </a:prstGeom>
          <a:noFill/>
          <a:ln/>
        </p:spPr>
        <p:txBody>
          <a:bodyPr wrap="none" lIns="0" tIns="0" rIns="0" bIns="0" rtlCol="0" anchor="t"/>
          <a:lstStyle/>
          <a:p>
            <a:pPr marL="0" indent="0" algn="l">
              <a:lnSpc>
                <a:spcPct val="104000"/>
              </a:lnSpc>
              <a:buNone/>
            </a:pPr>
            <a:r>
              <a:rPr lang="en-US" sz="4650" b="1" dirty="0">
                <a:solidFill>
                  <a:srgbClr val="265834"/>
                </a:solidFill>
                <a:latin typeface="Fraunces ExtraBold" pitchFamily="34" charset="0"/>
                <a:ea typeface="Fraunces ExtraBold" pitchFamily="34" charset="-122"/>
                <a:cs typeface="Fraunces ExtraBold" pitchFamily="34" charset="-120"/>
              </a:rPr>
              <a:t>Team Members</a:t>
            </a:r>
            <a:endParaRPr lang="en-US" sz="4650" b="1" dirty="0"/>
          </a:p>
        </p:txBody>
      </p:sp>
      <p:sp>
        <p:nvSpPr>
          <p:cNvPr id="3" name="Shape 1"/>
          <p:cNvSpPr/>
          <p:nvPr/>
        </p:nvSpPr>
        <p:spPr>
          <a:xfrm>
            <a:off x="661574" y="1860451"/>
            <a:ext cx="10868547" cy="4349353"/>
          </a:xfrm>
          <a:prstGeom prst="roundRect">
            <a:avLst>
              <a:gd name="adj" fmla="val 4889"/>
            </a:avLst>
          </a:prstGeom>
          <a:noFill/>
          <a:ln w="12700">
            <a:solidFill>
              <a:srgbClr val="000000">
                <a:alpha val="8000"/>
              </a:srgbClr>
            </a:solidFill>
            <a:prstDash val="solid"/>
          </a:ln>
        </p:spPr>
        <p:txBody>
          <a:bodyPr/>
          <a:lstStyle/>
          <a:p>
            <a:endParaRPr lang="en-US" b="1">
              <a:latin typeface="Aptos Display" panose="020B0004020202020204" pitchFamily="34" charset="0"/>
            </a:endParaRPr>
          </a:p>
        </p:txBody>
      </p:sp>
      <p:sp>
        <p:nvSpPr>
          <p:cNvPr id="4" name="Shape 2"/>
          <p:cNvSpPr/>
          <p:nvPr/>
        </p:nvSpPr>
        <p:spPr>
          <a:xfrm>
            <a:off x="674274" y="1873151"/>
            <a:ext cx="10843147" cy="673993"/>
          </a:xfrm>
          <a:prstGeom prst="rect">
            <a:avLst/>
          </a:prstGeom>
          <a:solidFill>
            <a:srgbClr val="FFFFFF">
              <a:alpha val="4000"/>
            </a:srgbClr>
          </a:solidFill>
          <a:ln/>
        </p:spPr>
        <p:txBody>
          <a:bodyPr/>
          <a:lstStyle/>
          <a:p>
            <a:endParaRPr lang="en-US" b="1">
              <a:latin typeface="Aptos Display" panose="020B0004020202020204" pitchFamily="34" charset="0"/>
            </a:endParaRPr>
          </a:p>
        </p:txBody>
      </p:sp>
      <p:sp>
        <p:nvSpPr>
          <p:cNvPr id="5" name="Shape 3"/>
          <p:cNvSpPr/>
          <p:nvPr/>
        </p:nvSpPr>
        <p:spPr>
          <a:xfrm>
            <a:off x="674373" y="1873151"/>
            <a:ext cx="3563055" cy="673993"/>
          </a:xfrm>
          <a:prstGeom prst="rect">
            <a:avLst/>
          </a:prstGeom>
          <a:solidFill>
            <a:srgbClr val="F2F2F2"/>
          </a:solidFill>
          <a:ln/>
        </p:spPr>
        <p:txBody>
          <a:bodyPr/>
          <a:lstStyle/>
          <a:p>
            <a:endParaRPr lang="en-US" b="1">
              <a:latin typeface="Aptos Display" panose="020B0004020202020204" pitchFamily="34" charset="0"/>
            </a:endParaRPr>
          </a:p>
        </p:txBody>
      </p:sp>
      <p:sp>
        <p:nvSpPr>
          <p:cNvPr id="6" name="Text 4"/>
          <p:cNvSpPr/>
          <p:nvPr/>
        </p:nvSpPr>
        <p:spPr>
          <a:xfrm>
            <a:off x="910607" y="2021185"/>
            <a:ext cx="3696997" cy="377924"/>
          </a:xfrm>
          <a:prstGeom prst="rect">
            <a:avLst/>
          </a:prstGeom>
          <a:noFill/>
          <a:ln/>
        </p:spPr>
        <p:txBody>
          <a:bodyPr wrap="none" lIns="0" tIns="0" rIns="0" bIns="0" rtlCol="0" anchor="t"/>
          <a:lstStyle/>
          <a:p>
            <a:pPr marL="0" indent="0" algn="l">
              <a:lnSpc>
                <a:spcPct val="133000"/>
              </a:lnSpc>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Ai</a:t>
            </a:r>
            <a:endParaRPr lang="en-US" sz="1850" b="1" dirty="0">
              <a:latin typeface="Aptos Display" panose="020B0004020202020204" pitchFamily="34" charset="0"/>
            </a:endParaRPr>
          </a:p>
        </p:txBody>
      </p:sp>
      <p:sp>
        <p:nvSpPr>
          <p:cNvPr id="7" name="Shape 5"/>
          <p:cNvSpPr/>
          <p:nvPr/>
        </p:nvSpPr>
        <p:spPr>
          <a:xfrm>
            <a:off x="4237428" y="1873151"/>
            <a:ext cx="3629133" cy="673993"/>
          </a:xfrm>
          <a:prstGeom prst="rect">
            <a:avLst/>
          </a:prstGeom>
          <a:solidFill>
            <a:srgbClr val="F2F2F2"/>
          </a:solidFill>
          <a:ln/>
        </p:spPr>
        <p:txBody>
          <a:bodyPr/>
          <a:lstStyle/>
          <a:p>
            <a:endParaRPr lang="en-US" b="1">
              <a:latin typeface="Aptos Display" panose="020B0004020202020204" pitchFamily="34" charset="0"/>
            </a:endParaRPr>
          </a:p>
        </p:txBody>
      </p:sp>
      <p:sp>
        <p:nvSpPr>
          <p:cNvPr id="8" name="Text 6"/>
          <p:cNvSpPr/>
          <p:nvPr/>
        </p:nvSpPr>
        <p:spPr>
          <a:xfrm>
            <a:off x="4476836" y="2021185"/>
            <a:ext cx="3759900" cy="377924"/>
          </a:xfrm>
          <a:prstGeom prst="rect">
            <a:avLst/>
          </a:prstGeom>
          <a:noFill/>
          <a:ln/>
        </p:spPr>
        <p:txBody>
          <a:bodyPr wrap="none" lIns="0" tIns="0" rIns="0" bIns="0" rtlCol="0" anchor="t"/>
          <a:lstStyle/>
          <a:p>
            <a:pPr marL="0" indent="0" algn="l">
              <a:lnSpc>
                <a:spcPct val="133000"/>
              </a:lnSpc>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Backend</a:t>
            </a:r>
            <a:endParaRPr lang="en-US" sz="1850" b="1" dirty="0">
              <a:latin typeface="Aptos Display" panose="020B0004020202020204" pitchFamily="34" charset="0"/>
            </a:endParaRPr>
          </a:p>
        </p:txBody>
      </p:sp>
      <p:sp>
        <p:nvSpPr>
          <p:cNvPr id="9" name="Shape 7"/>
          <p:cNvSpPr/>
          <p:nvPr/>
        </p:nvSpPr>
        <p:spPr>
          <a:xfrm>
            <a:off x="7866560" y="1873151"/>
            <a:ext cx="3650861" cy="673993"/>
          </a:xfrm>
          <a:prstGeom prst="rect">
            <a:avLst/>
          </a:prstGeom>
          <a:solidFill>
            <a:srgbClr val="F2F2F2"/>
          </a:solidFill>
          <a:ln/>
        </p:spPr>
        <p:txBody>
          <a:bodyPr/>
          <a:lstStyle/>
          <a:p>
            <a:endParaRPr lang="en-US" b="1">
              <a:latin typeface="Aptos Display" panose="020B0004020202020204" pitchFamily="34" charset="0"/>
            </a:endParaRPr>
          </a:p>
        </p:txBody>
      </p:sp>
      <p:sp>
        <p:nvSpPr>
          <p:cNvPr id="10" name="Text 8"/>
          <p:cNvSpPr/>
          <p:nvPr/>
        </p:nvSpPr>
        <p:spPr>
          <a:xfrm>
            <a:off x="8105969" y="2021185"/>
            <a:ext cx="3784803" cy="377924"/>
          </a:xfrm>
          <a:prstGeom prst="rect">
            <a:avLst/>
          </a:prstGeom>
          <a:noFill/>
          <a:ln/>
        </p:spPr>
        <p:txBody>
          <a:bodyPr wrap="none" lIns="0" tIns="0" rIns="0" bIns="0" rtlCol="0" anchor="t"/>
          <a:lstStyle/>
          <a:p>
            <a:pPr marL="0" indent="0" algn="l">
              <a:lnSpc>
                <a:spcPct val="133000"/>
              </a:lnSpc>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Flutter</a:t>
            </a:r>
            <a:endParaRPr lang="en-US" sz="1850" b="1" dirty="0">
              <a:latin typeface="Aptos Display" panose="020B0004020202020204" pitchFamily="34" charset="0"/>
            </a:endParaRPr>
          </a:p>
        </p:txBody>
      </p:sp>
      <p:sp>
        <p:nvSpPr>
          <p:cNvPr id="11" name="Shape 9"/>
          <p:cNvSpPr/>
          <p:nvPr/>
        </p:nvSpPr>
        <p:spPr>
          <a:xfrm>
            <a:off x="674274" y="2547144"/>
            <a:ext cx="10843147" cy="3649960"/>
          </a:xfrm>
          <a:prstGeom prst="rect">
            <a:avLst/>
          </a:prstGeom>
          <a:solidFill>
            <a:srgbClr val="000000">
              <a:alpha val="4000"/>
            </a:srgbClr>
          </a:solidFill>
          <a:ln/>
        </p:spPr>
        <p:txBody>
          <a:bodyPr/>
          <a:lstStyle/>
          <a:p>
            <a:endParaRPr lang="en-US" b="1">
              <a:latin typeface="Aptos Display" panose="020B0004020202020204" pitchFamily="34" charset="0"/>
            </a:endParaRPr>
          </a:p>
        </p:txBody>
      </p:sp>
      <p:sp>
        <p:nvSpPr>
          <p:cNvPr id="12" name="Shape 10"/>
          <p:cNvSpPr/>
          <p:nvPr/>
        </p:nvSpPr>
        <p:spPr>
          <a:xfrm>
            <a:off x="674373" y="2547144"/>
            <a:ext cx="3563055" cy="3649960"/>
          </a:xfrm>
          <a:prstGeom prst="rect">
            <a:avLst/>
          </a:prstGeom>
          <a:solidFill>
            <a:srgbClr val="F2F2F2"/>
          </a:solidFill>
          <a:ln/>
        </p:spPr>
        <p:txBody>
          <a:bodyPr/>
          <a:lstStyle/>
          <a:p>
            <a:endParaRPr lang="en-US" b="1">
              <a:latin typeface="Aptos Display" panose="020B0004020202020204" pitchFamily="34" charset="0"/>
            </a:endParaRPr>
          </a:p>
        </p:txBody>
      </p:sp>
      <p:sp>
        <p:nvSpPr>
          <p:cNvPr id="13" name="Text 11"/>
          <p:cNvSpPr/>
          <p:nvPr/>
        </p:nvSpPr>
        <p:spPr>
          <a:xfrm>
            <a:off x="910607" y="2695178"/>
            <a:ext cx="3087412" cy="3353891"/>
          </a:xfrm>
          <a:prstGeom prst="rect">
            <a:avLst/>
          </a:prstGeom>
          <a:noFill/>
          <a:ln/>
        </p:spPr>
        <p:txBody>
          <a:bodyPr wrap="square" lIns="0" tIns="0" rIns="0" bIns="0" rtlCol="0" anchor="t">
            <a:normAutofit/>
          </a:bodyPr>
          <a:lstStyle/>
          <a:p>
            <a:pPr marL="0" indent="0" algn="l">
              <a:lnSpc>
                <a:spcPct val="133000"/>
              </a:lnSpc>
              <a:spcAft>
                <a:spcPts val="1100"/>
              </a:spcAft>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Ahmed Abu Almakarem Youssef </a:t>
            </a:r>
            <a:endParaRPr lang="en-US" sz="1850" b="1" dirty="0">
              <a:latin typeface="Aptos Display" panose="020B0004020202020204" pitchFamily="34" charset="0"/>
            </a:endParaRPr>
          </a:p>
          <a:p>
            <a:pPr marL="0" indent="0" algn="l">
              <a:lnSpc>
                <a:spcPct val="133000"/>
              </a:lnSpc>
              <a:spcAft>
                <a:spcPts val="1100"/>
              </a:spcAft>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2202812</a:t>
            </a:r>
            <a:endParaRPr lang="en-US" sz="1850" b="1" dirty="0">
              <a:latin typeface="Aptos Display" panose="020B0004020202020204" pitchFamily="34" charset="0"/>
            </a:endParaRPr>
          </a:p>
          <a:p>
            <a:pPr marL="0" indent="0" algn="l">
              <a:lnSpc>
                <a:spcPct val="133000"/>
              </a:lnSpc>
              <a:spcAft>
                <a:spcPts val="1100"/>
              </a:spcAft>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Ahmed Hassan Mahmoud</a:t>
            </a:r>
            <a:endParaRPr lang="en-US" sz="1850" b="1" dirty="0">
              <a:latin typeface="Aptos Display" panose="020B0004020202020204" pitchFamily="34" charset="0"/>
            </a:endParaRPr>
          </a:p>
          <a:p>
            <a:pPr marL="0" indent="0" algn="l">
              <a:lnSpc>
                <a:spcPct val="133000"/>
              </a:lnSpc>
              <a:spcAft>
                <a:spcPts val="1100"/>
              </a:spcAft>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2202813</a:t>
            </a:r>
            <a:endParaRPr lang="en-US" sz="1850" b="1" dirty="0">
              <a:latin typeface="Aptos Display" panose="020B0004020202020204" pitchFamily="34" charset="0"/>
            </a:endParaRPr>
          </a:p>
          <a:p>
            <a:pPr marL="0" indent="0" algn="l">
              <a:lnSpc>
                <a:spcPct val="133000"/>
              </a:lnSpc>
              <a:spcAft>
                <a:spcPts val="1100"/>
              </a:spcAft>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Marwan Hamdy Mahmoud</a:t>
            </a:r>
            <a:endParaRPr lang="en-US" sz="1850" b="1" dirty="0">
              <a:latin typeface="Aptos Display" panose="020B0004020202020204" pitchFamily="34" charset="0"/>
            </a:endParaRPr>
          </a:p>
          <a:p>
            <a:pPr marL="0" indent="0" algn="l">
              <a:lnSpc>
                <a:spcPct val="133000"/>
              </a:lnSpc>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2202836</a:t>
            </a:r>
            <a:endParaRPr lang="en-US" sz="1850" b="1" dirty="0">
              <a:latin typeface="Aptos Display" panose="020B0004020202020204" pitchFamily="34" charset="0"/>
            </a:endParaRPr>
          </a:p>
        </p:txBody>
      </p:sp>
      <p:sp>
        <p:nvSpPr>
          <p:cNvPr id="14" name="Shape 12"/>
          <p:cNvSpPr/>
          <p:nvPr/>
        </p:nvSpPr>
        <p:spPr>
          <a:xfrm>
            <a:off x="4237428" y="2547144"/>
            <a:ext cx="3629133" cy="3649960"/>
          </a:xfrm>
          <a:prstGeom prst="rect">
            <a:avLst/>
          </a:prstGeom>
          <a:solidFill>
            <a:srgbClr val="F2F2F2"/>
          </a:solidFill>
          <a:ln/>
        </p:spPr>
        <p:txBody>
          <a:bodyPr/>
          <a:lstStyle/>
          <a:p>
            <a:endParaRPr lang="en-US" b="1">
              <a:latin typeface="Aptos Display" panose="020B0004020202020204" pitchFamily="34" charset="0"/>
            </a:endParaRPr>
          </a:p>
        </p:txBody>
      </p:sp>
      <p:sp>
        <p:nvSpPr>
          <p:cNvPr id="15" name="Text 13"/>
          <p:cNvSpPr/>
          <p:nvPr/>
        </p:nvSpPr>
        <p:spPr>
          <a:xfrm>
            <a:off x="4476836" y="2695178"/>
            <a:ext cx="3150315" cy="3353891"/>
          </a:xfrm>
          <a:prstGeom prst="rect">
            <a:avLst/>
          </a:prstGeom>
          <a:noFill/>
          <a:ln/>
        </p:spPr>
        <p:txBody>
          <a:bodyPr wrap="square" lIns="0" tIns="0" rIns="0" bIns="0" rtlCol="0" anchor="t"/>
          <a:lstStyle/>
          <a:p>
            <a:pPr marL="0" indent="0" algn="l">
              <a:lnSpc>
                <a:spcPct val="133000"/>
              </a:lnSpc>
              <a:spcAft>
                <a:spcPts val="1100"/>
              </a:spcAft>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Fayez Mohamed Fayez</a:t>
            </a:r>
            <a:endParaRPr lang="en-US" sz="1850" b="1" dirty="0">
              <a:latin typeface="Aptos Display" panose="020B0004020202020204" pitchFamily="34" charset="0"/>
            </a:endParaRPr>
          </a:p>
          <a:p>
            <a:pPr marL="0" indent="0" algn="l">
              <a:lnSpc>
                <a:spcPct val="133000"/>
              </a:lnSpc>
              <a:spcAft>
                <a:spcPts val="1100"/>
              </a:spcAft>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2202744</a:t>
            </a:r>
            <a:endParaRPr lang="en-US" sz="1850" b="1" dirty="0">
              <a:latin typeface="Aptos Display" panose="020B0004020202020204" pitchFamily="34" charset="0"/>
            </a:endParaRPr>
          </a:p>
          <a:p>
            <a:pPr marL="0" indent="0" algn="l">
              <a:lnSpc>
                <a:spcPct val="133000"/>
              </a:lnSpc>
              <a:spcAft>
                <a:spcPts val="1100"/>
              </a:spcAft>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Ahmed Maher Mohamed</a:t>
            </a:r>
            <a:endParaRPr lang="en-US" sz="1850" b="1" dirty="0">
              <a:latin typeface="Aptos Display" panose="020B0004020202020204" pitchFamily="34" charset="0"/>
            </a:endParaRPr>
          </a:p>
          <a:p>
            <a:pPr marL="0" indent="0" algn="l">
              <a:lnSpc>
                <a:spcPct val="133000"/>
              </a:lnSpc>
              <a:spcAft>
                <a:spcPts val="1100"/>
              </a:spcAft>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2202801</a:t>
            </a:r>
            <a:endParaRPr lang="en-US" sz="1850" b="1" dirty="0">
              <a:latin typeface="Aptos Display" panose="020B0004020202020204" pitchFamily="34" charset="0"/>
            </a:endParaRPr>
          </a:p>
          <a:p>
            <a:pPr marL="0" indent="0" algn="l">
              <a:lnSpc>
                <a:spcPct val="133000"/>
              </a:lnSpc>
              <a:spcAft>
                <a:spcPts val="1100"/>
              </a:spcAft>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Yousef Alaa Eldeen Abdelwahab</a:t>
            </a:r>
            <a:endParaRPr lang="en-US" sz="1850" b="1" dirty="0">
              <a:latin typeface="Aptos Display" panose="020B0004020202020204" pitchFamily="34" charset="0"/>
            </a:endParaRPr>
          </a:p>
          <a:p>
            <a:pPr marL="0" indent="0" algn="l">
              <a:lnSpc>
                <a:spcPct val="133000"/>
              </a:lnSpc>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2202849 </a:t>
            </a:r>
            <a:endParaRPr lang="en-US" sz="1850" b="1" dirty="0">
              <a:latin typeface="Aptos Display" panose="020B0004020202020204" pitchFamily="34" charset="0"/>
            </a:endParaRPr>
          </a:p>
        </p:txBody>
      </p:sp>
      <p:sp>
        <p:nvSpPr>
          <p:cNvPr id="16" name="Shape 14"/>
          <p:cNvSpPr/>
          <p:nvPr/>
        </p:nvSpPr>
        <p:spPr>
          <a:xfrm>
            <a:off x="7866560" y="2547144"/>
            <a:ext cx="3650861" cy="3649960"/>
          </a:xfrm>
          <a:prstGeom prst="rect">
            <a:avLst/>
          </a:prstGeom>
          <a:solidFill>
            <a:srgbClr val="F2F2F2"/>
          </a:solidFill>
          <a:ln/>
        </p:spPr>
        <p:txBody>
          <a:bodyPr/>
          <a:lstStyle/>
          <a:p>
            <a:endParaRPr lang="en-US" b="1">
              <a:latin typeface="Aptos Display" panose="020B0004020202020204" pitchFamily="34" charset="0"/>
            </a:endParaRPr>
          </a:p>
        </p:txBody>
      </p:sp>
      <p:sp>
        <p:nvSpPr>
          <p:cNvPr id="17" name="Text 15"/>
          <p:cNvSpPr/>
          <p:nvPr/>
        </p:nvSpPr>
        <p:spPr>
          <a:xfrm>
            <a:off x="8105969" y="2695178"/>
            <a:ext cx="3175218" cy="1936750"/>
          </a:xfrm>
          <a:prstGeom prst="rect">
            <a:avLst/>
          </a:prstGeom>
          <a:noFill/>
          <a:ln/>
        </p:spPr>
        <p:txBody>
          <a:bodyPr wrap="square" lIns="0" tIns="0" rIns="0" bIns="0" rtlCol="0" anchor="t"/>
          <a:lstStyle/>
          <a:p>
            <a:pPr marL="0" indent="0" algn="l">
              <a:lnSpc>
                <a:spcPct val="133000"/>
              </a:lnSpc>
              <a:spcAft>
                <a:spcPts val="1100"/>
              </a:spcAft>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Aslam Khaled Abady</a:t>
            </a:r>
            <a:endParaRPr lang="en-US" sz="1850" b="1" dirty="0">
              <a:latin typeface="Aptos Display" panose="020B0004020202020204" pitchFamily="34" charset="0"/>
            </a:endParaRPr>
          </a:p>
          <a:p>
            <a:pPr marL="0" indent="0" algn="l">
              <a:lnSpc>
                <a:spcPct val="133000"/>
              </a:lnSpc>
              <a:spcAft>
                <a:spcPts val="1100"/>
              </a:spcAft>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2202770</a:t>
            </a:r>
            <a:endParaRPr lang="en-US" sz="1850" b="1" dirty="0">
              <a:latin typeface="Aptos Display" panose="020B0004020202020204" pitchFamily="34" charset="0"/>
            </a:endParaRPr>
          </a:p>
          <a:p>
            <a:pPr marL="0" indent="0" algn="l">
              <a:lnSpc>
                <a:spcPct val="133000"/>
              </a:lnSpc>
              <a:spcAft>
                <a:spcPts val="1100"/>
              </a:spcAft>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Ahmed Hosny Abdelmenem</a:t>
            </a:r>
            <a:endParaRPr lang="en-US" sz="1850" b="1" dirty="0">
              <a:latin typeface="Aptos Display" panose="020B0004020202020204" pitchFamily="34" charset="0"/>
            </a:endParaRPr>
          </a:p>
          <a:p>
            <a:pPr marL="0" indent="0" algn="l">
              <a:lnSpc>
                <a:spcPct val="133000"/>
              </a:lnSpc>
              <a:buNone/>
            </a:pPr>
            <a:r>
              <a:rPr lang="en-US" sz="1850" b="1" dirty="0">
                <a:solidFill>
                  <a:srgbClr val="272525"/>
                </a:solidFill>
                <a:latin typeface="Aptos Display" panose="020B0004020202020204" pitchFamily="34" charset="0"/>
                <a:ea typeface="Instrument Sans" pitchFamily="34" charset="-122"/>
                <a:cs typeface="Instrument Sans" pitchFamily="34" charset="-120"/>
              </a:rPr>
              <a:t>2202846</a:t>
            </a:r>
            <a:endParaRPr lang="en-US" sz="1850" b="1" dirty="0">
              <a:latin typeface="Aptos Display"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319578" y="915888"/>
            <a:ext cx="5552539" cy="590649"/>
          </a:xfrm>
          <a:prstGeom prst="rect">
            <a:avLst/>
          </a:prstGeom>
          <a:noFill/>
          <a:ln/>
        </p:spPr>
        <p:txBody>
          <a:bodyPr wrap="none" lIns="0" tIns="0" rIns="0" bIns="0" rtlCol="0" anchor="t"/>
          <a:lstStyle/>
          <a:p>
            <a:pPr marL="0" indent="0" algn="ctr">
              <a:lnSpc>
                <a:spcPct val="104000"/>
              </a:lnSpc>
              <a:buNone/>
            </a:pPr>
            <a:r>
              <a:rPr lang="en-US" sz="3700" b="1" dirty="0">
                <a:solidFill>
                  <a:srgbClr val="265834"/>
                </a:solidFill>
                <a:latin typeface="Fraunces ExtraBold" pitchFamily="34" charset="0"/>
                <a:ea typeface="Fraunces ExtraBold" pitchFamily="34" charset="-122"/>
                <a:cs typeface="Fraunces ExtraBold" pitchFamily="34" charset="-120"/>
              </a:rPr>
              <a:t>Presentation Outline</a:t>
            </a:r>
            <a:endParaRPr lang="en-US" sz="3700" b="1" dirty="0"/>
          </a:p>
        </p:txBody>
      </p:sp>
      <p:sp>
        <p:nvSpPr>
          <p:cNvPr id="3" name="Shape 1"/>
          <p:cNvSpPr/>
          <p:nvPr/>
        </p:nvSpPr>
        <p:spPr>
          <a:xfrm>
            <a:off x="661574" y="1860947"/>
            <a:ext cx="3465327" cy="1600597"/>
          </a:xfrm>
          <a:prstGeom prst="roundRect">
            <a:avLst>
              <a:gd name="adj" fmla="val 13285"/>
            </a:avLst>
          </a:prstGeom>
          <a:solidFill>
            <a:srgbClr val="D1E7D2"/>
          </a:solidFill>
          <a:ln/>
        </p:spPr>
        <p:txBody>
          <a:bodyPr/>
          <a:lstStyle/>
          <a:p>
            <a:endParaRPr lang="en-US" b="1"/>
          </a:p>
        </p:txBody>
      </p:sp>
      <p:sp>
        <p:nvSpPr>
          <p:cNvPr id="4" name="Text 2"/>
          <p:cNvSpPr/>
          <p:nvPr/>
        </p:nvSpPr>
        <p:spPr>
          <a:xfrm>
            <a:off x="897808" y="2097187"/>
            <a:ext cx="2992859" cy="590649"/>
          </a:xfrm>
          <a:prstGeom prst="rect">
            <a:avLst/>
          </a:prstGeom>
          <a:noFill/>
          <a:ln/>
        </p:spPr>
        <p:txBody>
          <a:bodyPr wrap="none" lIns="0" tIns="0" rIns="0" bIns="0" rtlCol="0" anchor="t"/>
          <a:lstStyle/>
          <a:p>
            <a:pPr marL="0" indent="0" algn="l">
              <a:lnSpc>
                <a:spcPct val="104000"/>
              </a:lnSpc>
              <a:buNone/>
            </a:pPr>
            <a:r>
              <a:rPr lang="en-US" sz="3700" b="1" dirty="0">
                <a:solidFill>
                  <a:srgbClr val="000000"/>
                </a:solidFill>
                <a:latin typeface="Fraunces ExtraBold" pitchFamily="34" charset="0"/>
                <a:ea typeface="Fraunces ExtraBold" pitchFamily="34" charset="-122"/>
                <a:cs typeface="Fraunces ExtraBold" pitchFamily="34" charset="-120"/>
              </a:rPr>
              <a:t>01.</a:t>
            </a:r>
            <a:endParaRPr lang="en-US" sz="3700" b="1" dirty="0"/>
          </a:p>
        </p:txBody>
      </p:sp>
      <p:sp>
        <p:nvSpPr>
          <p:cNvPr id="5" name="Text 3"/>
          <p:cNvSpPr/>
          <p:nvPr/>
        </p:nvSpPr>
        <p:spPr>
          <a:xfrm>
            <a:off x="897808" y="2782292"/>
            <a:ext cx="2992859" cy="443012"/>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Fraunces ExtraBold" pitchFamily="34" charset="0"/>
                <a:ea typeface="Fraunces ExtraBold" pitchFamily="34" charset="-122"/>
                <a:cs typeface="Fraunces ExtraBold" pitchFamily="34" charset="-120"/>
              </a:rPr>
              <a:t>Introduction</a:t>
            </a:r>
            <a:endParaRPr lang="en-US" sz="2750" b="1" dirty="0"/>
          </a:p>
        </p:txBody>
      </p:sp>
      <p:sp>
        <p:nvSpPr>
          <p:cNvPr id="6" name="Shape 4"/>
          <p:cNvSpPr/>
          <p:nvPr/>
        </p:nvSpPr>
        <p:spPr>
          <a:xfrm>
            <a:off x="4363135" y="1860947"/>
            <a:ext cx="3465327" cy="1600597"/>
          </a:xfrm>
          <a:prstGeom prst="roundRect">
            <a:avLst>
              <a:gd name="adj" fmla="val 13285"/>
            </a:avLst>
          </a:prstGeom>
          <a:solidFill>
            <a:srgbClr val="D1E7D2"/>
          </a:solidFill>
          <a:ln/>
        </p:spPr>
        <p:txBody>
          <a:bodyPr/>
          <a:lstStyle/>
          <a:p>
            <a:endParaRPr lang="en-US" b="1"/>
          </a:p>
        </p:txBody>
      </p:sp>
      <p:sp>
        <p:nvSpPr>
          <p:cNvPr id="7" name="Text 5"/>
          <p:cNvSpPr/>
          <p:nvPr/>
        </p:nvSpPr>
        <p:spPr>
          <a:xfrm>
            <a:off x="4599369" y="2097187"/>
            <a:ext cx="2992859" cy="590649"/>
          </a:xfrm>
          <a:prstGeom prst="rect">
            <a:avLst/>
          </a:prstGeom>
          <a:noFill/>
          <a:ln/>
        </p:spPr>
        <p:txBody>
          <a:bodyPr wrap="none" lIns="0" tIns="0" rIns="0" bIns="0" rtlCol="0" anchor="t"/>
          <a:lstStyle/>
          <a:p>
            <a:pPr marL="0" indent="0" algn="l">
              <a:lnSpc>
                <a:spcPct val="104000"/>
              </a:lnSpc>
              <a:buNone/>
            </a:pPr>
            <a:r>
              <a:rPr lang="en-US" sz="3700" b="1" dirty="0">
                <a:solidFill>
                  <a:srgbClr val="000000"/>
                </a:solidFill>
                <a:latin typeface="Fraunces ExtraBold" pitchFamily="34" charset="0"/>
                <a:ea typeface="Fraunces ExtraBold" pitchFamily="34" charset="-122"/>
                <a:cs typeface="Fraunces ExtraBold" pitchFamily="34" charset="-120"/>
              </a:rPr>
              <a:t>02.</a:t>
            </a:r>
            <a:endParaRPr lang="en-US" sz="3700" b="1" dirty="0"/>
          </a:p>
        </p:txBody>
      </p:sp>
      <p:sp>
        <p:nvSpPr>
          <p:cNvPr id="8" name="Text 6"/>
          <p:cNvSpPr/>
          <p:nvPr/>
        </p:nvSpPr>
        <p:spPr>
          <a:xfrm>
            <a:off x="4599369" y="2782292"/>
            <a:ext cx="2992859" cy="443012"/>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Fraunces ExtraBold" pitchFamily="34" charset="0"/>
                <a:ea typeface="Fraunces ExtraBold" pitchFamily="34" charset="-122"/>
                <a:cs typeface="Fraunces ExtraBold" pitchFamily="34" charset="-120"/>
              </a:rPr>
              <a:t>Related works</a:t>
            </a:r>
            <a:endParaRPr lang="en-US" sz="2750" b="1" dirty="0"/>
          </a:p>
        </p:txBody>
      </p:sp>
      <p:sp>
        <p:nvSpPr>
          <p:cNvPr id="9" name="Shape 7"/>
          <p:cNvSpPr/>
          <p:nvPr/>
        </p:nvSpPr>
        <p:spPr>
          <a:xfrm>
            <a:off x="8064695" y="1860947"/>
            <a:ext cx="3465426" cy="1600597"/>
          </a:xfrm>
          <a:prstGeom prst="roundRect">
            <a:avLst>
              <a:gd name="adj" fmla="val 13285"/>
            </a:avLst>
          </a:prstGeom>
          <a:solidFill>
            <a:srgbClr val="D1E7D2"/>
          </a:solidFill>
          <a:ln/>
        </p:spPr>
        <p:txBody>
          <a:bodyPr/>
          <a:lstStyle/>
          <a:p>
            <a:endParaRPr lang="en-US" b="1"/>
          </a:p>
        </p:txBody>
      </p:sp>
      <p:sp>
        <p:nvSpPr>
          <p:cNvPr id="10" name="Text 8"/>
          <p:cNvSpPr/>
          <p:nvPr/>
        </p:nvSpPr>
        <p:spPr>
          <a:xfrm>
            <a:off x="8300929" y="2097187"/>
            <a:ext cx="2992958" cy="590649"/>
          </a:xfrm>
          <a:prstGeom prst="rect">
            <a:avLst/>
          </a:prstGeom>
          <a:noFill/>
          <a:ln/>
        </p:spPr>
        <p:txBody>
          <a:bodyPr wrap="none" lIns="0" tIns="0" rIns="0" bIns="0" rtlCol="0" anchor="t"/>
          <a:lstStyle/>
          <a:p>
            <a:pPr marL="0" indent="0" algn="l">
              <a:lnSpc>
                <a:spcPct val="104000"/>
              </a:lnSpc>
              <a:buNone/>
            </a:pPr>
            <a:r>
              <a:rPr lang="en-US" sz="3700" b="1" dirty="0">
                <a:solidFill>
                  <a:srgbClr val="000000"/>
                </a:solidFill>
                <a:latin typeface="Fraunces ExtraBold" pitchFamily="34" charset="0"/>
                <a:ea typeface="Fraunces ExtraBold" pitchFamily="34" charset="-122"/>
                <a:cs typeface="Fraunces ExtraBold" pitchFamily="34" charset="-120"/>
              </a:rPr>
              <a:t>03.</a:t>
            </a:r>
            <a:endParaRPr lang="en-US" sz="3700" b="1" dirty="0"/>
          </a:p>
        </p:txBody>
      </p:sp>
      <p:sp>
        <p:nvSpPr>
          <p:cNvPr id="11" name="Text 9"/>
          <p:cNvSpPr/>
          <p:nvPr/>
        </p:nvSpPr>
        <p:spPr>
          <a:xfrm>
            <a:off x="8300929" y="2782292"/>
            <a:ext cx="2992958" cy="443012"/>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Fraunces ExtraBold" pitchFamily="34" charset="0"/>
                <a:ea typeface="Fraunces ExtraBold" pitchFamily="34" charset="-122"/>
                <a:cs typeface="Fraunces ExtraBold" pitchFamily="34" charset="-120"/>
              </a:rPr>
              <a:t>Objectives</a:t>
            </a:r>
            <a:endParaRPr lang="en-US" sz="2750" b="1" dirty="0"/>
          </a:p>
        </p:txBody>
      </p:sp>
      <p:sp>
        <p:nvSpPr>
          <p:cNvPr id="12" name="Shape 10"/>
          <p:cNvSpPr/>
          <p:nvPr/>
        </p:nvSpPr>
        <p:spPr>
          <a:xfrm>
            <a:off x="661574" y="3697784"/>
            <a:ext cx="3465327" cy="1600597"/>
          </a:xfrm>
          <a:prstGeom prst="roundRect">
            <a:avLst>
              <a:gd name="adj" fmla="val 13285"/>
            </a:avLst>
          </a:prstGeom>
          <a:solidFill>
            <a:srgbClr val="D1E7D2"/>
          </a:solidFill>
          <a:ln/>
        </p:spPr>
        <p:txBody>
          <a:bodyPr/>
          <a:lstStyle/>
          <a:p>
            <a:endParaRPr lang="en-US" b="1"/>
          </a:p>
        </p:txBody>
      </p:sp>
      <p:sp>
        <p:nvSpPr>
          <p:cNvPr id="13" name="Text 11"/>
          <p:cNvSpPr/>
          <p:nvPr/>
        </p:nvSpPr>
        <p:spPr>
          <a:xfrm>
            <a:off x="897808" y="3934023"/>
            <a:ext cx="2992859" cy="590649"/>
          </a:xfrm>
          <a:prstGeom prst="rect">
            <a:avLst/>
          </a:prstGeom>
          <a:noFill/>
          <a:ln/>
        </p:spPr>
        <p:txBody>
          <a:bodyPr wrap="none" lIns="0" tIns="0" rIns="0" bIns="0" rtlCol="0" anchor="t"/>
          <a:lstStyle/>
          <a:p>
            <a:pPr marL="0" indent="0" algn="l">
              <a:lnSpc>
                <a:spcPct val="104000"/>
              </a:lnSpc>
              <a:buNone/>
            </a:pPr>
            <a:r>
              <a:rPr lang="en-US" sz="3700" b="1" dirty="0">
                <a:solidFill>
                  <a:srgbClr val="000000"/>
                </a:solidFill>
                <a:latin typeface="Fraunces ExtraBold" pitchFamily="34" charset="0"/>
                <a:ea typeface="Fraunces ExtraBold" pitchFamily="34" charset="-122"/>
                <a:cs typeface="Fraunces ExtraBold" pitchFamily="34" charset="-120"/>
              </a:rPr>
              <a:t>04.</a:t>
            </a:r>
            <a:endParaRPr lang="en-US" sz="3700" b="1" dirty="0"/>
          </a:p>
        </p:txBody>
      </p:sp>
      <p:sp>
        <p:nvSpPr>
          <p:cNvPr id="14" name="Text 12"/>
          <p:cNvSpPr/>
          <p:nvPr/>
        </p:nvSpPr>
        <p:spPr>
          <a:xfrm>
            <a:off x="897808" y="4619129"/>
            <a:ext cx="2992859" cy="443012"/>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Fraunces ExtraBold" pitchFamily="34" charset="0"/>
                <a:ea typeface="Fraunces ExtraBold" pitchFamily="34" charset="-122"/>
                <a:cs typeface="Fraunces ExtraBold" pitchFamily="34" charset="-120"/>
              </a:rPr>
              <a:t>Methodology </a:t>
            </a:r>
            <a:endParaRPr lang="en-US" sz="2750" b="1" dirty="0"/>
          </a:p>
        </p:txBody>
      </p:sp>
      <p:sp>
        <p:nvSpPr>
          <p:cNvPr id="15" name="Shape 13"/>
          <p:cNvSpPr/>
          <p:nvPr/>
        </p:nvSpPr>
        <p:spPr>
          <a:xfrm>
            <a:off x="4363135" y="3697784"/>
            <a:ext cx="3465327" cy="1600597"/>
          </a:xfrm>
          <a:prstGeom prst="roundRect">
            <a:avLst>
              <a:gd name="adj" fmla="val 13285"/>
            </a:avLst>
          </a:prstGeom>
          <a:solidFill>
            <a:srgbClr val="D1E7D2"/>
          </a:solidFill>
          <a:ln/>
        </p:spPr>
        <p:txBody>
          <a:bodyPr/>
          <a:lstStyle/>
          <a:p>
            <a:endParaRPr lang="en-US" b="1"/>
          </a:p>
        </p:txBody>
      </p:sp>
      <p:sp>
        <p:nvSpPr>
          <p:cNvPr id="16" name="Text 14"/>
          <p:cNvSpPr/>
          <p:nvPr/>
        </p:nvSpPr>
        <p:spPr>
          <a:xfrm>
            <a:off x="4599369" y="3934023"/>
            <a:ext cx="2992859" cy="590649"/>
          </a:xfrm>
          <a:prstGeom prst="rect">
            <a:avLst/>
          </a:prstGeom>
          <a:noFill/>
          <a:ln/>
        </p:spPr>
        <p:txBody>
          <a:bodyPr wrap="none" lIns="0" tIns="0" rIns="0" bIns="0" rtlCol="0" anchor="t"/>
          <a:lstStyle/>
          <a:p>
            <a:pPr marL="0" indent="0" algn="l">
              <a:lnSpc>
                <a:spcPct val="104000"/>
              </a:lnSpc>
              <a:buNone/>
            </a:pPr>
            <a:r>
              <a:rPr lang="en-US" sz="3700" b="1" dirty="0">
                <a:solidFill>
                  <a:srgbClr val="000000"/>
                </a:solidFill>
                <a:latin typeface="Fraunces ExtraBold" pitchFamily="34" charset="0"/>
                <a:ea typeface="Fraunces ExtraBold" pitchFamily="34" charset="-122"/>
                <a:cs typeface="Fraunces ExtraBold" pitchFamily="34" charset="-120"/>
              </a:rPr>
              <a:t>05.</a:t>
            </a:r>
            <a:endParaRPr lang="en-US" sz="3700" b="1" dirty="0"/>
          </a:p>
        </p:txBody>
      </p:sp>
      <p:sp>
        <p:nvSpPr>
          <p:cNvPr id="17" name="Text 15"/>
          <p:cNvSpPr/>
          <p:nvPr/>
        </p:nvSpPr>
        <p:spPr>
          <a:xfrm>
            <a:off x="4599369" y="4619129"/>
            <a:ext cx="2992859" cy="443012"/>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Fraunces ExtraBold" pitchFamily="34" charset="0"/>
                <a:ea typeface="Fraunces ExtraBold" pitchFamily="34" charset="-122"/>
                <a:cs typeface="Fraunces ExtraBold" pitchFamily="34" charset="-120"/>
              </a:rPr>
              <a:t>Conclusion</a:t>
            </a:r>
            <a:endParaRPr lang="en-US" sz="2750" b="1" dirty="0"/>
          </a:p>
        </p:txBody>
      </p:sp>
      <p:sp>
        <p:nvSpPr>
          <p:cNvPr id="18" name="Shape 16"/>
          <p:cNvSpPr/>
          <p:nvPr/>
        </p:nvSpPr>
        <p:spPr>
          <a:xfrm>
            <a:off x="8064695" y="3697784"/>
            <a:ext cx="3465426" cy="1600597"/>
          </a:xfrm>
          <a:prstGeom prst="roundRect">
            <a:avLst>
              <a:gd name="adj" fmla="val 13285"/>
            </a:avLst>
          </a:prstGeom>
          <a:solidFill>
            <a:srgbClr val="D1E7D2"/>
          </a:solidFill>
          <a:ln/>
        </p:spPr>
        <p:txBody>
          <a:bodyPr/>
          <a:lstStyle/>
          <a:p>
            <a:endParaRPr lang="en-US" b="1"/>
          </a:p>
        </p:txBody>
      </p:sp>
      <p:sp>
        <p:nvSpPr>
          <p:cNvPr id="19" name="Text 17"/>
          <p:cNvSpPr/>
          <p:nvPr/>
        </p:nvSpPr>
        <p:spPr>
          <a:xfrm>
            <a:off x="8300929" y="3934023"/>
            <a:ext cx="2992958" cy="590649"/>
          </a:xfrm>
          <a:prstGeom prst="rect">
            <a:avLst/>
          </a:prstGeom>
          <a:noFill/>
          <a:ln/>
        </p:spPr>
        <p:txBody>
          <a:bodyPr wrap="none" lIns="0" tIns="0" rIns="0" bIns="0" rtlCol="0" anchor="t"/>
          <a:lstStyle/>
          <a:p>
            <a:pPr marL="0" indent="0" algn="l">
              <a:lnSpc>
                <a:spcPct val="104000"/>
              </a:lnSpc>
              <a:buNone/>
            </a:pPr>
            <a:r>
              <a:rPr lang="en-US" sz="3700" b="1" dirty="0">
                <a:solidFill>
                  <a:srgbClr val="000000"/>
                </a:solidFill>
                <a:latin typeface="Fraunces ExtraBold" pitchFamily="34" charset="0"/>
                <a:ea typeface="Fraunces ExtraBold" pitchFamily="34" charset="-122"/>
                <a:cs typeface="Fraunces ExtraBold" pitchFamily="34" charset="-120"/>
              </a:rPr>
              <a:t>06.</a:t>
            </a:r>
            <a:endParaRPr lang="en-US" sz="3700" b="1" dirty="0"/>
          </a:p>
        </p:txBody>
      </p:sp>
      <p:sp>
        <p:nvSpPr>
          <p:cNvPr id="20" name="Text 18"/>
          <p:cNvSpPr/>
          <p:nvPr/>
        </p:nvSpPr>
        <p:spPr>
          <a:xfrm>
            <a:off x="8300929" y="4619129"/>
            <a:ext cx="2992958" cy="443012"/>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Fraunces ExtraBold" pitchFamily="34" charset="0"/>
                <a:ea typeface="Fraunces ExtraBold" pitchFamily="34" charset="-122"/>
                <a:cs typeface="Fraunces ExtraBold" pitchFamily="34" charset="-120"/>
              </a:rPr>
              <a:t>Future work</a:t>
            </a:r>
            <a:endParaRPr lang="en-US" sz="2750" b="1" dirty="0"/>
          </a:p>
        </p:txBody>
      </p:sp>
      <p:sp>
        <p:nvSpPr>
          <p:cNvPr id="21" name="Text 19"/>
          <p:cNvSpPr/>
          <p:nvPr/>
        </p:nvSpPr>
        <p:spPr>
          <a:xfrm>
            <a:off x="661574" y="5564188"/>
            <a:ext cx="11478132" cy="377924"/>
          </a:xfrm>
          <a:prstGeom prst="rect">
            <a:avLst/>
          </a:prstGeom>
          <a:noFill/>
          <a:ln/>
        </p:spPr>
        <p:txBody>
          <a:bodyPr wrap="none" lIns="0" tIns="0" rIns="0" bIns="0" rtlCol="0" anchor="t"/>
          <a:lstStyle/>
          <a:p>
            <a:pPr marL="0" indent="0" algn="l">
              <a:lnSpc>
                <a:spcPct val="133000"/>
              </a:lnSpc>
              <a:buNone/>
            </a:pPr>
            <a:endParaRPr lang="en-US" sz="185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gradFill>
          <a:gsLst>
            <a:gs pos="16000">
              <a:srgbClr val="146A18"/>
            </a:gs>
            <a:gs pos="47000">
              <a:srgbClr val="0B9912">
                <a:alpha val="95000"/>
                <a:lumMod val="100000"/>
              </a:srgbClr>
            </a:gs>
            <a:gs pos="100000">
              <a:srgbClr val="146A18"/>
            </a:gs>
          </a:gsLst>
          <a:lin ang="13500000" scaled="1"/>
        </a:gradFill>
        <a:effectLst/>
      </p:bgPr>
    </p:bg>
    <p:spTree>
      <p:nvGrpSpPr>
        <p:cNvPr id="1" name=""/>
        <p:cNvGrpSpPr/>
        <p:nvPr/>
      </p:nvGrpSpPr>
      <p:grpSpPr>
        <a:xfrm>
          <a:off x="0" y="0"/>
          <a:ext cx="0" cy="0"/>
          <a:chOff x="0" y="0"/>
          <a:chExt cx="0" cy="0"/>
        </a:xfrm>
      </p:grpSpPr>
      <p:sp>
        <p:nvSpPr>
          <p:cNvPr id="2" name="Text 0"/>
          <p:cNvSpPr/>
          <p:nvPr/>
        </p:nvSpPr>
        <p:spPr>
          <a:xfrm>
            <a:off x="1715350" y="2919512"/>
            <a:ext cx="8760995" cy="1018977"/>
          </a:xfrm>
          <a:prstGeom prst="rect">
            <a:avLst/>
          </a:prstGeom>
          <a:noFill/>
          <a:ln/>
        </p:spPr>
        <p:txBody>
          <a:bodyPr wrap="none" lIns="0" tIns="0" rIns="0" bIns="0" rtlCol="0" anchor="t"/>
          <a:lstStyle/>
          <a:p>
            <a:pPr marL="0" indent="0" algn="ctr">
              <a:lnSpc>
                <a:spcPct val="104000"/>
              </a:lnSpc>
              <a:buNone/>
            </a:pPr>
            <a:r>
              <a:rPr lang="en-US" sz="6400" b="1" dirty="0">
                <a:solidFill>
                  <a:srgbClr val="FFFFFF"/>
                </a:solidFill>
                <a:latin typeface="Fraunces ExtraBold" pitchFamily="34" charset="0"/>
                <a:ea typeface="Fraunces ExtraBold" pitchFamily="34" charset="-122"/>
                <a:cs typeface="Fraunces ExtraBold" pitchFamily="34" charset="-120"/>
              </a:rPr>
              <a:t>01.Introduction</a:t>
            </a:r>
            <a:endParaRPr lang="en-US" sz="6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549919"/>
            <a:ext cx="5630325" cy="627559"/>
          </a:xfrm>
          <a:prstGeom prst="rect">
            <a:avLst/>
          </a:prstGeom>
          <a:noFill/>
          <a:ln/>
        </p:spPr>
        <p:txBody>
          <a:bodyPr wrap="none" lIns="0" tIns="0" rIns="0" bIns="0" rtlCol="0" anchor="t"/>
          <a:lstStyle/>
          <a:p>
            <a:pPr marL="0" indent="0" algn="l">
              <a:lnSpc>
                <a:spcPct val="104000"/>
              </a:lnSpc>
              <a:buNone/>
            </a:pPr>
            <a:r>
              <a:rPr lang="en-US" sz="3950" b="1" dirty="0">
                <a:solidFill>
                  <a:srgbClr val="265834"/>
                </a:solidFill>
                <a:latin typeface="Fraunces ExtraBold" pitchFamily="34" charset="0"/>
                <a:ea typeface="Fraunces ExtraBold" pitchFamily="34" charset="-122"/>
                <a:cs typeface="Fraunces ExtraBold" pitchFamily="34" charset="-120"/>
              </a:rPr>
              <a:t>01. Introduction</a:t>
            </a:r>
            <a:endParaRPr lang="en-US" sz="3950" b="1" dirty="0"/>
          </a:p>
        </p:txBody>
      </p:sp>
      <p:sp>
        <p:nvSpPr>
          <p:cNvPr id="4" name="Text 1"/>
          <p:cNvSpPr/>
          <p:nvPr/>
        </p:nvSpPr>
        <p:spPr>
          <a:xfrm>
            <a:off x="661475" y="1491258"/>
            <a:ext cx="6296860" cy="4247059"/>
          </a:xfrm>
          <a:prstGeom prst="rect">
            <a:avLst/>
          </a:prstGeom>
          <a:noFill/>
          <a:ln/>
        </p:spPr>
        <p:txBody>
          <a:bodyPr wrap="square" lIns="0" tIns="0" rIns="0" bIns="0" rtlCol="0" anchor="t">
            <a:noAutofit/>
          </a:bodyPr>
          <a:lstStyle/>
          <a:p>
            <a:pPr marL="0" indent="0" algn="l">
              <a:lnSpc>
                <a:spcPct val="123000"/>
              </a:lnSpc>
              <a:spcAft>
                <a:spcPts val="1500"/>
              </a:spcAft>
              <a:buNone/>
            </a:pPr>
            <a:r>
              <a:rPr lang="en-US" dirty="0">
                <a:solidFill>
                  <a:srgbClr val="030303"/>
                </a:solidFill>
                <a:latin typeface="Aptos Display" panose="020B0004020202020204" pitchFamily="34" charset="0"/>
                <a:ea typeface="Instrument Sans" pitchFamily="34" charset="-122"/>
                <a:cs typeface="Instrument Sans" pitchFamily="34" charset="-120"/>
              </a:rPr>
              <a:t>As indoor gardening gains popularity, many hobbyists struggle to diagnose plant illnesses because symptoms often look identical across different species. Most market solutions are limited to specific farm crops, leaving home gardeners without reliable support.</a:t>
            </a:r>
            <a:endParaRPr lang="en-US" dirty="0">
              <a:latin typeface="Aptos Display" panose="020B0004020202020204" pitchFamily="34" charset="0"/>
            </a:endParaRPr>
          </a:p>
          <a:p>
            <a:pPr marL="0" indent="0" algn="l">
              <a:lnSpc>
                <a:spcPct val="123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FloraAI</a:t>
            </a:r>
            <a:r>
              <a:rPr lang="en-US" dirty="0">
                <a:solidFill>
                  <a:srgbClr val="030303"/>
                </a:solidFill>
                <a:latin typeface="Aptos Display" panose="020B0004020202020204" pitchFamily="34" charset="0"/>
                <a:ea typeface="Instrument Sans" pitchFamily="34" charset="-122"/>
                <a:cs typeface="Instrument Sans" pitchFamily="34" charset="-120"/>
              </a:rPr>
              <a:t> solves this by focusing on the 'root cause' rather than the plant type. Our system detects the unique visual signatures of pathogens, enabling accurate classification of Fungi, Bacteria, Viruses, and Pests on any plant.</a:t>
            </a:r>
          </a:p>
          <a:p>
            <a:pPr marL="0" indent="0" algn="l">
              <a:lnSpc>
                <a:spcPct val="123000"/>
              </a:lnSpc>
              <a:buNone/>
            </a:pPr>
            <a:endParaRPr lang="en-US" dirty="0">
              <a:latin typeface="Aptos Display" panose="020B0004020202020204" pitchFamily="34" charset="0"/>
            </a:endParaRPr>
          </a:p>
          <a:p>
            <a:pPr marL="0" indent="0" algn="l">
              <a:lnSpc>
                <a:spcPct val="123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But we didn't stop at diagnosis. We also built a Personalized Care Scheduler that helps users manage their daily gardening tasks. This feature allow users to know watering and fertilizing reminders for each of their plants, ensuring they stay healthy and hydrated long before any disease appears</a:t>
            </a:r>
            <a:endParaRPr lang="en-US" dirty="0">
              <a:latin typeface="Aptos Display" panose="020B00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574" y="847923"/>
            <a:ext cx="5528033" cy="553740"/>
          </a:xfrm>
          <a:prstGeom prst="rect">
            <a:avLst/>
          </a:prstGeom>
          <a:noFill/>
          <a:ln/>
        </p:spPr>
        <p:txBody>
          <a:bodyPr wrap="none" lIns="0" tIns="0" rIns="0" bIns="0" rtlCol="0" anchor="t"/>
          <a:lstStyle/>
          <a:p>
            <a:pPr marL="0" indent="0" algn="l">
              <a:lnSpc>
                <a:spcPct val="104000"/>
              </a:lnSpc>
              <a:buNone/>
            </a:pPr>
            <a:r>
              <a:rPr lang="en-US" sz="3450" b="1" dirty="0">
                <a:solidFill>
                  <a:srgbClr val="265834"/>
                </a:solidFill>
                <a:latin typeface="Fraunces ExtraBold" pitchFamily="34" charset="0"/>
                <a:ea typeface="Fraunces ExtraBold" pitchFamily="34" charset="-122"/>
                <a:cs typeface="Fraunces ExtraBold" pitchFamily="34" charset="-120"/>
              </a:rPr>
              <a:t>Why FloraAI Matters?</a:t>
            </a:r>
            <a:endParaRPr lang="en-US" sz="3450" b="1" dirty="0"/>
          </a:p>
        </p:txBody>
      </p:sp>
      <p:sp>
        <p:nvSpPr>
          <p:cNvPr id="3" name="Text 1"/>
          <p:cNvSpPr/>
          <p:nvPr/>
        </p:nvSpPr>
        <p:spPr>
          <a:xfrm>
            <a:off x="661574" y="1618159"/>
            <a:ext cx="11478132" cy="248047"/>
          </a:xfrm>
          <a:prstGeom prst="rect">
            <a:avLst/>
          </a:prstGeom>
          <a:noFill/>
          <a:ln/>
        </p:spPr>
        <p:txBody>
          <a:bodyPr wrap="none" lIns="0" tIns="0" rIns="0" bIns="0" rtlCol="0" anchor="t"/>
          <a:lstStyle/>
          <a:p>
            <a:pPr marL="0" indent="0" algn="l">
              <a:lnSpc>
                <a:spcPct val="11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Indoor gardening is exploding, but people struggle to keep plants healthy</a:t>
            </a:r>
            <a:endParaRPr lang="en-US" dirty="0">
              <a:latin typeface="Aptos Display" panose="020B0004020202020204" pitchFamily="34" charset="0"/>
            </a:endParaRPr>
          </a:p>
        </p:txBody>
      </p:sp>
      <p:sp>
        <p:nvSpPr>
          <p:cNvPr id="4" name="Shape 2"/>
          <p:cNvSpPr/>
          <p:nvPr/>
        </p:nvSpPr>
        <p:spPr>
          <a:xfrm>
            <a:off x="534081" y="2064941"/>
            <a:ext cx="3590438" cy="3547666"/>
          </a:xfrm>
          <a:prstGeom prst="roundRect">
            <a:avLst>
              <a:gd name="adj" fmla="val 7193"/>
            </a:avLst>
          </a:prstGeom>
          <a:solidFill>
            <a:srgbClr val="DFEEE2"/>
          </a:solidFill>
          <a:ln/>
        </p:spPr>
        <p:txBody>
          <a:bodyPr/>
          <a:lstStyle/>
          <a:p>
            <a:endParaRPr lang="en-US"/>
          </a:p>
        </p:txBody>
      </p:sp>
      <p:sp>
        <p:nvSpPr>
          <p:cNvPr id="5" name="Text 3"/>
          <p:cNvSpPr/>
          <p:nvPr/>
        </p:nvSpPr>
        <p:spPr>
          <a:xfrm>
            <a:off x="711281" y="2184499"/>
            <a:ext cx="3845623" cy="248047"/>
          </a:xfrm>
          <a:prstGeom prst="rect">
            <a:avLst/>
          </a:prstGeom>
          <a:noFill/>
          <a:ln/>
        </p:spPr>
        <p:txBody>
          <a:bodyPr wrap="none" lIns="0" tIns="0" rIns="0" bIns="0" rtlCol="0" anchor="t"/>
          <a:lstStyle/>
          <a:p>
            <a:pPr marL="0" indent="0" algn="l">
              <a:lnSpc>
                <a:spcPct val="117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Global Trend:</a:t>
            </a:r>
            <a:endParaRPr lang="en-US" dirty="0">
              <a:latin typeface="Aptos Display" panose="020B0004020202020204" pitchFamily="34" charset="0"/>
            </a:endParaRPr>
          </a:p>
        </p:txBody>
      </p:sp>
      <p:sp>
        <p:nvSpPr>
          <p:cNvPr id="6" name="Text 4"/>
          <p:cNvSpPr/>
          <p:nvPr/>
        </p:nvSpPr>
        <p:spPr>
          <a:xfrm>
            <a:off x="711281" y="2552105"/>
            <a:ext cx="3236038" cy="1782763"/>
          </a:xfrm>
          <a:prstGeom prst="rect">
            <a:avLst/>
          </a:prstGeom>
          <a:noFill/>
          <a:ln/>
        </p:spPr>
        <p:txBody>
          <a:bodyPr wrap="square" lIns="0" tIns="0" rIns="0" bIns="0" rtlCol="0" anchor="t">
            <a:noAutofit/>
          </a:bodyPr>
          <a:lstStyle/>
          <a:p>
            <a:pPr marL="342900" indent="-342900" algn="l">
              <a:lnSpc>
                <a:spcPct val="117000"/>
              </a:lnSpc>
              <a:buSzPct val="100000"/>
              <a:buChar char="•"/>
            </a:pPr>
            <a:r>
              <a:rPr lang="en-US" sz="1600" dirty="0">
                <a:solidFill>
                  <a:srgbClr val="030303"/>
                </a:solidFill>
                <a:latin typeface="Aptos Display" panose="020B0004020202020204" pitchFamily="34" charset="0"/>
                <a:ea typeface="Instrument Sans" pitchFamily="34" charset="-122"/>
                <a:cs typeface="Instrument Sans" pitchFamily="34" charset="-120"/>
              </a:rPr>
              <a:t>Indoor plants market is surging globally, with the market projected to reach </a:t>
            </a:r>
            <a:r>
              <a:rPr lang="en-US" sz="1600" b="1" dirty="0">
                <a:solidFill>
                  <a:srgbClr val="030303"/>
                </a:solidFill>
                <a:latin typeface="Aptos Display" panose="020B0004020202020204" pitchFamily="34" charset="0"/>
                <a:ea typeface="Instrument Sans" pitchFamily="34" charset="-122"/>
                <a:cs typeface="Instrument Sans" pitchFamily="34" charset="-120"/>
              </a:rPr>
              <a:t>$26 Billion</a:t>
            </a:r>
            <a:r>
              <a:rPr lang="en-US" sz="1600" dirty="0">
                <a:solidFill>
                  <a:srgbClr val="030303"/>
                </a:solidFill>
                <a:latin typeface="Aptos Display" panose="020B0004020202020204" pitchFamily="34" charset="0"/>
                <a:ea typeface="Instrument Sans" pitchFamily="34" charset="-122"/>
                <a:cs typeface="Instrument Sans" pitchFamily="34" charset="-120"/>
              </a:rPr>
              <a:t> by 2030 (CAGR of 4.8%).</a:t>
            </a:r>
            <a:endParaRPr lang="en-US" sz="1600" dirty="0">
              <a:latin typeface="Aptos Display" panose="020B0004020202020204" pitchFamily="34" charset="0"/>
            </a:endParaRPr>
          </a:p>
          <a:p>
            <a:pPr marL="342900" indent="-342900" algn="l">
              <a:lnSpc>
                <a:spcPct val="117000"/>
              </a:lnSpc>
              <a:buSzPct val="100000"/>
              <a:buChar char="•"/>
            </a:pPr>
            <a:r>
              <a:rPr lang="en-US" sz="1600" b="1" dirty="0">
                <a:solidFill>
                  <a:srgbClr val="030303"/>
                </a:solidFill>
                <a:latin typeface="Aptos Display" panose="020B0004020202020204" pitchFamily="34" charset="0"/>
                <a:ea typeface="Instrument Sans" pitchFamily="34" charset="-122"/>
                <a:cs typeface="Instrument Sans" pitchFamily="34" charset="-120"/>
              </a:rPr>
              <a:t>Source</a:t>
            </a:r>
            <a:r>
              <a:rPr lang="en-US" sz="1600" dirty="0">
                <a:solidFill>
                  <a:srgbClr val="030303"/>
                </a:solidFill>
                <a:latin typeface="Aptos Display" panose="020B0004020202020204" pitchFamily="34" charset="0"/>
                <a:ea typeface="Instrument Sans" pitchFamily="34" charset="-122"/>
                <a:cs typeface="Instrument Sans" pitchFamily="34" charset="-120"/>
              </a:rPr>
              <a:t>: Grand View Research, "Indoor Plants Market Size &amp; Trends Analysis Report (2023-2030)."</a:t>
            </a:r>
            <a:endParaRPr lang="en-US" sz="1600" dirty="0">
              <a:latin typeface="Aptos Display" panose="020B0004020202020204" pitchFamily="34" charset="0"/>
            </a:endParaRPr>
          </a:p>
        </p:txBody>
      </p:sp>
      <p:sp>
        <p:nvSpPr>
          <p:cNvPr id="7" name="Text 5"/>
          <p:cNvSpPr/>
          <p:nvPr/>
        </p:nvSpPr>
        <p:spPr>
          <a:xfrm>
            <a:off x="711281" y="4996954"/>
            <a:ext cx="3236038" cy="496094"/>
          </a:xfrm>
          <a:prstGeom prst="rect">
            <a:avLst/>
          </a:prstGeom>
          <a:noFill/>
          <a:ln/>
        </p:spPr>
        <p:txBody>
          <a:bodyPr wrap="square" lIns="0" tIns="0" rIns="0" bIns="0" rtlCol="0" anchor="t">
            <a:normAutofit/>
          </a:bodyPr>
          <a:lstStyle/>
          <a:p>
            <a:pPr marL="0" indent="0" algn="l">
              <a:lnSpc>
                <a:spcPct val="117000"/>
              </a:lnSpc>
              <a:buNone/>
            </a:pPr>
            <a:r>
              <a:rPr lang="en-US" sz="1350" u="sng" dirty="0">
                <a:solidFill>
                  <a:srgbClr val="32673D"/>
                </a:solidFill>
                <a:latin typeface="Instrument Sans" pitchFamily="34" charset="0"/>
                <a:ea typeface="Instrument Sans" pitchFamily="34" charset="-122"/>
                <a:cs typeface="Instrument Sans" pitchFamily="34" charset="-120"/>
                <a:hlinkClick r:id="rId3">
                  <a:extLst>
                    <a:ext uri="{A12FA001-AC4F-418D-AE19-62706E023703}">
                      <ahyp:hlinkClr xmlns:ahyp="http://schemas.microsoft.com/office/drawing/2018/hyperlinkcolor" val="tx"/>
                    </a:ext>
                  </a:extLst>
                </a:hlinkClick>
              </a:rPr>
              <a:t>https://marketresearch.biz/report/indoor-plants-market/</a:t>
            </a:r>
            <a:endParaRPr lang="en-US" sz="1350" dirty="0"/>
          </a:p>
        </p:txBody>
      </p:sp>
      <p:sp>
        <p:nvSpPr>
          <p:cNvPr id="8" name="Shape 6"/>
          <p:cNvSpPr/>
          <p:nvPr/>
        </p:nvSpPr>
        <p:spPr>
          <a:xfrm>
            <a:off x="4308070" y="2064941"/>
            <a:ext cx="3589248" cy="3547666"/>
          </a:xfrm>
          <a:prstGeom prst="roundRect">
            <a:avLst>
              <a:gd name="adj" fmla="val 7193"/>
            </a:avLst>
          </a:prstGeom>
          <a:solidFill>
            <a:srgbClr val="DFEEE2"/>
          </a:solidFill>
          <a:ln/>
        </p:spPr>
        <p:txBody>
          <a:bodyPr/>
          <a:lstStyle/>
          <a:p>
            <a:endParaRPr lang="en-US"/>
          </a:p>
        </p:txBody>
      </p:sp>
      <p:sp>
        <p:nvSpPr>
          <p:cNvPr id="9" name="Text 7"/>
          <p:cNvSpPr/>
          <p:nvPr/>
        </p:nvSpPr>
        <p:spPr>
          <a:xfrm>
            <a:off x="4485270" y="2184499"/>
            <a:ext cx="3844432" cy="248047"/>
          </a:xfrm>
          <a:prstGeom prst="rect">
            <a:avLst/>
          </a:prstGeom>
          <a:noFill/>
          <a:ln/>
        </p:spPr>
        <p:txBody>
          <a:bodyPr wrap="none" lIns="0" tIns="0" rIns="0" bIns="0" rtlCol="0" anchor="t"/>
          <a:lstStyle/>
          <a:p>
            <a:pPr marL="0" indent="0" algn="l">
              <a:lnSpc>
                <a:spcPct val="117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The Loss Statistic:</a:t>
            </a:r>
            <a:endParaRPr lang="en-US" dirty="0">
              <a:latin typeface="Aptos Display" panose="020B0004020202020204" pitchFamily="34" charset="0"/>
            </a:endParaRPr>
          </a:p>
        </p:txBody>
      </p:sp>
      <p:sp>
        <p:nvSpPr>
          <p:cNvPr id="10" name="Text 8"/>
          <p:cNvSpPr/>
          <p:nvPr/>
        </p:nvSpPr>
        <p:spPr>
          <a:xfrm>
            <a:off x="4485270" y="2552105"/>
            <a:ext cx="3234847" cy="2325291"/>
          </a:xfrm>
          <a:prstGeom prst="rect">
            <a:avLst/>
          </a:prstGeom>
          <a:noFill/>
          <a:ln/>
        </p:spPr>
        <p:txBody>
          <a:bodyPr wrap="square" lIns="0" tIns="0" rIns="0" bIns="0" rtlCol="0" anchor="t">
            <a:noAutofit/>
          </a:bodyPr>
          <a:lstStyle/>
          <a:p>
            <a:pPr marL="342900" indent="-342900" algn="l">
              <a:lnSpc>
                <a:spcPct val="117000"/>
              </a:lnSpc>
              <a:buSzPct val="100000"/>
              <a:buChar char="•"/>
            </a:pPr>
            <a:r>
              <a:rPr lang="en-US" sz="1600" dirty="0">
                <a:solidFill>
                  <a:srgbClr val="030303"/>
                </a:solidFill>
                <a:latin typeface="Aptos Display" panose="020B0004020202020204" pitchFamily="34" charset="0"/>
                <a:ea typeface="Instrument Sans" pitchFamily="34" charset="-122"/>
                <a:cs typeface="Instrument Sans" pitchFamily="34" charset="-120"/>
              </a:rPr>
              <a:t>Up to </a:t>
            </a:r>
            <a:r>
              <a:rPr lang="en-US" sz="1600" b="1" dirty="0">
                <a:solidFill>
                  <a:srgbClr val="030303"/>
                </a:solidFill>
                <a:latin typeface="Aptos Display" panose="020B0004020202020204" pitchFamily="34" charset="0"/>
                <a:ea typeface="Instrument Sans" pitchFamily="34" charset="-122"/>
                <a:cs typeface="Instrument Sans" pitchFamily="34" charset="-120"/>
              </a:rPr>
              <a:t>40%</a:t>
            </a:r>
            <a:r>
              <a:rPr lang="en-US" sz="1600" dirty="0">
                <a:solidFill>
                  <a:srgbClr val="030303"/>
                </a:solidFill>
                <a:latin typeface="Aptos Display" panose="020B0004020202020204" pitchFamily="34" charset="0"/>
                <a:ea typeface="Instrument Sans" pitchFamily="34" charset="-122"/>
                <a:cs typeface="Instrument Sans" pitchFamily="34" charset="-120"/>
              </a:rPr>
              <a:t> of global crop yields are lost to pests and diseases annually (FAO estimate).</a:t>
            </a:r>
            <a:endParaRPr lang="en-US" sz="1600" dirty="0">
              <a:latin typeface="Aptos Display" panose="020B0004020202020204" pitchFamily="34" charset="0"/>
            </a:endParaRPr>
          </a:p>
          <a:p>
            <a:pPr marL="342900" indent="-342900" algn="l">
              <a:lnSpc>
                <a:spcPct val="117000"/>
              </a:lnSpc>
              <a:buSzPct val="100000"/>
              <a:buChar char="•"/>
            </a:pPr>
            <a:r>
              <a:rPr lang="en-US" sz="1600" dirty="0">
                <a:solidFill>
                  <a:srgbClr val="030303"/>
                </a:solidFill>
                <a:latin typeface="Aptos Display" panose="020B0004020202020204" pitchFamily="34" charset="0"/>
                <a:ea typeface="Instrument Sans" pitchFamily="34" charset="-122"/>
                <a:cs typeface="Instrument Sans" pitchFamily="34" charset="-120"/>
              </a:rPr>
              <a:t>For home growers, disease is the </a:t>
            </a:r>
            <a:r>
              <a:rPr lang="en-US" sz="1600" b="1" dirty="0">
                <a:solidFill>
                  <a:srgbClr val="030303"/>
                </a:solidFill>
                <a:latin typeface="Aptos Display" panose="020B0004020202020204" pitchFamily="34" charset="0"/>
                <a:ea typeface="Instrument Sans" pitchFamily="34" charset="-122"/>
                <a:cs typeface="Instrument Sans" pitchFamily="34" charset="-120"/>
              </a:rPr>
              <a:t>#1 reason</a:t>
            </a:r>
            <a:r>
              <a:rPr lang="en-US" sz="1600" dirty="0">
                <a:solidFill>
                  <a:srgbClr val="030303"/>
                </a:solidFill>
                <a:latin typeface="Aptos Display" panose="020B0004020202020204" pitchFamily="34" charset="0"/>
                <a:ea typeface="Instrument Sans" pitchFamily="34" charset="-122"/>
                <a:cs typeface="Instrument Sans" pitchFamily="34" charset="-120"/>
              </a:rPr>
              <a:t> for giving up on gardening.</a:t>
            </a:r>
            <a:endParaRPr lang="en-US" sz="1600" dirty="0">
              <a:latin typeface="Aptos Display" panose="020B0004020202020204" pitchFamily="34" charset="0"/>
            </a:endParaRPr>
          </a:p>
          <a:p>
            <a:pPr marL="342900" indent="-342900" algn="l">
              <a:lnSpc>
                <a:spcPct val="117000"/>
              </a:lnSpc>
              <a:buSzPct val="100000"/>
              <a:buChar char="•"/>
            </a:pPr>
            <a:r>
              <a:rPr lang="en-US" sz="1600" b="1" dirty="0">
                <a:solidFill>
                  <a:srgbClr val="030303"/>
                </a:solidFill>
                <a:latin typeface="Aptos Display" panose="020B0004020202020204" pitchFamily="34" charset="0"/>
                <a:ea typeface="Instrument Sans" pitchFamily="34" charset="-122"/>
                <a:cs typeface="Instrument Sans" pitchFamily="34" charset="-120"/>
              </a:rPr>
              <a:t>Source</a:t>
            </a:r>
            <a:r>
              <a:rPr lang="en-US" sz="1600" dirty="0">
                <a:solidFill>
                  <a:srgbClr val="030303"/>
                </a:solidFill>
                <a:latin typeface="Aptos Display" panose="020B0004020202020204" pitchFamily="34" charset="0"/>
                <a:ea typeface="Instrument Sans" pitchFamily="34" charset="-122"/>
                <a:cs typeface="Instrument Sans" pitchFamily="34" charset="-120"/>
              </a:rPr>
              <a:t>: Food and Agriculture Organization (FAO), "International Plant Protection Convention Estimates.</a:t>
            </a:r>
            <a:endParaRPr lang="en-US" sz="1600" dirty="0">
              <a:latin typeface="Aptos Display" panose="020B0004020202020204" pitchFamily="34" charset="0"/>
            </a:endParaRPr>
          </a:p>
        </p:txBody>
      </p:sp>
      <p:sp>
        <p:nvSpPr>
          <p:cNvPr id="11" name="Text 9"/>
          <p:cNvSpPr/>
          <p:nvPr/>
        </p:nvSpPr>
        <p:spPr>
          <a:xfrm>
            <a:off x="5876458" y="5223456"/>
            <a:ext cx="2510753" cy="300533"/>
          </a:xfrm>
          <a:prstGeom prst="rect">
            <a:avLst/>
          </a:prstGeom>
          <a:noFill/>
          <a:ln/>
        </p:spPr>
        <p:txBody>
          <a:bodyPr wrap="square" lIns="0" tIns="0" rIns="0" bIns="0" rtlCol="0" anchor="t">
            <a:normAutofit fontScale="77500" lnSpcReduction="20000"/>
          </a:bodyPr>
          <a:lstStyle/>
          <a:p>
            <a:pPr marL="0" indent="0" algn="l">
              <a:lnSpc>
                <a:spcPct val="117000"/>
              </a:lnSpc>
              <a:buNone/>
            </a:pPr>
            <a:r>
              <a:rPr lang="en-US" sz="1350" u="sng" dirty="0">
                <a:solidFill>
                  <a:srgbClr val="32673D"/>
                </a:solidFill>
                <a:latin typeface="Instrument Sans" pitchFamily="34" charset="0"/>
                <a:ea typeface="Instrument Sans" pitchFamily="34" charset="-122"/>
                <a:cs typeface="Instrument Sans" pitchFamily="34" charset="-120"/>
                <a:hlinkClick r:id="rId4">
                  <a:extLst>
                    <a:ext uri="{A12FA001-AC4F-418D-AE19-62706E023703}">
                      <ahyp:hlinkClr xmlns:ahyp="http://schemas.microsoft.com/office/drawing/2018/hyperlinkcolor" val="tx"/>
                    </a:ext>
                  </a:extLst>
                </a:hlinkClick>
              </a:rPr>
              <a:t>https://www.fao.org/plant-health-2020/about/en/</a:t>
            </a:r>
            <a:endParaRPr lang="en-US" sz="1350" dirty="0"/>
          </a:p>
        </p:txBody>
      </p:sp>
      <p:sp>
        <p:nvSpPr>
          <p:cNvPr id="12" name="Shape 10"/>
          <p:cNvSpPr/>
          <p:nvPr/>
        </p:nvSpPr>
        <p:spPr>
          <a:xfrm>
            <a:off x="8080867" y="2064941"/>
            <a:ext cx="3589248" cy="3547666"/>
          </a:xfrm>
          <a:prstGeom prst="roundRect">
            <a:avLst>
              <a:gd name="adj" fmla="val 7193"/>
            </a:avLst>
          </a:prstGeom>
          <a:solidFill>
            <a:srgbClr val="DFEEE2"/>
          </a:solidFill>
          <a:ln/>
        </p:spPr>
        <p:txBody>
          <a:bodyPr/>
          <a:lstStyle/>
          <a:p>
            <a:endParaRPr lang="en-US"/>
          </a:p>
        </p:txBody>
      </p:sp>
      <p:sp>
        <p:nvSpPr>
          <p:cNvPr id="13" name="Text 11"/>
          <p:cNvSpPr/>
          <p:nvPr/>
        </p:nvSpPr>
        <p:spPr>
          <a:xfrm>
            <a:off x="8258068" y="2184499"/>
            <a:ext cx="3844432" cy="248047"/>
          </a:xfrm>
          <a:prstGeom prst="rect">
            <a:avLst/>
          </a:prstGeom>
          <a:noFill/>
          <a:ln/>
        </p:spPr>
        <p:txBody>
          <a:bodyPr wrap="none" lIns="0" tIns="0" rIns="0" bIns="0" rtlCol="0" anchor="t"/>
          <a:lstStyle/>
          <a:p>
            <a:pPr marL="0" indent="0" algn="l">
              <a:lnSpc>
                <a:spcPct val="117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The Gap:</a:t>
            </a:r>
            <a:endParaRPr lang="en-US" dirty="0">
              <a:latin typeface="Aptos Display" panose="020B0004020202020204" pitchFamily="34" charset="0"/>
            </a:endParaRPr>
          </a:p>
        </p:txBody>
      </p:sp>
      <p:sp>
        <p:nvSpPr>
          <p:cNvPr id="14" name="Text 12"/>
          <p:cNvSpPr/>
          <p:nvPr/>
        </p:nvSpPr>
        <p:spPr>
          <a:xfrm>
            <a:off x="8258068" y="2552105"/>
            <a:ext cx="3234847" cy="1286669"/>
          </a:xfrm>
          <a:prstGeom prst="rect">
            <a:avLst/>
          </a:prstGeom>
          <a:noFill/>
          <a:ln/>
        </p:spPr>
        <p:txBody>
          <a:bodyPr wrap="square" lIns="0" tIns="0" rIns="0" bIns="0" rtlCol="0" anchor="t">
            <a:noAutofit/>
          </a:bodyPr>
          <a:lstStyle/>
          <a:p>
            <a:pPr marL="342900" indent="-342900" algn="l">
              <a:lnSpc>
                <a:spcPct val="117000"/>
              </a:lnSpc>
              <a:buSzPct val="100000"/>
              <a:buChar char="•"/>
            </a:pPr>
            <a:r>
              <a:rPr lang="en-US" sz="1600" dirty="0">
                <a:solidFill>
                  <a:srgbClr val="030303"/>
                </a:solidFill>
                <a:latin typeface="Aptos Display" panose="020B0004020202020204" pitchFamily="34" charset="0"/>
                <a:ea typeface="Instrument Sans" pitchFamily="34" charset="-122"/>
                <a:cs typeface="Instrument Sans" pitchFamily="34" charset="-120"/>
              </a:rPr>
              <a:t>Millions of new "Plant Growers" lack agricultural expertise.</a:t>
            </a:r>
            <a:endParaRPr lang="en-US" sz="1600" dirty="0">
              <a:latin typeface="Aptos Display" panose="020B0004020202020204" pitchFamily="34" charset="0"/>
            </a:endParaRPr>
          </a:p>
          <a:p>
            <a:pPr marL="342900" indent="-342900" algn="l">
              <a:lnSpc>
                <a:spcPct val="117000"/>
              </a:lnSpc>
              <a:buSzPct val="100000"/>
              <a:buChar char="•"/>
            </a:pPr>
            <a:r>
              <a:rPr lang="en-US" sz="1600" dirty="0">
                <a:solidFill>
                  <a:srgbClr val="030303"/>
                </a:solidFill>
                <a:latin typeface="Aptos Display" panose="020B0004020202020204" pitchFamily="34" charset="0"/>
                <a:ea typeface="Instrument Sans" pitchFamily="34" charset="-122"/>
                <a:cs typeface="Instrument Sans" pitchFamily="34" charset="-120"/>
              </a:rPr>
              <a:t>Need for a digital assistant to bridge the gap between </a:t>
            </a:r>
            <a:r>
              <a:rPr lang="en-US" sz="1600" b="1" dirty="0">
                <a:solidFill>
                  <a:srgbClr val="030303"/>
                </a:solidFill>
                <a:latin typeface="Aptos Display" panose="020B0004020202020204" pitchFamily="34" charset="0"/>
                <a:ea typeface="Instrument Sans" pitchFamily="34" charset="-122"/>
                <a:cs typeface="Instrument Sans" pitchFamily="34" charset="-120"/>
              </a:rPr>
              <a:t>passion</a:t>
            </a:r>
            <a:r>
              <a:rPr lang="en-US" sz="1600" dirty="0">
                <a:solidFill>
                  <a:srgbClr val="030303"/>
                </a:solidFill>
                <a:latin typeface="Aptos Display" panose="020B0004020202020204" pitchFamily="34" charset="0"/>
                <a:ea typeface="Instrument Sans" pitchFamily="34" charset="-122"/>
                <a:cs typeface="Instrument Sans" pitchFamily="34" charset="-120"/>
              </a:rPr>
              <a:t> and </a:t>
            </a:r>
            <a:r>
              <a:rPr lang="en-US" sz="1600" b="1" dirty="0">
                <a:solidFill>
                  <a:srgbClr val="030303"/>
                </a:solidFill>
                <a:latin typeface="Aptos Display" panose="020B0004020202020204" pitchFamily="34" charset="0"/>
                <a:ea typeface="Instrument Sans" pitchFamily="34" charset="-122"/>
                <a:cs typeface="Instrument Sans" pitchFamily="34" charset="-120"/>
              </a:rPr>
              <a:t>knowledge</a:t>
            </a:r>
            <a:r>
              <a:rPr lang="en-US" sz="1600" dirty="0">
                <a:solidFill>
                  <a:srgbClr val="030303"/>
                </a:solidFill>
                <a:latin typeface="Aptos Display" panose="020B0004020202020204" pitchFamily="34" charset="0"/>
                <a:ea typeface="Instrument Sans" pitchFamily="34" charset="-122"/>
                <a:cs typeface="Instrument Sans" pitchFamily="34" charset="-120"/>
              </a:rPr>
              <a:t>.</a:t>
            </a:r>
            <a:endParaRPr lang="en-US" sz="1600" dirty="0">
              <a:latin typeface="Aptos Display" panose="020B0004020202020204" pitchFamily="34" charset="0"/>
            </a:endParaRPr>
          </a:p>
        </p:txBody>
      </p:sp>
      <p:sp>
        <p:nvSpPr>
          <p:cNvPr id="15" name="Text 13"/>
          <p:cNvSpPr/>
          <p:nvPr/>
        </p:nvSpPr>
        <p:spPr>
          <a:xfrm>
            <a:off x="661574" y="5762030"/>
            <a:ext cx="11478132" cy="248047"/>
          </a:xfrm>
          <a:prstGeom prst="rect">
            <a:avLst/>
          </a:prstGeom>
          <a:noFill/>
          <a:ln/>
        </p:spPr>
        <p:txBody>
          <a:bodyPr wrap="none" lIns="0" tIns="0" rIns="0" bIns="0" rtlCol="0" anchor="t"/>
          <a:lstStyle/>
          <a:p>
            <a:pPr marL="0" indent="0" algn="l">
              <a:lnSpc>
                <a:spcPct val="11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Most plant apps focus on large-scale agriculture, not indoor gardeners</a:t>
            </a:r>
            <a:endParaRPr lang="en-US" dirty="0">
              <a:latin typeface="Aptos Display" panose="020B00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574" y="690265"/>
            <a:ext cx="6221058" cy="701477"/>
          </a:xfrm>
          <a:prstGeom prst="rect">
            <a:avLst/>
          </a:prstGeom>
          <a:noFill/>
          <a:ln/>
        </p:spPr>
        <p:txBody>
          <a:bodyPr wrap="none" lIns="0" tIns="0" rIns="0" bIns="0" rtlCol="0" anchor="t"/>
          <a:lstStyle/>
          <a:p>
            <a:pPr marL="0" indent="0" algn="l">
              <a:lnSpc>
                <a:spcPct val="104000"/>
              </a:lnSpc>
              <a:buNone/>
            </a:pPr>
            <a:r>
              <a:rPr lang="en-US" sz="4400" dirty="0">
                <a:solidFill>
                  <a:srgbClr val="265834"/>
                </a:solidFill>
                <a:latin typeface="Fraunces ExtraBold" pitchFamily="34" charset="0"/>
                <a:ea typeface="Fraunces ExtraBold" pitchFamily="34" charset="-122"/>
                <a:cs typeface="Fraunces ExtraBold" pitchFamily="34" charset="-120"/>
              </a:rPr>
              <a:t>Problem Statement</a:t>
            </a:r>
            <a:endParaRPr lang="en-US" sz="4400" dirty="0"/>
          </a:p>
        </p:txBody>
      </p:sp>
      <p:sp>
        <p:nvSpPr>
          <p:cNvPr id="3" name="Text 1"/>
          <p:cNvSpPr/>
          <p:nvPr/>
        </p:nvSpPr>
        <p:spPr>
          <a:xfrm>
            <a:off x="661574" y="1993206"/>
            <a:ext cx="11478132" cy="350044"/>
          </a:xfrm>
          <a:prstGeom prst="rect">
            <a:avLst/>
          </a:prstGeom>
          <a:noFill/>
          <a:ln/>
        </p:spPr>
        <p:txBody>
          <a:bodyPr wrap="none" lIns="0" tIns="0" rIns="0" bIns="0" rtlCol="0" anchor="t"/>
          <a:lstStyle/>
          <a:p>
            <a:pPr marL="0" indent="0" algn="l">
              <a:lnSpc>
                <a:spcPct val="130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Misdiagnosis of Plant Problems:</a:t>
            </a:r>
            <a:endParaRPr lang="en-US" dirty="0">
              <a:latin typeface="Aptos Display" panose="020B0004020202020204" pitchFamily="34" charset="0"/>
            </a:endParaRPr>
          </a:p>
        </p:txBody>
      </p:sp>
      <p:sp>
        <p:nvSpPr>
          <p:cNvPr id="4" name="Text 2"/>
          <p:cNvSpPr/>
          <p:nvPr/>
        </p:nvSpPr>
        <p:spPr>
          <a:xfrm>
            <a:off x="661574" y="2408039"/>
            <a:ext cx="10868547" cy="700088"/>
          </a:xfrm>
          <a:prstGeom prst="rect">
            <a:avLst/>
          </a:prstGeom>
          <a:noFill/>
          <a:ln/>
        </p:spPr>
        <p:txBody>
          <a:bodyPr wrap="square" lIns="0" tIns="0" rIns="0" bIns="0" rtlCol="0" anchor="t">
            <a:normAutofit fontScale="92500" lnSpcReduction="10000"/>
          </a:bodyPr>
          <a:lstStyle/>
          <a:p>
            <a:pPr marL="0" indent="0" algn="l">
              <a:lnSpc>
                <a:spcPct val="130000"/>
              </a:lnSpc>
              <a:buNone/>
            </a:pPr>
            <a:r>
              <a:rPr lang="en-US" sz="2000" dirty="0">
                <a:solidFill>
                  <a:srgbClr val="030303"/>
                </a:solidFill>
                <a:latin typeface="Aptos Display" panose="020B0004020202020204" pitchFamily="34" charset="0"/>
                <a:ea typeface="Instrument Sans" pitchFamily="34" charset="-122"/>
                <a:cs typeface="Instrument Sans" pitchFamily="34" charset="-120"/>
              </a:rPr>
              <a:t>Symptoms of plant distress from fungi, bacteria often appear identical to non-experts. This leads to frequent and frustrating misdiagnosis.</a:t>
            </a:r>
            <a:endParaRPr lang="en-US" sz="2000" dirty="0">
              <a:latin typeface="Aptos Display" panose="020B0004020202020204" pitchFamily="34" charset="0"/>
            </a:endParaRPr>
          </a:p>
        </p:txBody>
      </p:sp>
      <p:sp>
        <p:nvSpPr>
          <p:cNvPr id="5" name="Text 3"/>
          <p:cNvSpPr/>
          <p:nvPr/>
        </p:nvSpPr>
        <p:spPr>
          <a:xfrm>
            <a:off x="661574" y="3522960"/>
            <a:ext cx="11478132" cy="350044"/>
          </a:xfrm>
          <a:prstGeom prst="rect">
            <a:avLst/>
          </a:prstGeom>
          <a:noFill/>
          <a:ln/>
        </p:spPr>
        <p:txBody>
          <a:bodyPr wrap="none" lIns="0" tIns="0" rIns="0" bIns="0" rtlCol="0" anchor="t"/>
          <a:lstStyle/>
          <a:p>
            <a:pPr marL="0" indent="0" algn="l">
              <a:lnSpc>
                <a:spcPct val="130000"/>
              </a:lnSpc>
              <a:buNone/>
            </a:pPr>
            <a:endParaRPr lang="en-US" dirty="0">
              <a:latin typeface="Aptos Display" panose="020B0004020202020204" pitchFamily="34" charset="0"/>
            </a:endParaRPr>
          </a:p>
        </p:txBody>
      </p:sp>
      <p:sp>
        <p:nvSpPr>
          <p:cNvPr id="6" name="Text 4"/>
          <p:cNvSpPr/>
          <p:nvPr/>
        </p:nvSpPr>
        <p:spPr>
          <a:xfrm>
            <a:off x="661574" y="5076313"/>
            <a:ext cx="10868547" cy="700088"/>
          </a:xfrm>
          <a:prstGeom prst="rect">
            <a:avLst/>
          </a:prstGeom>
          <a:noFill/>
          <a:ln/>
        </p:spPr>
        <p:txBody>
          <a:bodyPr wrap="square" lIns="0" tIns="0" rIns="0" bIns="0" rtlCol="0" anchor="t">
            <a:noAutofit/>
          </a:bodyPr>
          <a:lstStyle/>
          <a:p>
            <a:pPr marL="0" indent="0" algn="l">
              <a:lnSpc>
                <a:spcPct val="130000"/>
              </a:lnSpc>
              <a:buNone/>
            </a:pPr>
            <a:endParaRPr lang="en-US" sz="2000" dirty="0">
              <a:latin typeface="Aptos Display" panose="020B0004020202020204" pitchFamily="34" charset="0"/>
            </a:endParaRPr>
          </a:p>
        </p:txBody>
      </p:sp>
      <p:sp>
        <p:nvSpPr>
          <p:cNvPr id="7" name="Text 5"/>
          <p:cNvSpPr/>
          <p:nvPr/>
        </p:nvSpPr>
        <p:spPr>
          <a:xfrm>
            <a:off x="661574" y="4659462"/>
            <a:ext cx="11478132" cy="350044"/>
          </a:xfrm>
          <a:prstGeom prst="rect">
            <a:avLst/>
          </a:prstGeom>
          <a:noFill/>
          <a:ln/>
        </p:spPr>
        <p:txBody>
          <a:bodyPr wrap="none" lIns="0" tIns="0" rIns="0" bIns="0" rtlCol="0" anchor="t"/>
          <a:lstStyle/>
          <a:p>
            <a:pPr marL="0" indent="0" algn="l">
              <a:lnSpc>
                <a:spcPct val="130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Accessibility &amp; Latency Bottlenecks:</a:t>
            </a:r>
            <a:endParaRPr lang="en-US" dirty="0">
              <a:latin typeface="Aptos Display" panose="020B0004020202020204" pitchFamily="34" charset="0"/>
            </a:endParaRPr>
          </a:p>
        </p:txBody>
      </p:sp>
      <p:sp>
        <p:nvSpPr>
          <p:cNvPr id="8" name="Text 6"/>
          <p:cNvSpPr/>
          <p:nvPr/>
        </p:nvSpPr>
        <p:spPr>
          <a:xfrm>
            <a:off x="661573" y="5141103"/>
            <a:ext cx="10868547" cy="700088"/>
          </a:xfrm>
          <a:prstGeom prst="rect">
            <a:avLst/>
          </a:prstGeom>
          <a:noFill/>
          <a:ln/>
        </p:spPr>
        <p:txBody>
          <a:bodyPr wrap="square" lIns="0" tIns="0" rIns="0" bIns="0" rtlCol="0" anchor="t">
            <a:noAutofit/>
          </a:bodyPr>
          <a:lstStyle/>
          <a:p>
            <a:pPr marL="0" indent="0" algn="l">
              <a:lnSpc>
                <a:spcPct val="130000"/>
              </a:lnSpc>
              <a:buNone/>
            </a:pPr>
            <a:r>
              <a:rPr lang="en-US" sz="2000" dirty="0">
                <a:solidFill>
                  <a:srgbClr val="030303"/>
                </a:solidFill>
                <a:latin typeface="Aptos Display" panose="020B0004020202020204" pitchFamily="34" charset="0"/>
                <a:ea typeface="Instrument Sans" pitchFamily="34" charset="-122"/>
                <a:cs typeface="Instrument Sans" pitchFamily="34" charset="-120"/>
              </a:rPr>
              <a:t>Unreliable Mobile Solutions: Many current apps require strong internet for cloud processing. This makes them useless in remote or low-connectivity areas, where urgent help is often needed.</a:t>
            </a:r>
            <a:endParaRPr lang="en-US" sz="2000" dirty="0">
              <a:latin typeface="Aptos Display" panose="020B0004020202020204" pitchFamily="34" charset="0"/>
            </a:endParaRPr>
          </a:p>
        </p:txBody>
      </p:sp>
      <p:sp>
        <p:nvSpPr>
          <p:cNvPr id="10" name="TextBox 9">
            <a:extLst>
              <a:ext uri="{FF2B5EF4-FFF2-40B4-BE49-F238E27FC236}">
                <a16:creationId xmlns:a16="http://schemas.microsoft.com/office/drawing/2014/main" id="{84DCB617-D183-9557-948D-B00BAC5BF41E}"/>
              </a:ext>
            </a:extLst>
          </p:cNvPr>
          <p:cNvSpPr txBox="1"/>
          <p:nvPr/>
        </p:nvSpPr>
        <p:spPr>
          <a:xfrm>
            <a:off x="509173" y="3281436"/>
            <a:ext cx="10868548" cy="1244956"/>
          </a:xfrm>
          <a:prstGeom prst="rect">
            <a:avLst/>
          </a:prstGeom>
          <a:noFill/>
        </p:spPr>
        <p:txBody>
          <a:bodyPr wrap="square">
            <a:spAutoFit/>
          </a:bodyPr>
          <a:lstStyle/>
          <a:p>
            <a:r>
              <a:rPr lang="en-US" b="1" dirty="0"/>
              <a:t>Commercial Focus, Not Home Gardens:</a:t>
            </a:r>
            <a:endParaRPr lang="en-US" dirty="0"/>
          </a:p>
          <a:p>
            <a:pPr>
              <a:lnSpc>
                <a:spcPct val="150000"/>
              </a:lnSpc>
            </a:pPr>
            <a:r>
              <a:rPr lang="en-US" sz="2000" dirty="0"/>
              <a:t>Existing AI diagnostic tools focus on commercial crops (e.g., Tomato, Potato). These solutions critically fail to identify issues in common household and ornamental plants cherished by </a:t>
            </a:r>
            <a:r>
              <a:rPr lang="en-US" sz="2000"/>
              <a:t>home growers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gradFill>
          <a:gsLst>
            <a:gs pos="16000">
              <a:srgbClr val="146A18"/>
            </a:gs>
            <a:gs pos="47000">
              <a:srgbClr val="0B9912">
                <a:alpha val="95000"/>
                <a:lumMod val="100000"/>
              </a:srgbClr>
            </a:gs>
            <a:gs pos="100000">
              <a:srgbClr val="146A18"/>
            </a:gs>
          </a:gsLst>
          <a:lin ang="13500000" scaled="1"/>
        </a:gradFill>
        <a:effectLst/>
      </p:bgPr>
    </p:bg>
    <p:spTree>
      <p:nvGrpSpPr>
        <p:cNvPr id="1" name=""/>
        <p:cNvGrpSpPr/>
        <p:nvPr/>
      </p:nvGrpSpPr>
      <p:grpSpPr>
        <a:xfrm>
          <a:off x="0" y="0"/>
          <a:ext cx="0" cy="0"/>
          <a:chOff x="0" y="0"/>
          <a:chExt cx="0" cy="0"/>
        </a:xfrm>
      </p:grpSpPr>
      <p:sp>
        <p:nvSpPr>
          <p:cNvPr id="2" name="Text 0"/>
          <p:cNvSpPr/>
          <p:nvPr/>
        </p:nvSpPr>
        <p:spPr>
          <a:xfrm>
            <a:off x="1715350" y="2919512"/>
            <a:ext cx="8760995" cy="1018977"/>
          </a:xfrm>
          <a:prstGeom prst="rect">
            <a:avLst/>
          </a:prstGeom>
          <a:noFill/>
          <a:ln/>
        </p:spPr>
        <p:txBody>
          <a:bodyPr wrap="none" lIns="0" tIns="0" rIns="0" bIns="0" rtlCol="0" anchor="t"/>
          <a:lstStyle/>
          <a:p>
            <a:pPr marL="0" indent="0" algn="ctr">
              <a:lnSpc>
                <a:spcPct val="104000"/>
              </a:lnSpc>
              <a:buNone/>
            </a:pPr>
            <a:r>
              <a:rPr lang="en-US" sz="6400" b="1" dirty="0">
                <a:solidFill>
                  <a:srgbClr val="FFFFFF"/>
                </a:solidFill>
                <a:latin typeface="Fraunces ExtraBold" pitchFamily="34" charset="0"/>
                <a:ea typeface="Fraunces ExtraBold" pitchFamily="34" charset="-122"/>
                <a:cs typeface="Fraunces ExtraBold" pitchFamily="34" charset="-120"/>
              </a:rPr>
              <a:t>02.Related work</a:t>
            </a:r>
            <a:endParaRPr lang="en-US" sz="64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574" y="914301"/>
            <a:ext cx="10868547" cy="5029299"/>
          </a:xfrm>
          <a:prstGeom prst="roundRect">
            <a:avLst>
              <a:gd name="adj" fmla="val 2960"/>
            </a:avLst>
          </a:prstGeom>
          <a:noFill/>
          <a:ln w="6350">
            <a:solidFill>
              <a:srgbClr val="000000">
                <a:alpha val="8000"/>
              </a:srgbClr>
            </a:solidFill>
            <a:prstDash val="solid"/>
          </a:ln>
        </p:spPr>
        <p:txBody>
          <a:bodyPr/>
          <a:lstStyle/>
          <a:p>
            <a:endParaRPr lang="en-US"/>
          </a:p>
        </p:txBody>
      </p:sp>
      <p:sp>
        <p:nvSpPr>
          <p:cNvPr id="3" name="Shape 1"/>
          <p:cNvSpPr/>
          <p:nvPr/>
        </p:nvSpPr>
        <p:spPr>
          <a:xfrm>
            <a:off x="667924" y="920651"/>
            <a:ext cx="10855847" cy="668536"/>
          </a:xfrm>
          <a:prstGeom prst="rect">
            <a:avLst/>
          </a:prstGeom>
          <a:solidFill>
            <a:srgbClr val="FFFFFF">
              <a:alpha val="4000"/>
            </a:srgbClr>
          </a:solidFill>
          <a:ln/>
        </p:spPr>
        <p:txBody>
          <a:bodyPr/>
          <a:lstStyle/>
          <a:p>
            <a:endParaRPr lang="en-US"/>
          </a:p>
        </p:txBody>
      </p:sp>
      <p:sp>
        <p:nvSpPr>
          <p:cNvPr id="4" name="Text 2"/>
          <p:cNvSpPr/>
          <p:nvPr/>
        </p:nvSpPr>
        <p:spPr>
          <a:xfrm>
            <a:off x="833417" y="996454"/>
            <a:ext cx="2580516" cy="258465"/>
          </a:xfrm>
          <a:prstGeom prst="rect">
            <a:avLst/>
          </a:prstGeom>
          <a:noFill/>
          <a:ln/>
        </p:spPr>
        <p:txBody>
          <a:bodyPr wrap="none" lIns="0" tIns="0" rIns="0" bIns="0" rtlCol="0" anchor="t"/>
          <a:lstStyle/>
          <a:p>
            <a:pPr marL="0" indent="0" algn="l">
              <a:lnSpc>
                <a:spcPct val="104000"/>
              </a:lnSpc>
              <a:buNone/>
            </a:pPr>
            <a:r>
              <a:rPr lang="en-US" sz="1600" b="1" dirty="0">
                <a:solidFill>
                  <a:srgbClr val="265834"/>
                </a:solidFill>
                <a:latin typeface="Fraunces ExtraBold" pitchFamily="34" charset="0"/>
                <a:ea typeface="Fraunces ExtraBold" pitchFamily="34" charset="-122"/>
                <a:cs typeface="Fraunces ExtraBold" pitchFamily="34" charset="-120"/>
              </a:rPr>
              <a:t>Paper Name</a:t>
            </a:r>
            <a:endParaRPr lang="en-US" sz="1600" b="1" dirty="0"/>
          </a:p>
        </p:txBody>
      </p:sp>
      <p:sp>
        <p:nvSpPr>
          <p:cNvPr id="5" name="Text 3"/>
          <p:cNvSpPr/>
          <p:nvPr/>
        </p:nvSpPr>
        <p:spPr>
          <a:xfrm>
            <a:off x="3141286" y="996454"/>
            <a:ext cx="1605716" cy="258465"/>
          </a:xfrm>
          <a:prstGeom prst="rect">
            <a:avLst/>
          </a:prstGeom>
          <a:noFill/>
          <a:ln/>
        </p:spPr>
        <p:txBody>
          <a:bodyPr wrap="none" lIns="0" tIns="0" rIns="0" bIns="0" rtlCol="0" anchor="t"/>
          <a:lstStyle/>
          <a:p>
            <a:pPr marL="0" indent="0" algn="l">
              <a:lnSpc>
                <a:spcPct val="104000"/>
              </a:lnSpc>
              <a:buNone/>
            </a:pPr>
            <a:r>
              <a:rPr lang="en-US" sz="1600" b="1" dirty="0">
                <a:solidFill>
                  <a:srgbClr val="265834"/>
                </a:solidFill>
                <a:latin typeface="Fraunces ExtraBold" pitchFamily="34" charset="0"/>
                <a:ea typeface="Fraunces ExtraBold" pitchFamily="34" charset="-122"/>
                <a:cs typeface="Fraunces ExtraBold" pitchFamily="34" charset="-120"/>
              </a:rPr>
              <a:t>Data set</a:t>
            </a:r>
            <a:endParaRPr lang="en-US" sz="1600" b="1" dirty="0"/>
          </a:p>
        </p:txBody>
      </p:sp>
      <p:sp>
        <p:nvSpPr>
          <p:cNvPr id="6" name="Text 4"/>
          <p:cNvSpPr/>
          <p:nvPr/>
        </p:nvSpPr>
        <p:spPr>
          <a:xfrm>
            <a:off x="4474356" y="996454"/>
            <a:ext cx="1797303" cy="516930"/>
          </a:xfrm>
          <a:prstGeom prst="rect">
            <a:avLst/>
          </a:prstGeom>
          <a:noFill/>
          <a:ln/>
        </p:spPr>
        <p:txBody>
          <a:bodyPr wrap="square" lIns="0" tIns="0" rIns="0" bIns="0" rtlCol="0" anchor="t">
            <a:normAutofit/>
          </a:bodyPr>
          <a:lstStyle/>
          <a:p>
            <a:pPr marL="0" indent="0" algn="l">
              <a:lnSpc>
                <a:spcPct val="104000"/>
              </a:lnSpc>
              <a:buNone/>
            </a:pPr>
            <a:r>
              <a:rPr lang="en-US" sz="1600" b="1" dirty="0">
                <a:solidFill>
                  <a:srgbClr val="265834"/>
                </a:solidFill>
                <a:latin typeface="Fraunces ExtraBold" pitchFamily="34" charset="0"/>
                <a:ea typeface="Fraunces ExtraBold" pitchFamily="34" charset="-122"/>
                <a:cs typeface="Fraunces ExtraBold" pitchFamily="34" charset="-120"/>
              </a:rPr>
              <a:t>Techniques and Algorithms</a:t>
            </a:r>
            <a:endParaRPr lang="en-US" sz="1600" b="1" dirty="0"/>
          </a:p>
        </p:txBody>
      </p:sp>
      <p:sp>
        <p:nvSpPr>
          <p:cNvPr id="7" name="Text 5"/>
          <p:cNvSpPr/>
          <p:nvPr/>
        </p:nvSpPr>
        <p:spPr>
          <a:xfrm>
            <a:off x="6608597" y="996454"/>
            <a:ext cx="1873798" cy="258465"/>
          </a:xfrm>
          <a:prstGeom prst="rect">
            <a:avLst/>
          </a:prstGeom>
          <a:noFill/>
          <a:ln/>
        </p:spPr>
        <p:txBody>
          <a:bodyPr wrap="none" lIns="0" tIns="0" rIns="0" bIns="0" rtlCol="0" anchor="t"/>
          <a:lstStyle/>
          <a:p>
            <a:pPr marL="0" indent="0" algn="l">
              <a:lnSpc>
                <a:spcPct val="104000"/>
              </a:lnSpc>
              <a:buNone/>
            </a:pPr>
            <a:r>
              <a:rPr lang="en-US" sz="1600" b="1" dirty="0">
                <a:solidFill>
                  <a:srgbClr val="265834"/>
                </a:solidFill>
                <a:latin typeface="Fraunces ExtraBold" pitchFamily="34" charset="0"/>
                <a:ea typeface="Fraunces ExtraBold" pitchFamily="34" charset="-122"/>
                <a:cs typeface="Fraunces ExtraBold" pitchFamily="34" charset="-120"/>
              </a:rPr>
              <a:t>Accuracy</a:t>
            </a:r>
            <a:endParaRPr lang="en-US" sz="1600" b="1" dirty="0"/>
          </a:p>
        </p:txBody>
      </p:sp>
      <p:sp>
        <p:nvSpPr>
          <p:cNvPr id="8" name="Text 6"/>
          <p:cNvSpPr/>
          <p:nvPr/>
        </p:nvSpPr>
        <p:spPr>
          <a:xfrm>
            <a:off x="8209749" y="996454"/>
            <a:ext cx="2676954" cy="258465"/>
          </a:xfrm>
          <a:prstGeom prst="rect">
            <a:avLst/>
          </a:prstGeom>
          <a:noFill/>
          <a:ln/>
        </p:spPr>
        <p:txBody>
          <a:bodyPr wrap="none" lIns="0" tIns="0" rIns="0" bIns="0" rtlCol="0" anchor="t"/>
          <a:lstStyle/>
          <a:p>
            <a:pPr marL="0" indent="0" algn="l">
              <a:lnSpc>
                <a:spcPct val="104000"/>
              </a:lnSpc>
              <a:buNone/>
            </a:pPr>
            <a:r>
              <a:rPr lang="en-US" sz="1600" b="1" dirty="0">
                <a:solidFill>
                  <a:srgbClr val="296739"/>
                </a:solidFill>
                <a:latin typeface="Fraunces ExtraBold" pitchFamily="34" charset="0"/>
                <a:ea typeface="Fraunces ExtraBold" pitchFamily="34" charset="-122"/>
                <a:cs typeface="Fraunces ExtraBold" pitchFamily="34" charset="-120"/>
              </a:rPr>
              <a:t>Limitation</a:t>
            </a:r>
            <a:endParaRPr lang="en-US" sz="1600" b="1" dirty="0"/>
          </a:p>
        </p:txBody>
      </p:sp>
      <p:sp>
        <p:nvSpPr>
          <p:cNvPr id="9" name="Shape 7"/>
          <p:cNvSpPr/>
          <p:nvPr/>
        </p:nvSpPr>
        <p:spPr>
          <a:xfrm>
            <a:off x="667924" y="1589187"/>
            <a:ext cx="10855847" cy="1570633"/>
          </a:xfrm>
          <a:prstGeom prst="rect">
            <a:avLst/>
          </a:prstGeom>
          <a:solidFill>
            <a:srgbClr val="000000">
              <a:alpha val="4000"/>
            </a:srgbClr>
          </a:solidFill>
          <a:ln/>
        </p:spPr>
        <p:txBody>
          <a:bodyPr/>
          <a:lstStyle/>
          <a:p>
            <a:endParaRPr lang="en-US"/>
          </a:p>
        </p:txBody>
      </p:sp>
      <p:sp>
        <p:nvSpPr>
          <p:cNvPr id="10" name="Text 8"/>
          <p:cNvSpPr/>
          <p:nvPr/>
        </p:nvSpPr>
        <p:spPr>
          <a:xfrm>
            <a:off x="833417" y="1664990"/>
            <a:ext cx="1970931" cy="674787"/>
          </a:xfrm>
          <a:prstGeom prst="rect">
            <a:avLst/>
          </a:prstGeom>
          <a:noFill/>
          <a:ln/>
        </p:spPr>
        <p:txBody>
          <a:bodyPr wrap="square" lIns="0" tIns="0" rIns="0" bIns="0" rtlCol="0" anchor="t">
            <a:noAutofit/>
          </a:bodyPr>
          <a:lstStyle/>
          <a:p>
            <a:pPr marL="0" indent="0" algn="l">
              <a:lnSpc>
                <a:spcPct val="113000"/>
              </a:lnSpc>
              <a:buNone/>
            </a:pPr>
            <a:r>
              <a:rPr lang="en-US" sz="1400" dirty="0">
                <a:solidFill>
                  <a:srgbClr val="030303"/>
                </a:solidFill>
                <a:latin typeface="Aptos Display" panose="020B0004020202020204" pitchFamily="34" charset="0"/>
                <a:ea typeface="Instrument Sans" pitchFamily="34" charset="-122"/>
                <a:cs typeface="Instrument Sans" pitchFamily="34" charset="-120"/>
              </a:rPr>
              <a:t>Plant Leaf Disease Detection using MobileNetV2</a:t>
            </a:r>
            <a:r>
              <a:rPr lang="en-US" sz="1400" b="1" dirty="0">
                <a:solidFill>
                  <a:srgbClr val="030303"/>
                </a:solidFill>
                <a:latin typeface="Aptos Display" panose="020B0004020202020204" pitchFamily="34" charset="0"/>
                <a:ea typeface="Instrument Sans" pitchFamily="34" charset="-122"/>
                <a:cs typeface="Instrument Sans" pitchFamily="34" charset="-120"/>
              </a:rPr>
              <a:t>. </a:t>
            </a:r>
            <a:r>
              <a:rPr lang="en-US" sz="1400" dirty="0">
                <a:solidFill>
                  <a:srgbClr val="030303"/>
                </a:solidFill>
                <a:latin typeface="Aptos Display" panose="020B0004020202020204" pitchFamily="34" charset="0"/>
                <a:ea typeface="Instrument Sans" pitchFamily="34" charset="-122"/>
                <a:cs typeface="Instrument Sans" pitchFamily="34" charset="-120"/>
              </a:rPr>
              <a:t>(2025)</a:t>
            </a:r>
            <a:endParaRPr lang="en-US" sz="1400" dirty="0">
              <a:latin typeface="Aptos Display" panose="020B0004020202020204" pitchFamily="34" charset="0"/>
            </a:endParaRPr>
          </a:p>
        </p:txBody>
      </p:sp>
      <p:sp>
        <p:nvSpPr>
          <p:cNvPr id="11" name="Text 9"/>
          <p:cNvSpPr/>
          <p:nvPr/>
        </p:nvSpPr>
        <p:spPr>
          <a:xfrm>
            <a:off x="3141286" y="1664990"/>
            <a:ext cx="996131" cy="899716"/>
          </a:xfrm>
          <a:prstGeom prst="rect">
            <a:avLst/>
          </a:prstGeom>
          <a:noFill/>
          <a:ln/>
        </p:spPr>
        <p:txBody>
          <a:bodyPr wrap="square" lIns="0" tIns="0" rIns="0" bIns="0" rtlCol="0" anchor="t">
            <a:noAutofit/>
          </a:bodyPr>
          <a:lstStyle/>
          <a:p>
            <a:pPr marL="0" indent="0" algn="l">
              <a:lnSpc>
                <a:spcPct val="113000"/>
              </a:lnSpc>
              <a:buNone/>
            </a:pPr>
            <a:r>
              <a:rPr lang="en-US" sz="1400" dirty="0">
                <a:solidFill>
                  <a:srgbClr val="030303"/>
                </a:solidFill>
                <a:latin typeface="Aptos Display" panose="020B0004020202020204" pitchFamily="34" charset="0"/>
                <a:ea typeface="Instrument Sans" pitchFamily="34" charset="-122"/>
                <a:cs typeface="Instrument Sans" pitchFamily="34" charset="-120"/>
              </a:rPr>
              <a:t>PlantVillage (54,305 images, 38 classes)</a:t>
            </a:r>
            <a:endParaRPr lang="en-US" sz="1400" dirty="0">
              <a:latin typeface="Aptos Display" panose="020B0004020202020204" pitchFamily="34" charset="0"/>
            </a:endParaRPr>
          </a:p>
        </p:txBody>
      </p:sp>
      <p:sp>
        <p:nvSpPr>
          <p:cNvPr id="12" name="Text 10"/>
          <p:cNvSpPr/>
          <p:nvPr/>
        </p:nvSpPr>
        <p:spPr>
          <a:xfrm>
            <a:off x="4474356" y="1664990"/>
            <a:ext cx="1797303" cy="899716"/>
          </a:xfrm>
          <a:prstGeom prst="rect">
            <a:avLst/>
          </a:prstGeom>
          <a:noFill/>
          <a:ln/>
        </p:spPr>
        <p:txBody>
          <a:bodyPr wrap="square" lIns="0" tIns="0" rIns="0" bIns="0" rtlCol="0" anchor="t">
            <a:noAutofit/>
          </a:bodyPr>
          <a:lstStyle/>
          <a:p>
            <a:pPr marL="0" indent="0" algn="l">
              <a:lnSpc>
                <a:spcPct val="113000"/>
              </a:lnSpc>
              <a:buNone/>
            </a:pPr>
            <a:r>
              <a:rPr lang="en-US" sz="1400" dirty="0">
                <a:solidFill>
                  <a:srgbClr val="030303"/>
                </a:solidFill>
                <a:latin typeface="Aptos Display" panose="020B0004020202020204" pitchFamily="34" charset="0"/>
                <a:ea typeface="Instrument Sans" pitchFamily="34" charset="-122"/>
                <a:cs typeface="Instrument Sans" pitchFamily="34" charset="-120"/>
              </a:rPr>
              <a:t>MobileNetV2 (CNN), Transfer Learning, Adam Optimizer, Data Augmentation.</a:t>
            </a:r>
            <a:endParaRPr lang="en-US" sz="1400" dirty="0">
              <a:latin typeface="Aptos Display" panose="020B0004020202020204" pitchFamily="34" charset="0"/>
            </a:endParaRPr>
          </a:p>
        </p:txBody>
      </p:sp>
      <p:sp>
        <p:nvSpPr>
          <p:cNvPr id="13" name="Text 11"/>
          <p:cNvSpPr/>
          <p:nvPr/>
        </p:nvSpPr>
        <p:spPr>
          <a:xfrm>
            <a:off x="6608597" y="1664990"/>
            <a:ext cx="1264214" cy="674787"/>
          </a:xfrm>
          <a:prstGeom prst="rect">
            <a:avLst/>
          </a:prstGeom>
          <a:noFill/>
          <a:ln/>
        </p:spPr>
        <p:txBody>
          <a:bodyPr wrap="square" lIns="0" tIns="0" rIns="0" bIns="0" rtlCol="0" anchor="t">
            <a:noAutofit/>
          </a:bodyPr>
          <a:lstStyle/>
          <a:p>
            <a:pPr marL="0" indent="0" algn="l">
              <a:lnSpc>
                <a:spcPct val="113000"/>
              </a:lnSpc>
              <a:buNone/>
            </a:pPr>
            <a:r>
              <a:rPr lang="en-US" sz="1400" dirty="0">
                <a:solidFill>
                  <a:srgbClr val="030303"/>
                </a:solidFill>
                <a:latin typeface="Aptos Display" panose="020B0004020202020204" pitchFamily="34" charset="0"/>
                <a:ea typeface="Instrument Sans" pitchFamily="34" charset="-122"/>
                <a:cs typeface="Instrument Sans" pitchFamily="34" charset="-120"/>
              </a:rPr>
              <a:t>94.32% (Validation Accuracy)</a:t>
            </a:r>
            <a:endParaRPr lang="en-US" sz="1400" dirty="0">
              <a:latin typeface="Aptos Display" panose="020B0004020202020204" pitchFamily="34" charset="0"/>
            </a:endParaRPr>
          </a:p>
        </p:txBody>
      </p:sp>
      <p:sp>
        <p:nvSpPr>
          <p:cNvPr id="14" name="Text 12"/>
          <p:cNvSpPr/>
          <p:nvPr/>
        </p:nvSpPr>
        <p:spPr>
          <a:xfrm>
            <a:off x="8209749" y="1664990"/>
            <a:ext cx="3148727" cy="1419027"/>
          </a:xfrm>
          <a:prstGeom prst="rect">
            <a:avLst/>
          </a:prstGeom>
          <a:noFill/>
          <a:ln/>
        </p:spPr>
        <p:txBody>
          <a:bodyPr wrap="square" lIns="0" tIns="0" rIns="0" bIns="0" rtlCol="0" anchor="t">
            <a:normAutofit/>
          </a:bodyPr>
          <a:lstStyle/>
          <a:p>
            <a:pPr marL="0" indent="0" algn="l">
              <a:lnSpc>
                <a:spcPct val="113000"/>
              </a:lnSpc>
              <a:buNone/>
            </a:pPr>
            <a:r>
              <a:rPr lang="en-US" sz="1400" b="1" dirty="0">
                <a:solidFill>
                  <a:srgbClr val="030303"/>
                </a:solidFill>
                <a:latin typeface="Aptos Display" panose="020B0004020202020204" pitchFamily="34" charset="0"/>
                <a:ea typeface="Instrument Sans" pitchFamily="34" charset="-122"/>
                <a:cs typeface="Instrument Sans" pitchFamily="34" charset="-120"/>
              </a:rPr>
              <a:t>Class Imbalance Sensitivity:</a:t>
            </a:r>
            <a:r>
              <a:rPr lang="en-US" sz="1400" dirty="0">
                <a:solidFill>
                  <a:srgbClr val="030303"/>
                </a:solidFill>
                <a:latin typeface="Aptos Display" panose="020B0004020202020204" pitchFamily="34" charset="0"/>
                <a:ea typeface="Instrument Sans" pitchFamily="34" charset="-122"/>
                <a:cs typeface="Instrument Sans" pitchFamily="34" charset="-120"/>
              </a:rPr>
              <a:t> Performance drops significantly on uneven datasets (e.g., few diseased vs. many healthy images) compared to heavier models.</a:t>
            </a:r>
            <a:endParaRPr lang="en-US" sz="1400" dirty="0">
              <a:latin typeface="Aptos Display" panose="020B0004020202020204" pitchFamily="34" charset="0"/>
            </a:endParaRPr>
          </a:p>
          <a:p>
            <a:pPr marL="0" indent="0" algn="l">
              <a:lnSpc>
                <a:spcPct val="113000"/>
              </a:lnSpc>
              <a:buNone/>
            </a:pPr>
            <a:r>
              <a:rPr lang="en-US" sz="1400" b="1" dirty="0">
                <a:solidFill>
                  <a:srgbClr val="030303"/>
                </a:solidFill>
                <a:latin typeface="Aptos Display" panose="020B0004020202020204" pitchFamily="34" charset="0"/>
                <a:ea typeface="Instrument Sans" pitchFamily="34" charset="-122"/>
                <a:cs typeface="Instrument Sans" pitchFamily="34" charset="-120"/>
              </a:rPr>
              <a:t>Doesnt implement a Treatment plan.</a:t>
            </a:r>
            <a:endParaRPr lang="en-US" sz="1400" dirty="0">
              <a:latin typeface="Aptos Display" panose="020B0004020202020204" pitchFamily="34" charset="0"/>
            </a:endParaRPr>
          </a:p>
        </p:txBody>
      </p:sp>
      <p:sp>
        <p:nvSpPr>
          <p:cNvPr id="15" name="Shape 13"/>
          <p:cNvSpPr/>
          <p:nvPr/>
        </p:nvSpPr>
        <p:spPr>
          <a:xfrm>
            <a:off x="667924" y="3159820"/>
            <a:ext cx="10855847" cy="1051322"/>
          </a:xfrm>
          <a:prstGeom prst="rect">
            <a:avLst/>
          </a:prstGeom>
          <a:solidFill>
            <a:srgbClr val="FFFFFF">
              <a:alpha val="4000"/>
            </a:srgbClr>
          </a:solidFill>
          <a:ln/>
        </p:spPr>
        <p:txBody>
          <a:bodyPr/>
          <a:lstStyle/>
          <a:p>
            <a:endParaRPr lang="en-US" sz="2000">
              <a:latin typeface="Aptos Display" panose="020B0004020202020204" pitchFamily="34" charset="0"/>
            </a:endParaRPr>
          </a:p>
        </p:txBody>
      </p:sp>
      <p:sp>
        <p:nvSpPr>
          <p:cNvPr id="16" name="Text 14"/>
          <p:cNvSpPr/>
          <p:nvPr/>
        </p:nvSpPr>
        <p:spPr>
          <a:xfrm>
            <a:off x="833417" y="3235623"/>
            <a:ext cx="1970931" cy="899716"/>
          </a:xfrm>
          <a:prstGeom prst="rect">
            <a:avLst/>
          </a:prstGeom>
          <a:noFill/>
          <a:ln/>
        </p:spPr>
        <p:txBody>
          <a:bodyPr wrap="square" lIns="0" tIns="0" rIns="0" bIns="0" rtlCol="0" anchor="t">
            <a:noAutofit/>
          </a:bodyPr>
          <a:lstStyle/>
          <a:p>
            <a:pPr marL="0" indent="0" algn="l">
              <a:lnSpc>
                <a:spcPct val="113000"/>
              </a:lnSpc>
              <a:buNone/>
            </a:pPr>
            <a:r>
              <a:rPr lang="en-US" sz="1400" dirty="0">
                <a:solidFill>
                  <a:srgbClr val="030303"/>
                </a:solidFill>
                <a:latin typeface="Aptos Display" panose="020B0004020202020204" pitchFamily="34" charset="0"/>
                <a:ea typeface="Instrument Sans" pitchFamily="34" charset="-122"/>
                <a:cs typeface="Instrument Sans" pitchFamily="34" charset="-120"/>
              </a:rPr>
              <a:t>Attention-Fused Residual Lightweight MobileViT for Plant Leaf Disease Detection.(2025)</a:t>
            </a:r>
            <a:endParaRPr lang="en-US" sz="1400" dirty="0">
              <a:latin typeface="Aptos Display" panose="020B0004020202020204" pitchFamily="34" charset="0"/>
            </a:endParaRPr>
          </a:p>
        </p:txBody>
      </p:sp>
      <p:sp>
        <p:nvSpPr>
          <p:cNvPr id="17" name="Text 15"/>
          <p:cNvSpPr/>
          <p:nvPr/>
        </p:nvSpPr>
        <p:spPr>
          <a:xfrm>
            <a:off x="3141286" y="3235623"/>
            <a:ext cx="996131" cy="899716"/>
          </a:xfrm>
          <a:prstGeom prst="rect">
            <a:avLst/>
          </a:prstGeom>
          <a:noFill/>
          <a:ln/>
        </p:spPr>
        <p:txBody>
          <a:bodyPr wrap="square" lIns="0" tIns="0" rIns="0" bIns="0" rtlCol="0" anchor="t">
            <a:normAutofit/>
          </a:bodyPr>
          <a:lstStyle/>
          <a:p>
            <a:pPr marL="0" indent="0" algn="l">
              <a:lnSpc>
                <a:spcPct val="113000"/>
              </a:lnSpc>
              <a:buNone/>
            </a:pPr>
            <a:r>
              <a:rPr lang="en-US" sz="1400" dirty="0">
                <a:solidFill>
                  <a:srgbClr val="030303"/>
                </a:solidFill>
                <a:latin typeface="Aptos Display" panose="020B0004020202020204" pitchFamily="34" charset="0"/>
                <a:ea typeface="Instrument Sans" pitchFamily="34" charset="-122"/>
                <a:cs typeface="Instrument Sans" pitchFamily="34" charset="-120"/>
              </a:rPr>
              <a:t>Plant Disease /Pant Doc Dataset</a:t>
            </a:r>
            <a:endParaRPr lang="en-US" sz="1400" dirty="0">
              <a:latin typeface="Aptos Display" panose="020B0004020202020204" pitchFamily="34" charset="0"/>
            </a:endParaRPr>
          </a:p>
        </p:txBody>
      </p:sp>
      <p:sp>
        <p:nvSpPr>
          <p:cNvPr id="18" name="Text 16"/>
          <p:cNvSpPr/>
          <p:nvPr/>
        </p:nvSpPr>
        <p:spPr>
          <a:xfrm>
            <a:off x="4474356" y="3235623"/>
            <a:ext cx="1797303" cy="899716"/>
          </a:xfrm>
          <a:prstGeom prst="rect">
            <a:avLst/>
          </a:prstGeom>
          <a:noFill/>
          <a:ln/>
        </p:spPr>
        <p:txBody>
          <a:bodyPr wrap="square" lIns="0" tIns="0" rIns="0" bIns="0" rtlCol="0" anchor="t">
            <a:noAutofit/>
          </a:bodyPr>
          <a:lstStyle/>
          <a:p>
            <a:pPr marL="0" indent="0" algn="l">
              <a:lnSpc>
                <a:spcPct val="113000"/>
              </a:lnSpc>
              <a:buNone/>
            </a:pPr>
            <a:r>
              <a:rPr lang="en-US" sz="1400" dirty="0">
                <a:solidFill>
                  <a:srgbClr val="030303"/>
                </a:solidFill>
                <a:latin typeface="Aptos Display" panose="020B0004020202020204" pitchFamily="34" charset="0"/>
                <a:ea typeface="Instrument Sans" pitchFamily="34" charset="-122"/>
                <a:cs typeface="Instrument Sans" pitchFamily="34" charset="-120"/>
              </a:rPr>
              <a:t>RTR-Lite-MobileViT (Hybrid CNN + ViT), Attention Fusion (SE, ECA, Triplet Attention).</a:t>
            </a:r>
            <a:endParaRPr lang="en-US" sz="1400" dirty="0">
              <a:latin typeface="Aptos Display" panose="020B0004020202020204" pitchFamily="34" charset="0"/>
            </a:endParaRPr>
          </a:p>
        </p:txBody>
      </p:sp>
      <p:sp>
        <p:nvSpPr>
          <p:cNvPr id="19" name="Text 17"/>
          <p:cNvSpPr/>
          <p:nvPr/>
        </p:nvSpPr>
        <p:spPr>
          <a:xfrm>
            <a:off x="6608597" y="3235623"/>
            <a:ext cx="1873798" cy="224929"/>
          </a:xfrm>
          <a:prstGeom prst="rect">
            <a:avLst/>
          </a:prstGeom>
          <a:noFill/>
          <a:ln/>
        </p:spPr>
        <p:txBody>
          <a:bodyPr wrap="none" lIns="0" tIns="0" rIns="0" bIns="0" rtlCol="0" anchor="t"/>
          <a:lstStyle/>
          <a:p>
            <a:pPr marL="0" indent="0" algn="l">
              <a:lnSpc>
                <a:spcPct val="113000"/>
              </a:lnSpc>
              <a:buNone/>
            </a:pPr>
            <a:r>
              <a:rPr lang="en-US" sz="1400" dirty="0">
                <a:solidFill>
                  <a:srgbClr val="030303"/>
                </a:solidFill>
                <a:latin typeface="Aptos Display" panose="020B0004020202020204" pitchFamily="34" charset="0"/>
                <a:ea typeface="Instrument Sans" pitchFamily="34" charset="-122"/>
                <a:cs typeface="Instrument Sans" pitchFamily="34" charset="-120"/>
              </a:rPr>
              <a:t>99.92%</a:t>
            </a:r>
            <a:endParaRPr lang="en-US" sz="1400" dirty="0">
              <a:latin typeface="Aptos Display" panose="020B0004020202020204" pitchFamily="34" charset="0"/>
            </a:endParaRPr>
          </a:p>
        </p:txBody>
      </p:sp>
      <p:sp>
        <p:nvSpPr>
          <p:cNvPr id="20" name="Text 18"/>
          <p:cNvSpPr/>
          <p:nvPr/>
        </p:nvSpPr>
        <p:spPr>
          <a:xfrm>
            <a:off x="8209749" y="3235623"/>
            <a:ext cx="3148727" cy="899716"/>
          </a:xfrm>
          <a:prstGeom prst="rect">
            <a:avLst/>
          </a:prstGeom>
          <a:noFill/>
          <a:ln/>
        </p:spPr>
        <p:txBody>
          <a:bodyPr wrap="square" lIns="0" tIns="0" rIns="0" bIns="0" rtlCol="0" anchor="t">
            <a:noAutofit/>
          </a:bodyPr>
          <a:lstStyle/>
          <a:p>
            <a:pPr marL="0" indent="0" algn="l">
              <a:lnSpc>
                <a:spcPct val="113000"/>
              </a:lnSpc>
              <a:buNone/>
            </a:pPr>
            <a:r>
              <a:rPr lang="en-US" sz="1400" b="1" dirty="0">
                <a:solidFill>
                  <a:srgbClr val="030303"/>
                </a:solidFill>
                <a:latin typeface="Aptos Display" panose="020B0004020202020204" pitchFamily="34" charset="0"/>
                <a:ea typeface="Instrument Sans" pitchFamily="34" charset="-122"/>
                <a:cs typeface="Instrument Sans" pitchFamily="34" charset="-120"/>
              </a:rPr>
              <a:t>Performance Limitation:</a:t>
            </a:r>
            <a:r>
              <a:rPr lang="en-US" sz="1400" dirty="0">
                <a:solidFill>
                  <a:srgbClr val="030303"/>
                </a:solidFill>
                <a:latin typeface="Aptos Display" panose="020B0004020202020204" pitchFamily="34" charset="0"/>
                <a:ea typeface="Instrument Sans" pitchFamily="34" charset="-122"/>
                <a:cs typeface="Instrument Sans" pitchFamily="34" charset="-120"/>
              </a:rPr>
              <a:t> The model struggles with detecting subtle symptoms and differentiating between visually similar disease categories</a:t>
            </a:r>
            <a:endParaRPr lang="en-US" sz="1400" dirty="0">
              <a:latin typeface="Aptos Display" panose="020B0004020202020204" pitchFamily="34" charset="0"/>
            </a:endParaRPr>
          </a:p>
        </p:txBody>
      </p:sp>
      <p:sp>
        <p:nvSpPr>
          <p:cNvPr id="21" name="Shape 19"/>
          <p:cNvSpPr/>
          <p:nvPr/>
        </p:nvSpPr>
        <p:spPr>
          <a:xfrm>
            <a:off x="667924" y="4211141"/>
            <a:ext cx="10855847" cy="1726109"/>
          </a:xfrm>
          <a:prstGeom prst="rect">
            <a:avLst/>
          </a:prstGeom>
          <a:solidFill>
            <a:srgbClr val="000000">
              <a:alpha val="4000"/>
            </a:srgbClr>
          </a:solidFill>
          <a:ln/>
        </p:spPr>
        <p:txBody>
          <a:bodyPr/>
          <a:lstStyle/>
          <a:p>
            <a:endParaRPr lang="en-US"/>
          </a:p>
        </p:txBody>
      </p:sp>
      <p:sp>
        <p:nvSpPr>
          <p:cNvPr id="22" name="Text 20"/>
          <p:cNvSpPr/>
          <p:nvPr/>
        </p:nvSpPr>
        <p:spPr>
          <a:xfrm>
            <a:off x="833417" y="4388244"/>
            <a:ext cx="1970931" cy="1574502"/>
          </a:xfrm>
          <a:prstGeom prst="rect">
            <a:avLst/>
          </a:prstGeom>
          <a:noFill/>
          <a:ln/>
        </p:spPr>
        <p:txBody>
          <a:bodyPr wrap="square" lIns="0" tIns="0" rIns="0" bIns="0" rtlCol="0" anchor="t">
            <a:normAutofit lnSpcReduction="10000"/>
          </a:bodyPr>
          <a:lstStyle/>
          <a:p>
            <a:pPr marL="0" indent="0" algn="l">
              <a:lnSpc>
                <a:spcPct val="113000"/>
              </a:lnSpc>
              <a:buNone/>
            </a:pPr>
            <a:r>
              <a:rPr lang="en-US" sz="1400" dirty="0">
                <a:solidFill>
                  <a:srgbClr val="030303"/>
                </a:solidFill>
                <a:latin typeface="Aptos Display" panose="020B0004020202020204" pitchFamily="34" charset="0"/>
                <a:ea typeface="Instrument Sans" pitchFamily="34" charset="-122"/>
                <a:cs typeface="Instrument Sans" pitchFamily="34" charset="-120"/>
              </a:rPr>
              <a:t>AgroAId: A Mobile App System for Visual Classification of Plant Species and Diseases Using Deep Learning and TensorFlow Lite .(July 2022)</a:t>
            </a:r>
            <a:endParaRPr lang="en-US" sz="1400" dirty="0">
              <a:latin typeface="Aptos Display" panose="020B0004020202020204" pitchFamily="34" charset="0"/>
            </a:endParaRPr>
          </a:p>
        </p:txBody>
      </p:sp>
      <p:sp>
        <p:nvSpPr>
          <p:cNvPr id="23" name="Text 21"/>
          <p:cNvSpPr/>
          <p:nvPr/>
        </p:nvSpPr>
        <p:spPr>
          <a:xfrm>
            <a:off x="3141286" y="4413740"/>
            <a:ext cx="996131" cy="899716"/>
          </a:xfrm>
          <a:prstGeom prst="rect">
            <a:avLst/>
          </a:prstGeom>
          <a:noFill/>
          <a:ln/>
        </p:spPr>
        <p:txBody>
          <a:bodyPr wrap="square" lIns="0" tIns="0" rIns="0" bIns="0" rtlCol="0" anchor="t">
            <a:normAutofit/>
          </a:bodyPr>
          <a:lstStyle/>
          <a:p>
            <a:pPr marL="0" indent="0" algn="l">
              <a:lnSpc>
                <a:spcPct val="113000"/>
              </a:lnSpc>
              <a:buNone/>
            </a:pPr>
            <a:r>
              <a:rPr lang="en-US" sz="1400" dirty="0">
                <a:solidFill>
                  <a:srgbClr val="030303"/>
                </a:solidFill>
                <a:latin typeface="Aptos Display" panose="020B0004020202020204" pitchFamily="34" charset="0"/>
                <a:ea typeface="Instrument Sans" pitchFamily="34" charset="-122"/>
                <a:cs typeface="Instrument Sans" pitchFamily="34" charset="-120"/>
              </a:rPr>
              <a:t>PlantVillage (Augmented, ~61k images)</a:t>
            </a:r>
            <a:endParaRPr lang="en-US" sz="1400" dirty="0">
              <a:latin typeface="Aptos Display" panose="020B0004020202020204" pitchFamily="34" charset="0"/>
            </a:endParaRPr>
          </a:p>
        </p:txBody>
      </p:sp>
      <p:sp>
        <p:nvSpPr>
          <p:cNvPr id="24" name="Text 22"/>
          <p:cNvSpPr/>
          <p:nvPr/>
        </p:nvSpPr>
        <p:spPr>
          <a:xfrm>
            <a:off x="4474356" y="4413740"/>
            <a:ext cx="1797303" cy="1124645"/>
          </a:xfrm>
          <a:prstGeom prst="rect">
            <a:avLst/>
          </a:prstGeom>
          <a:noFill/>
          <a:ln/>
        </p:spPr>
        <p:txBody>
          <a:bodyPr wrap="square" lIns="0" tIns="0" rIns="0" bIns="0" rtlCol="0" anchor="t">
            <a:normAutofit/>
          </a:bodyPr>
          <a:lstStyle/>
          <a:p>
            <a:pPr marL="0" indent="0" algn="l">
              <a:lnSpc>
                <a:spcPct val="113000"/>
              </a:lnSpc>
              <a:buNone/>
            </a:pPr>
            <a:r>
              <a:rPr lang="en-US" sz="1400" dirty="0">
                <a:solidFill>
                  <a:srgbClr val="030303"/>
                </a:solidFill>
                <a:latin typeface="Aptos Display" panose="020B0004020202020204" pitchFamily="34" charset="0"/>
                <a:ea typeface="Instrument Sans" pitchFamily="34" charset="-122"/>
                <a:cs typeface="Instrument Sans" pitchFamily="34" charset="-120"/>
              </a:rPr>
              <a:t>EfficientNetB0 (Best Model), MobileNet, NasNetMobile, TensorFlow Lite (TFLite).</a:t>
            </a:r>
            <a:endParaRPr lang="en-US" sz="1400" dirty="0">
              <a:latin typeface="Aptos Display" panose="020B0004020202020204" pitchFamily="34" charset="0"/>
            </a:endParaRPr>
          </a:p>
        </p:txBody>
      </p:sp>
      <p:sp>
        <p:nvSpPr>
          <p:cNvPr id="25" name="Text 23"/>
          <p:cNvSpPr/>
          <p:nvPr/>
        </p:nvSpPr>
        <p:spPr>
          <a:xfrm>
            <a:off x="6608597" y="4413740"/>
            <a:ext cx="1264214" cy="449858"/>
          </a:xfrm>
          <a:prstGeom prst="rect">
            <a:avLst/>
          </a:prstGeom>
          <a:noFill/>
          <a:ln/>
        </p:spPr>
        <p:txBody>
          <a:bodyPr wrap="square" lIns="0" tIns="0" rIns="0" bIns="0" rtlCol="0" anchor="t">
            <a:noAutofit/>
          </a:bodyPr>
          <a:lstStyle/>
          <a:p>
            <a:pPr marL="0" indent="0" algn="l">
              <a:lnSpc>
                <a:spcPct val="113000"/>
              </a:lnSpc>
              <a:buNone/>
            </a:pPr>
            <a:r>
              <a:rPr lang="en-US" sz="1400" dirty="0">
                <a:solidFill>
                  <a:srgbClr val="030303"/>
                </a:solidFill>
                <a:latin typeface="Aptos Display" panose="020B0004020202020204" pitchFamily="34" charset="0"/>
                <a:ea typeface="Instrument Sans" pitchFamily="34" charset="-122"/>
                <a:cs typeface="Instrument Sans" pitchFamily="34" charset="-120"/>
              </a:rPr>
              <a:t>~99% (EfficientNetB0)</a:t>
            </a:r>
            <a:endParaRPr lang="en-US" sz="1400" dirty="0">
              <a:latin typeface="Aptos Display" panose="020B0004020202020204" pitchFamily="34" charset="0"/>
            </a:endParaRPr>
          </a:p>
        </p:txBody>
      </p:sp>
      <p:sp>
        <p:nvSpPr>
          <p:cNvPr id="26" name="Text 24"/>
          <p:cNvSpPr/>
          <p:nvPr/>
        </p:nvSpPr>
        <p:spPr>
          <a:xfrm>
            <a:off x="8209749" y="4379234"/>
            <a:ext cx="3148727" cy="1124645"/>
          </a:xfrm>
          <a:prstGeom prst="rect">
            <a:avLst/>
          </a:prstGeom>
          <a:noFill/>
          <a:ln/>
        </p:spPr>
        <p:txBody>
          <a:bodyPr wrap="square" lIns="0" tIns="0" rIns="0" bIns="0" rtlCol="0" anchor="t">
            <a:noAutofit/>
          </a:bodyPr>
          <a:lstStyle/>
          <a:p>
            <a:pPr marL="0" indent="0" algn="l">
              <a:lnSpc>
                <a:spcPct val="113000"/>
              </a:lnSpc>
              <a:buNone/>
            </a:pPr>
            <a:r>
              <a:rPr lang="en-US" sz="1400" b="1" dirty="0">
                <a:solidFill>
                  <a:srgbClr val="030303"/>
                </a:solidFill>
                <a:latin typeface="Aptos Display" panose="020B0004020202020204" pitchFamily="34" charset="0"/>
                <a:ea typeface="Instrument Sans" pitchFamily="34" charset="-122"/>
                <a:cs typeface="Instrument Sans" pitchFamily="34" charset="-120"/>
              </a:rPr>
              <a:t>Fixed Taxonomy:</a:t>
            </a:r>
            <a:r>
              <a:rPr lang="en-US" sz="1400" dirty="0">
                <a:solidFill>
                  <a:srgbClr val="030303"/>
                </a:solidFill>
                <a:latin typeface="Aptos Display" panose="020B0004020202020204" pitchFamily="34" charset="0"/>
                <a:ea typeface="Instrument Sans" pitchFamily="34" charset="-122"/>
                <a:cs typeface="Instrument Sans" pitchFamily="34" charset="-120"/>
              </a:rPr>
              <a:t> The system is limited to the specific 39 [species-disease] classes it was trained on. It cannot identify unknown diseases or crops outside this set (the "Open World" problem).</a:t>
            </a:r>
            <a:endParaRPr lang="en-US" sz="1400" dirty="0">
              <a:latin typeface="Aptos Display" panose="020B00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gradFill>
          <a:gsLst>
            <a:gs pos="16000">
              <a:srgbClr val="146A18"/>
            </a:gs>
            <a:gs pos="47000">
              <a:srgbClr val="0B9912">
                <a:alpha val="95000"/>
                <a:lumMod val="100000"/>
              </a:srgbClr>
            </a:gs>
            <a:gs pos="100000">
              <a:srgbClr val="146A18"/>
            </a:gs>
          </a:gsLst>
          <a:lin ang="13500000" scaled="1"/>
        </a:gradFill>
        <a:effectLst/>
      </p:bgPr>
    </p:bg>
    <p:spTree>
      <p:nvGrpSpPr>
        <p:cNvPr id="1" name=""/>
        <p:cNvGrpSpPr/>
        <p:nvPr/>
      </p:nvGrpSpPr>
      <p:grpSpPr>
        <a:xfrm>
          <a:off x="0" y="0"/>
          <a:ext cx="0" cy="0"/>
          <a:chOff x="0" y="0"/>
          <a:chExt cx="0" cy="0"/>
        </a:xfrm>
      </p:grpSpPr>
      <p:sp>
        <p:nvSpPr>
          <p:cNvPr id="2" name="Text 0"/>
          <p:cNvSpPr/>
          <p:nvPr/>
        </p:nvSpPr>
        <p:spPr>
          <a:xfrm>
            <a:off x="1715350" y="2919512"/>
            <a:ext cx="8760995" cy="1018977"/>
          </a:xfrm>
          <a:prstGeom prst="rect">
            <a:avLst/>
          </a:prstGeom>
          <a:noFill/>
          <a:ln/>
        </p:spPr>
        <p:txBody>
          <a:bodyPr wrap="none" lIns="0" tIns="0" rIns="0" bIns="0" rtlCol="0" anchor="t"/>
          <a:lstStyle/>
          <a:p>
            <a:pPr marL="0" indent="0" algn="ctr">
              <a:lnSpc>
                <a:spcPct val="104000"/>
              </a:lnSpc>
              <a:buNone/>
            </a:pPr>
            <a:r>
              <a:rPr lang="en-US" sz="6400" b="1" dirty="0">
                <a:solidFill>
                  <a:srgbClr val="FFFFFF"/>
                </a:solidFill>
                <a:latin typeface="Fraunces ExtraBold" pitchFamily="34" charset="0"/>
                <a:ea typeface="Fraunces ExtraBold" pitchFamily="34" charset="-122"/>
                <a:cs typeface="Fraunces ExtraBold" pitchFamily="34" charset="-120"/>
              </a:rPr>
              <a:t>03.Objectives</a:t>
            </a:r>
            <a:endParaRPr lang="en-US" sz="64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916262" y="660301"/>
            <a:ext cx="2805241" cy="274439"/>
          </a:xfrm>
          <a:prstGeom prst="rect">
            <a:avLst/>
          </a:prstGeom>
          <a:noFill/>
          <a:ln/>
        </p:spPr>
        <p:txBody>
          <a:bodyPr wrap="none" lIns="0" tIns="0" rIns="0" bIns="0" rtlCol="0" anchor="t"/>
          <a:lstStyle/>
          <a:p>
            <a:pPr marL="0" indent="0" algn="l">
              <a:lnSpc>
                <a:spcPct val="104000"/>
              </a:lnSpc>
              <a:buNone/>
            </a:pPr>
            <a:r>
              <a:rPr lang="en-US" sz="2800" dirty="0">
                <a:solidFill>
                  <a:srgbClr val="265834"/>
                </a:solidFill>
                <a:latin typeface="Fraunces ExtraBold" pitchFamily="34" charset="0"/>
                <a:ea typeface="Fraunces ExtraBold" pitchFamily="34" charset="-122"/>
                <a:cs typeface="Fraunces ExtraBold" pitchFamily="34" charset="-120"/>
              </a:rPr>
              <a:t>Main Objective:</a:t>
            </a:r>
            <a:endParaRPr lang="en-US" sz="2800" dirty="0"/>
          </a:p>
        </p:txBody>
      </p:sp>
      <p:sp>
        <p:nvSpPr>
          <p:cNvPr id="3" name="Text 1"/>
          <p:cNvSpPr/>
          <p:nvPr/>
        </p:nvSpPr>
        <p:spPr>
          <a:xfrm>
            <a:off x="916262" y="1248238"/>
            <a:ext cx="10359071" cy="711101"/>
          </a:xfrm>
          <a:prstGeom prst="rect">
            <a:avLst/>
          </a:prstGeom>
          <a:noFill/>
          <a:ln/>
        </p:spPr>
        <p:txBody>
          <a:bodyPr wrap="square" lIns="0" tIns="0" rIns="0" bIns="0" rtlCol="0" anchor="t">
            <a:noAutofit/>
          </a:bodyPr>
          <a:lstStyle/>
          <a:p>
            <a:pPr marL="0" indent="0" algn="l">
              <a:lnSpc>
                <a:spcPct val="108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To develop a comprehensive plant care and diagnostic application that serves as an advanced learning tool to accurately classify leaf conditions into five main categories: Fungal, Bacterial, Viral, Pests, or Healthy and to give users tips on how to care for their plant </a:t>
            </a:r>
            <a:endParaRPr lang="en-US" dirty="0">
              <a:latin typeface="Aptos Display" panose="020B0004020202020204" pitchFamily="34" charset="0"/>
            </a:endParaRPr>
          </a:p>
        </p:txBody>
      </p:sp>
      <p:sp>
        <p:nvSpPr>
          <p:cNvPr id="4" name="Text 2"/>
          <p:cNvSpPr/>
          <p:nvPr/>
        </p:nvSpPr>
        <p:spPr>
          <a:xfrm>
            <a:off x="916262" y="2237679"/>
            <a:ext cx="2805241" cy="274439"/>
          </a:xfrm>
          <a:prstGeom prst="rect">
            <a:avLst/>
          </a:prstGeom>
          <a:noFill/>
          <a:ln/>
        </p:spPr>
        <p:txBody>
          <a:bodyPr wrap="none" lIns="0" tIns="0" rIns="0" bIns="0" rtlCol="0" anchor="t"/>
          <a:lstStyle/>
          <a:p>
            <a:pPr marL="0" indent="0" algn="l">
              <a:lnSpc>
                <a:spcPct val="104000"/>
              </a:lnSpc>
              <a:buNone/>
            </a:pPr>
            <a:r>
              <a:rPr lang="en-US" sz="2800" dirty="0">
                <a:solidFill>
                  <a:srgbClr val="265834"/>
                </a:solidFill>
                <a:latin typeface="Fraunces ExtraBold" pitchFamily="34" charset="0"/>
                <a:ea typeface="Fraunces ExtraBold" pitchFamily="34" charset="-122"/>
                <a:cs typeface="Fraunces ExtraBold" pitchFamily="34" charset="-120"/>
              </a:rPr>
              <a:t>Specific Objectives:</a:t>
            </a:r>
            <a:endParaRPr lang="en-US" sz="2800" dirty="0"/>
          </a:p>
        </p:txBody>
      </p:sp>
      <p:pic>
        <p:nvPicPr>
          <p:cNvPr id="5" name="Image 0" descr="preencoded.png"/>
          <p:cNvPicPr>
            <a:picLocks noChangeAspect="1"/>
          </p:cNvPicPr>
          <p:nvPr/>
        </p:nvPicPr>
        <p:blipFill>
          <a:blip r:embed="rId3"/>
          <a:stretch>
            <a:fillRect/>
          </a:stretch>
        </p:blipFill>
        <p:spPr>
          <a:xfrm>
            <a:off x="2729140" y="2320202"/>
            <a:ext cx="6733314" cy="3823892"/>
          </a:xfrm>
          <a:prstGeom prst="rect">
            <a:avLst/>
          </a:prstGeom>
        </p:spPr>
      </p:pic>
      <p:sp>
        <p:nvSpPr>
          <p:cNvPr id="6" name="Text 3"/>
          <p:cNvSpPr/>
          <p:nvPr/>
        </p:nvSpPr>
        <p:spPr>
          <a:xfrm>
            <a:off x="2942219" y="5176465"/>
            <a:ext cx="1504852" cy="188111"/>
          </a:xfrm>
          <a:prstGeom prst="rect">
            <a:avLst/>
          </a:prstGeom>
          <a:noFill/>
          <a:ln/>
        </p:spPr>
        <p:txBody>
          <a:bodyPr wrap="none" lIns="0" tIns="0" rIns="0" bIns="0" rtlCol="0" anchor="t"/>
          <a:lstStyle/>
          <a:p>
            <a:pPr marL="0" indent="0" algn="ctr">
              <a:lnSpc>
                <a:spcPct val="104000"/>
              </a:lnSpc>
              <a:buNone/>
            </a:pPr>
            <a:r>
              <a:rPr lang="en-US" sz="1600" dirty="0">
                <a:solidFill>
                  <a:srgbClr val="030303"/>
                </a:solidFill>
                <a:latin typeface="Fraunces ExtraBold" pitchFamily="34" charset="0"/>
                <a:ea typeface="Fraunces ExtraBold" pitchFamily="34" charset="-122"/>
                <a:cs typeface="Fraunces ExtraBold" pitchFamily="34" charset="-120"/>
              </a:rPr>
              <a:t>Data Preparation</a:t>
            </a:r>
            <a:endParaRPr lang="en-US" sz="1600" dirty="0"/>
          </a:p>
        </p:txBody>
      </p:sp>
      <p:sp>
        <p:nvSpPr>
          <p:cNvPr id="7" name="Text 4"/>
          <p:cNvSpPr/>
          <p:nvPr/>
        </p:nvSpPr>
        <p:spPr>
          <a:xfrm>
            <a:off x="2888713" y="5542029"/>
            <a:ext cx="1611864" cy="243708"/>
          </a:xfrm>
          <a:prstGeom prst="rect">
            <a:avLst/>
          </a:prstGeom>
          <a:noFill/>
          <a:ln/>
        </p:spPr>
        <p:txBody>
          <a:bodyPr wrap="square" lIns="0" tIns="0" rIns="0" bIns="0" rtlCol="0" anchor="t">
            <a:noAutofit/>
          </a:bodyPr>
          <a:lstStyle/>
          <a:p>
            <a:pPr marL="0" indent="0" algn="ctr">
              <a:lnSpc>
                <a:spcPct val="84000"/>
              </a:lnSpc>
              <a:buNone/>
            </a:pPr>
            <a:r>
              <a:rPr lang="en-US" sz="1500" dirty="0">
                <a:solidFill>
                  <a:srgbClr val="030303"/>
                </a:solidFill>
                <a:latin typeface="Aptos Display" panose="020B0004020202020204" pitchFamily="34" charset="0"/>
                <a:ea typeface="Instrument Sans" pitchFamily="34" charset="-122"/>
                <a:cs typeface="Instrument Sans" pitchFamily="34" charset="-120"/>
              </a:rPr>
              <a:t>Train on general disease signs</a:t>
            </a:r>
            <a:endParaRPr lang="en-US" sz="1500" dirty="0">
              <a:latin typeface="Aptos Display" panose="020B0004020202020204" pitchFamily="34" charset="0"/>
            </a:endParaRPr>
          </a:p>
        </p:txBody>
      </p:sp>
      <p:sp>
        <p:nvSpPr>
          <p:cNvPr id="8" name="Text 5"/>
          <p:cNvSpPr/>
          <p:nvPr/>
        </p:nvSpPr>
        <p:spPr>
          <a:xfrm>
            <a:off x="4139468" y="2743945"/>
            <a:ext cx="1518333" cy="188111"/>
          </a:xfrm>
          <a:prstGeom prst="rect">
            <a:avLst/>
          </a:prstGeom>
          <a:noFill/>
          <a:ln/>
        </p:spPr>
        <p:txBody>
          <a:bodyPr wrap="none" lIns="0" tIns="0" rIns="0" bIns="0" rtlCol="0" anchor="t"/>
          <a:lstStyle/>
          <a:p>
            <a:pPr marL="0" indent="0" algn="ctr">
              <a:lnSpc>
                <a:spcPct val="104000"/>
              </a:lnSpc>
              <a:buNone/>
            </a:pPr>
            <a:r>
              <a:rPr lang="en-US" sz="1600" dirty="0">
                <a:solidFill>
                  <a:srgbClr val="030303"/>
                </a:solidFill>
                <a:latin typeface="Fraunces ExtraBold" pitchFamily="34" charset="0"/>
                <a:ea typeface="Fraunces ExtraBold" pitchFamily="34" charset="-122"/>
                <a:cs typeface="Fraunces ExtraBold" pitchFamily="34" charset="-120"/>
              </a:rPr>
              <a:t>Model Development</a:t>
            </a:r>
            <a:endParaRPr lang="en-US" sz="1600" dirty="0"/>
          </a:p>
        </p:txBody>
      </p:sp>
      <p:sp>
        <p:nvSpPr>
          <p:cNvPr id="9" name="Text 6"/>
          <p:cNvSpPr/>
          <p:nvPr/>
        </p:nvSpPr>
        <p:spPr>
          <a:xfrm>
            <a:off x="4099283" y="3041927"/>
            <a:ext cx="1611864" cy="243708"/>
          </a:xfrm>
          <a:prstGeom prst="rect">
            <a:avLst/>
          </a:prstGeom>
          <a:noFill/>
          <a:ln/>
        </p:spPr>
        <p:txBody>
          <a:bodyPr wrap="square" lIns="0" tIns="0" rIns="0" bIns="0" rtlCol="0" anchor="t">
            <a:noAutofit/>
          </a:bodyPr>
          <a:lstStyle/>
          <a:p>
            <a:pPr marL="0" indent="0" algn="ctr">
              <a:lnSpc>
                <a:spcPct val="84000"/>
              </a:lnSpc>
              <a:buNone/>
            </a:pPr>
            <a:r>
              <a:rPr lang="en-US" sz="1500" dirty="0">
                <a:solidFill>
                  <a:srgbClr val="030303"/>
                </a:solidFill>
                <a:latin typeface="Aptos Display" panose="020B0004020202020204" pitchFamily="34" charset="0"/>
                <a:ea typeface="Instrument Sans" pitchFamily="34" charset="-122"/>
                <a:cs typeface="Instrument Sans" pitchFamily="34" charset="-120"/>
              </a:rPr>
              <a:t>Balance accuracy and inference speed</a:t>
            </a:r>
            <a:endParaRPr lang="en-US" sz="1500" dirty="0">
              <a:latin typeface="Aptos Display" panose="020B0004020202020204" pitchFamily="34" charset="0"/>
            </a:endParaRPr>
          </a:p>
        </p:txBody>
      </p:sp>
      <p:sp>
        <p:nvSpPr>
          <p:cNvPr id="10" name="Text 7"/>
          <p:cNvSpPr/>
          <p:nvPr/>
        </p:nvSpPr>
        <p:spPr>
          <a:xfrm>
            <a:off x="5307344" y="5171699"/>
            <a:ext cx="1563374" cy="188111"/>
          </a:xfrm>
          <a:prstGeom prst="rect">
            <a:avLst/>
          </a:prstGeom>
          <a:noFill/>
          <a:ln/>
        </p:spPr>
        <p:txBody>
          <a:bodyPr wrap="none" lIns="0" tIns="0" rIns="0" bIns="0" rtlCol="0" anchor="t"/>
          <a:lstStyle/>
          <a:p>
            <a:pPr marL="0" indent="0" algn="ctr">
              <a:lnSpc>
                <a:spcPct val="104000"/>
              </a:lnSpc>
              <a:buNone/>
            </a:pPr>
            <a:r>
              <a:rPr lang="en-US" sz="1600" dirty="0">
                <a:solidFill>
                  <a:srgbClr val="030303"/>
                </a:solidFill>
                <a:latin typeface="Fraunces ExtraBold" pitchFamily="34" charset="0"/>
                <a:ea typeface="Fraunces ExtraBold" pitchFamily="34" charset="-122"/>
                <a:cs typeface="Fraunces ExtraBold" pitchFamily="34" charset="-120"/>
              </a:rPr>
              <a:t>Mobile Optimization</a:t>
            </a:r>
            <a:endParaRPr lang="en-US" sz="1600" dirty="0"/>
          </a:p>
        </p:txBody>
      </p:sp>
      <p:sp>
        <p:nvSpPr>
          <p:cNvPr id="11" name="Text 8"/>
          <p:cNvSpPr/>
          <p:nvPr/>
        </p:nvSpPr>
        <p:spPr>
          <a:xfrm>
            <a:off x="5283099" y="5542028"/>
            <a:ext cx="1611864" cy="243708"/>
          </a:xfrm>
          <a:prstGeom prst="rect">
            <a:avLst/>
          </a:prstGeom>
          <a:noFill/>
          <a:ln/>
        </p:spPr>
        <p:txBody>
          <a:bodyPr wrap="square" lIns="0" tIns="0" rIns="0" bIns="0" rtlCol="0" anchor="t">
            <a:noAutofit/>
          </a:bodyPr>
          <a:lstStyle/>
          <a:p>
            <a:pPr marL="0" indent="0" algn="ctr">
              <a:lnSpc>
                <a:spcPct val="84000"/>
              </a:lnSpc>
              <a:buNone/>
            </a:pPr>
            <a:r>
              <a:rPr lang="en-US" sz="1500" dirty="0">
                <a:solidFill>
                  <a:srgbClr val="030303"/>
                </a:solidFill>
                <a:latin typeface="Aptos Display" panose="020B0004020202020204" pitchFamily="34" charset="0"/>
                <a:ea typeface="Instrument Sans" pitchFamily="34" charset="-122"/>
                <a:cs typeface="Instrument Sans" pitchFamily="34" charset="-120"/>
              </a:rPr>
              <a:t>Use TensorFlow Lite for offline use</a:t>
            </a:r>
            <a:endParaRPr lang="en-US" sz="1500" dirty="0">
              <a:latin typeface="Aptos Display" panose="020B0004020202020204" pitchFamily="34" charset="0"/>
            </a:endParaRPr>
          </a:p>
        </p:txBody>
      </p:sp>
      <p:sp>
        <p:nvSpPr>
          <p:cNvPr id="12" name="Text 9"/>
          <p:cNvSpPr/>
          <p:nvPr/>
        </p:nvSpPr>
        <p:spPr>
          <a:xfrm>
            <a:off x="6524289" y="2759759"/>
            <a:ext cx="1550520" cy="188111"/>
          </a:xfrm>
          <a:prstGeom prst="rect">
            <a:avLst/>
          </a:prstGeom>
          <a:noFill/>
          <a:ln/>
        </p:spPr>
        <p:txBody>
          <a:bodyPr wrap="none" lIns="0" tIns="0" rIns="0" bIns="0" rtlCol="0" anchor="t"/>
          <a:lstStyle/>
          <a:p>
            <a:pPr marL="0" indent="0" algn="ctr">
              <a:lnSpc>
                <a:spcPct val="104000"/>
              </a:lnSpc>
              <a:buNone/>
            </a:pPr>
            <a:r>
              <a:rPr lang="en-US" sz="1600" dirty="0">
                <a:solidFill>
                  <a:srgbClr val="030303"/>
                </a:solidFill>
                <a:latin typeface="Fraunces ExtraBold" pitchFamily="34" charset="0"/>
                <a:ea typeface="Fraunces ExtraBold" pitchFamily="34" charset="-122"/>
                <a:cs typeface="Fraunces ExtraBold" pitchFamily="34" charset="-120"/>
              </a:rPr>
              <a:t>Performance &amp; Care</a:t>
            </a:r>
            <a:endParaRPr lang="en-US" sz="1600" dirty="0"/>
          </a:p>
        </p:txBody>
      </p:sp>
      <p:sp>
        <p:nvSpPr>
          <p:cNvPr id="13" name="Text 10"/>
          <p:cNvSpPr/>
          <p:nvPr/>
        </p:nvSpPr>
        <p:spPr>
          <a:xfrm>
            <a:off x="6493669" y="3041927"/>
            <a:ext cx="1611863" cy="243708"/>
          </a:xfrm>
          <a:prstGeom prst="rect">
            <a:avLst/>
          </a:prstGeom>
          <a:noFill/>
          <a:ln/>
        </p:spPr>
        <p:txBody>
          <a:bodyPr wrap="square" lIns="0" tIns="0" rIns="0" bIns="0" rtlCol="0" anchor="t">
            <a:noAutofit/>
          </a:bodyPr>
          <a:lstStyle/>
          <a:p>
            <a:pPr marL="0" indent="0" algn="ctr">
              <a:lnSpc>
                <a:spcPct val="84000"/>
              </a:lnSpc>
              <a:buNone/>
            </a:pPr>
            <a:r>
              <a:rPr lang="en-US" sz="1500" dirty="0">
                <a:solidFill>
                  <a:srgbClr val="030303"/>
                </a:solidFill>
                <a:latin typeface="Aptos Display" panose="020B0004020202020204" pitchFamily="34" charset="0"/>
                <a:ea typeface="Instrument Sans" pitchFamily="34" charset="-122"/>
                <a:cs typeface="Instrument Sans" pitchFamily="34" charset="-120"/>
              </a:rPr>
              <a:t>Validate &gt;90% and add care scheduler</a:t>
            </a:r>
            <a:endParaRPr lang="en-US" sz="1500" dirty="0">
              <a:latin typeface="Aptos Display" panose="020B0004020202020204" pitchFamily="34" charset="0"/>
            </a:endParaRPr>
          </a:p>
        </p:txBody>
      </p:sp>
      <p:sp>
        <p:nvSpPr>
          <p:cNvPr id="14" name="Text 11"/>
          <p:cNvSpPr/>
          <p:nvPr/>
        </p:nvSpPr>
        <p:spPr>
          <a:xfrm>
            <a:off x="7744368" y="5232063"/>
            <a:ext cx="1504852" cy="188111"/>
          </a:xfrm>
          <a:prstGeom prst="rect">
            <a:avLst/>
          </a:prstGeom>
          <a:noFill/>
          <a:ln/>
        </p:spPr>
        <p:txBody>
          <a:bodyPr wrap="none" lIns="0" tIns="0" rIns="0" bIns="0" rtlCol="0" anchor="t"/>
          <a:lstStyle/>
          <a:p>
            <a:pPr marL="0" indent="0" algn="ctr">
              <a:lnSpc>
                <a:spcPct val="104000"/>
              </a:lnSpc>
              <a:buNone/>
            </a:pPr>
            <a:r>
              <a:rPr lang="en-US" sz="1600" dirty="0">
                <a:solidFill>
                  <a:srgbClr val="030303"/>
                </a:solidFill>
                <a:latin typeface="Fraunces ExtraBold" pitchFamily="34" charset="0"/>
                <a:ea typeface="Fraunces ExtraBold" pitchFamily="34" charset="-122"/>
                <a:cs typeface="Fraunces ExtraBold" pitchFamily="34" charset="-120"/>
              </a:rPr>
              <a:t>Care Schedular</a:t>
            </a:r>
            <a:endParaRPr lang="en-US" sz="1600" dirty="0"/>
          </a:p>
        </p:txBody>
      </p:sp>
      <p:sp>
        <p:nvSpPr>
          <p:cNvPr id="15" name="Text 12"/>
          <p:cNvSpPr/>
          <p:nvPr/>
        </p:nvSpPr>
        <p:spPr>
          <a:xfrm>
            <a:off x="7691425" y="5541759"/>
            <a:ext cx="1611864" cy="365563"/>
          </a:xfrm>
          <a:prstGeom prst="rect">
            <a:avLst/>
          </a:prstGeom>
          <a:noFill/>
          <a:ln/>
        </p:spPr>
        <p:txBody>
          <a:bodyPr wrap="square" lIns="0" tIns="0" rIns="0" bIns="0" rtlCol="0" anchor="t">
            <a:noAutofit/>
          </a:bodyPr>
          <a:lstStyle/>
          <a:p>
            <a:pPr marL="0" indent="0" algn="ctr">
              <a:lnSpc>
                <a:spcPct val="84000"/>
              </a:lnSpc>
              <a:buNone/>
            </a:pPr>
            <a:r>
              <a:rPr lang="en-US" sz="1500" dirty="0">
                <a:solidFill>
                  <a:srgbClr val="030303"/>
                </a:solidFill>
                <a:latin typeface="Aptos Display" panose="020B0004020202020204" pitchFamily="34" charset="0"/>
                <a:ea typeface="Instrument Sans" pitchFamily="34" charset="-122"/>
                <a:cs typeface="Instrument Sans" pitchFamily="34" charset="-120"/>
              </a:rPr>
              <a:t>helps users track routine maintenance tasks like watering and fertilizing.</a:t>
            </a:r>
            <a:endParaRPr lang="en-US" sz="1500" dirty="0">
              <a:latin typeface="Aptos Display" panose="020B00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gradFill>
          <a:gsLst>
            <a:gs pos="16000">
              <a:srgbClr val="146A18"/>
            </a:gs>
            <a:gs pos="47000">
              <a:srgbClr val="0B9912">
                <a:alpha val="95000"/>
                <a:lumMod val="100000"/>
              </a:srgbClr>
            </a:gs>
            <a:gs pos="100000">
              <a:srgbClr val="146A18"/>
            </a:gs>
          </a:gsLst>
          <a:lin ang="13500000" scaled="1"/>
        </a:gradFill>
        <a:effectLst/>
      </p:bgPr>
    </p:bg>
    <p:spTree>
      <p:nvGrpSpPr>
        <p:cNvPr id="1" name=""/>
        <p:cNvGrpSpPr/>
        <p:nvPr/>
      </p:nvGrpSpPr>
      <p:grpSpPr>
        <a:xfrm>
          <a:off x="0" y="0"/>
          <a:ext cx="0" cy="0"/>
          <a:chOff x="0" y="0"/>
          <a:chExt cx="0" cy="0"/>
        </a:xfrm>
      </p:grpSpPr>
      <p:sp>
        <p:nvSpPr>
          <p:cNvPr id="2" name="Text 0"/>
          <p:cNvSpPr/>
          <p:nvPr/>
        </p:nvSpPr>
        <p:spPr>
          <a:xfrm>
            <a:off x="1715350" y="2919512"/>
            <a:ext cx="8760995" cy="1018977"/>
          </a:xfrm>
          <a:prstGeom prst="rect">
            <a:avLst/>
          </a:prstGeom>
          <a:noFill/>
          <a:ln/>
        </p:spPr>
        <p:txBody>
          <a:bodyPr wrap="none" lIns="0" tIns="0" rIns="0" bIns="0" rtlCol="0" anchor="t"/>
          <a:lstStyle/>
          <a:p>
            <a:pPr marL="0" indent="0" algn="ctr">
              <a:lnSpc>
                <a:spcPct val="104000"/>
              </a:lnSpc>
              <a:buNone/>
            </a:pPr>
            <a:r>
              <a:rPr lang="en-US" sz="6400" b="1" dirty="0">
                <a:solidFill>
                  <a:srgbClr val="FFFFFF"/>
                </a:solidFill>
                <a:latin typeface="Fraunces ExtraBold" pitchFamily="34" charset="0"/>
                <a:ea typeface="Fraunces ExtraBold" pitchFamily="34" charset="-122"/>
                <a:cs typeface="Fraunces ExtraBold" pitchFamily="34" charset="-120"/>
              </a:rPr>
              <a:t>04. Methodology</a:t>
            </a:r>
            <a:endParaRPr lang="en-US" sz="64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574" y="989707"/>
            <a:ext cx="6516326" cy="738287"/>
          </a:xfrm>
          <a:prstGeom prst="rect">
            <a:avLst/>
          </a:prstGeom>
          <a:noFill/>
          <a:ln/>
        </p:spPr>
        <p:txBody>
          <a:bodyPr wrap="none" lIns="0" tIns="0" rIns="0" bIns="0" rtlCol="0" anchor="t"/>
          <a:lstStyle/>
          <a:p>
            <a:pPr marL="0" indent="0" algn="l">
              <a:lnSpc>
                <a:spcPct val="104000"/>
              </a:lnSpc>
              <a:buNone/>
            </a:pPr>
            <a:r>
              <a:rPr lang="en-US" sz="4650" b="1" dirty="0">
                <a:solidFill>
                  <a:srgbClr val="265834"/>
                </a:solidFill>
                <a:latin typeface="Fraunces ExtraBold" pitchFamily="34" charset="0"/>
                <a:ea typeface="Fraunces ExtraBold" pitchFamily="34" charset="-122"/>
                <a:cs typeface="Fraunces ExtraBold" pitchFamily="34" charset="-120"/>
              </a:rPr>
              <a:t>Ai Workflow</a:t>
            </a:r>
            <a:endParaRPr lang="en-US" sz="4650" b="1" dirty="0"/>
          </a:p>
        </p:txBody>
      </p:sp>
      <p:sp>
        <p:nvSpPr>
          <p:cNvPr id="3" name="Shape 1"/>
          <p:cNvSpPr/>
          <p:nvPr/>
        </p:nvSpPr>
        <p:spPr>
          <a:xfrm>
            <a:off x="661574" y="4034334"/>
            <a:ext cx="10868547" cy="31750"/>
          </a:xfrm>
          <a:prstGeom prst="roundRect">
            <a:avLst>
              <a:gd name="adj" fmla="val 669751"/>
            </a:avLst>
          </a:prstGeom>
          <a:solidFill>
            <a:srgbClr val="3F714D"/>
          </a:solidFill>
          <a:ln/>
        </p:spPr>
        <p:txBody>
          <a:bodyPr/>
          <a:lstStyle/>
          <a:p>
            <a:endParaRPr lang="en-US"/>
          </a:p>
        </p:txBody>
      </p:sp>
      <p:sp>
        <p:nvSpPr>
          <p:cNvPr id="4" name="Shape 2"/>
          <p:cNvSpPr/>
          <p:nvPr/>
        </p:nvSpPr>
        <p:spPr>
          <a:xfrm>
            <a:off x="2358668" y="3325515"/>
            <a:ext cx="31749" cy="708819"/>
          </a:xfrm>
          <a:prstGeom prst="roundRect">
            <a:avLst>
              <a:gd name="adj" fmla="val 669772"/>
            </a:avLst>
          </a:prstGeom>
          <a:solidFill>
            <a:srgbClr val="3F714D"/>
          </a:solidFill>
          <a:ln/>
        </p:spPr>
        <p:txBody>
          <a:bodyPr/>
          <a:lstStyle/>
          <a:p>
            <a:endParaRPr lang="en-US"/>
          </a:p>
        </p:txBody>
      </p:sp>
      <p:sp>
        <p:nvSpPr>
          <p:cNvPr id="5" name="Shape 3"/>
          <p:cNvSpPr/>
          <p:nvPr/>
        </p:nvSpPr>
        <p:spPr>
          <a:xfrm>
            <a:off x="2108743" y="3768527"/>
            <a:ext cx="531601" cy="531614"/>
          </a:xfrm>
          <a:prstGeom prst="roundRect">
            <a:avLst>
              <a:gd name="adj" fmla="val 40001"/>
            </a:avLst>
          </a:prstGeom>
          <a:solidFill>
            <a:srgbClr val="265834"/>
          </a:solidFill>
          <a:ln/>
        </p:spPr>
        <p:txBody>
          <a:bodyPr/>
          <a:lstStyle/>
          <a:p>
            <a:endParaRPr lang="en-US"/>
          </a:p>
        </p:txBody>
      </p:sp>
      <p:sp>
        <p:nvSpPr>
          <p:cNvPr id="6" name="Text 4"/>
          <p:cNvSpPr/>
          <p:nvPr/>
        </p:nvSpPr>
        <p:spPr>
          <a:xfrm>
            <a:off x="2197343" y="3812828"/>
            <a:ext cx="354401" cy="443012"/>
          </a:xfrm>
          <a:prstGeom prst="rect">
            <a:avLst/>
          </a:prstGeom>
          <a:noFill/>
          <a:ln/>
        </p:spPr>
        <p:txBody>
          <a:bodyPr wrap="none" lIns="0" tIns="0" rIns="0" bIns="0" rtlCol="0" anchor="ctr"/>
          <a:lstStyle/>
          <a:p>
            <a:pPr marL="0" indent="0" algn="ctr">
              <a:lnSpc>
                <a:spcPct val="100000"/>
              </a:lnSpc>
              <a:buNone/>
            </a:pPr>
            <a:r>
              <a:rPr lang="en-US" sz="2750" dirty="0">
                <a:solidFill>
                  <a:srgbClr val="FFFFFF"/>
                </a:solidFill>
                <a:latin typeface="Fraunces ExtraBold" pitchFamily="34" charset="0"/>
                <a:ea typeface="Fraunces ExtraBold" pitchFamily="34" charset="-122"/>
                <a:cs typeface="Fraunces ExtraBold" pitchFamily="34" charset="-120"/>
              </a:rPr>
              <a:t>1</a:t>
            </a:r>
            <a:endParaRPr lang="en-US" sz="2750" dirty="0"/>
          </a:p>
        </p:txBody>
      </p:sp>
      <p:sp>
        <p:nvSpPr>
          <p:cNvPr id="7" name="Text 5"/>
          <p:cNvSpPr/>
          <p:nvPr/>
        </p:nvSpPr>
        <p:spPr>
          <a:xfrm>
            <a:off x="897808" y="2200473"/>
            <a:ext cx="2953371" cy="369193"/>
          </a:xfrm>
          <a:prstGeom prst="rect">
            <a:avLst/>
          </a:prstGeom>
          <a:noFill/>
          <a:ln/>
        </p:spPr>
        <p:txBody>
          <a:bodyPr wrap="none" lIns="0" tIns="0" rIns="0" bIns="0" rtlCol="0" anchor="t"/>
          <a:lstStyle/>
          <a:p>
            <a:pPr marL="0" indent="0" algn="ctr">
              <a:lnSpc>
                <a:spcPct val="104000"/>
              </a:lnSpc>
              <a:buNone/>
            </a:pPr>
            <a:r>
              <a:rPr lang="en-US" sz="2300" b="1" dirty="0">
                <a:solidFill>
                  <a:srgbClr val="030303"/>
                </a:solidFill>
                <a:latin typeface="Fraunces ExtraBold" pitchFamily="34" charset="0"/>
                <a:ea typeface="Fraunces ExtraBold" pitchFamily="34" charset="-122"/>
                <a:cs typeface="Fraunces ExtraBold" pitchFamily="34" charset="-120"/>
              </a:rPr>
              <a:t>Data Collection</a:t>
            </a:r>
            <a:endParaRPr lang="en-US" sz="2300" b="1" dirty="0"/>
          </a:p>
        </p:txBody>
      </p:sp>
      <p:sp>
        <p:nvSpPr>
          <p:cNvPr id="8" name="Text 6"/>
          <p:cNvSpPr/>
          <p:nvPr/>
        </p:nvSpPr>
        <p:spPr>
          <a:xfrm>
            <a:off x="897808" y="2711351"/>
            <a:ext cx="2953470" cy="377924"/>
          </a:xfrm>
          <a:prstGeom prst="rect">
            <a:avLst/>
          </a:prstGeom>
          <a:noFill/>
          <a:ln/>
        </p:spPr>
        <p:txBody>
          <a:bodyPr wrap="none" lIns="0" tIns="0" rIns="0" bIns="0" rtlCol="0" anchor="t"/>
          <a:lstStyle/>
          <a:p>
            <a:pPr marL="0" indent="0" algn="ctr">
              <a:lnSpc>
                <a:spcPct val="133000"/>
              </a:lnSpc>
              <a:buNone/>
            </a:pPr>
            <a:endParaRPr lang="en-US" sz="1850" dirty="0"/>
          </a:p>
        </p:txBody>
      </p:sp>
      <p:sp>
        <p:nvSpPr>
          <p:cNvPr id="9" name="Shape 7"/>
          <p:cNvSpPr/>
          <p:nvPr/>
        </p:nvSpPr>
        <p:spPr>
          <a:xfrm>
            <a:off x="4219271" y="4034334"/>
            <a:ext cx="31749" cy="708819"/>
          </a:xfrm>
          <a:prstGeom prst="roundRect">
            <a:avLst>
              <a:gd name="adj" fmla="val 669772"/>
            </a:avLst>
          </a:prstGeom>
          <a:solidFill>
            <a:srgbClr val="3F714D"/>
          </a:solidFill>
          <a:ln/>
        </p:spPr>
        <p:txBody>
          <a:bodyPr/>
          <a:lstStyle/>
          <a:p>
            <a:endParaRPr lang="en-US"/>
          </a:p>
        </p:txBody>
      </p:sp>
      <p:sp>
        <p:nvSpPr>
          <p:cNvPr id="10" name="Shape 8"/>
          <p:cNvSpPr/>
          <p:nvPr/>
        </p:nvSpPr>
        <p:spPr>
          <a:xfrm>
            <a:off x="3969345" y="3768527"/>
            <a:ext cx="531601" cy="531614"/>
          </a:xfrm>
          <a:prstGeom prst="roundRect">
            <a:avLst>
              <a:gd name="adj" fmla="val 40001"/>
            </a:avLst>
          </a:prstGeom>
          <a:solidFill>
            <a:srgbClr val="265834"/>
          </a:solidFill>
          <a:ln/>
        </p:spPr>
        <p:txBody>
          <a:bodyPr/>
          <a:lstStyle/>
          <a:p>
            <a:endParaRPr lang="en-US"/>
          </a:p>
        </p:txBody>
      </p:sp>
      <p:sp>
        <p:nvSpPr>
          <p:cNvPr id="11" name="Text 9"/>
          <p:cNvSpPr/>
          <p:nvPr/>
        </p:nvSpPr>
        <p:spPr>
          <a:xfrm>
            <a:off x="4057945" y="3812828"/>
            <a:ext cx="354401" cy="443012"/>
          </a:xfrm>
          <a:prstGeom prst="rect">
            <a:avLst/>
          </a:prstGeom>
          <a:noFill/>
          <a:ln/>
        </p:spPr>
        <p:txBody>
          <a:bodyPr wrap="none" lIns="0" tIns="0" rIns="0" bIns="0" rtlCol="0" anchor="ctr"/>
          <a:lstStyle/>
          <a:p>
            <a:pPr marL="0" indent="0" algn="ctr">
              <a:lnSpc>
                <a:spcPct val="100000"/>
              </a:lnSpc>
              <a:buNone/>
            </a:pPr>
            <a:r>
              <a:rPr lang="en-US" sz="2750" dirty="0">
                <a:solidFill>
                  <a:srgbClr val="FFFFFF"/>
                </a:solidFill>
                <a:latin typeface="Fraunces ExtraBold" pitchFamily="34" charset="0"/>
                <a:ea typeface="Fraunces ExtraBold" pitchFamily="34" charset="-122"/>
                <a:cs typeface="Fraunces ExtraBold" pitchFamily="34" charset="-120"/>
              </a:rPr>
              <a:t>2</a:t>
            </a:r>
            <a:endParaRPr lang="en-US" sz="2750" dirty="0"/>
          </a:p>
        </p:txBody>
      </p:sp>
      <p:sp>
        <p:nvSpPr>
          <p:cNvPr id="12" name="Text 10"/>
          <p:cNvSpPr/>
          <p:nvPr/>
        </p:nvSpPr>
        <p:spPr>
          <a:xfrm>
            <a:off x="2758411" y="4979392"/>
            <a:ext cx="2953371" cy="369193"/>
          </a:xfrm>
          <a:prstGeom prst="rect">
            <a:avLst/>
          </a:prstGeom>
          <a:noFill/>
          <a:ln/>
        </p:spPr>
        <p:txBody>
          <a:bodyPr wrap="none" lIns="0" tIns="0" rIns="0" bIns="0" rtlCol="0" anchor="t"/>
          <a:lstStyle/>
          <a:p>
            <a:pPr marL="0" indent="0" algn="ctr">
              <a:lnSpc>
                <a:spcPct val="104000"/>
              </a:lnSpc>
              <a:buNone/>
            </a:pPr>
            <a:r>
              <a:rPr lang="en-US" sz="2300" b="1" dirty="0">
                <a:solidFill>
                  <a:srgbClr val="030303"/>
                </a:solidFill>
                <a:latin typeface="Fraunces ExtraBold" pitchFamily="34" charset="0"/>
                <a:ea typeface="Fraunces ExtraBold" pitchFamily="34" charset="-122"/>
                <a:cs typeface="Fraunces ExtraBold" pitchFamily="34" charset="-120"/>
              </a:rPr>
              <a:t>Preprocessing</a:t>
            </a:r>
            <a:endParaRPr lang="en-US" sz="2300" b="1" dirty="0"/>
          </a:p>
        </p:txBody>
      </p:sp>
      <p:sp>
        <p:nvSpPr>
          <p:cNvPr id="13" name="Text 11"/>
          <p:cNvSpPr/>
          <p:nvPr/>
        </p:nvSpPr>
        <p:spPr>
          <a:xfrm>
            <a:off x="2758411" y="5490270"/>
            <a:ext cx="2953470" cy="377924"/>
          </a:xfrm>
          <a:prstGeom prst="rect">
            <a:avLst/>
          </a:prstGeom>
          <a:noFill/>
          <a:ln/>
        </p:spPr>
        <p:txBody>
          <a:bodyPr wrap="none" lIns="0" tIns="0" rIns="0" bIns="0" rtlCol="0" anchor="t"/>
          <a:lstStyle/>
          <a:p>
            <a:pPr marL="0" indent="0" algn="ctr">
              <a:lnSpc>
                <a:spcPct val="133000"/>
              </a:lnSpc>
              <a:buNone/>
            </a:pPr>
            <a:endParaRPr lang="en-US" sz="1850" dirty="0"/>
          </a:p>
        </p:txBody>
      </p:sp>
      <p:sp>
        <p:nvSpPr>
          <p:cNvPr id="14" name="Shape 12"/>
          <p:cNvSpPr/>
          <p:nvPr/>
        </p:nvSpPr>
        <p:spPr>
          <a:xfrm>
            <a:off x="6079874" y="3325515"/>
            <a:ext cx="31749" cy="708819"/>
          </a:xfrm>
          <a:prstGeom prst="roundRect">
            <a:avLst>
              <a:gd name="adj" fmla="val 669772"/>
            </a:avLst>
          </a:prstGeom>
          <a:solidFill>
            <a:srgbClr val="3F714D"/>
          </a:solidFill>
          <a:ln/>
        </p:spPr>
        <p:txBody>
          <a:bodyPr/>
          <a:lstStyle/>
          <a:p>
            <a:endParaRPr lang="en-US"/>
          </a:p>
        </p:txBody>
      </p:sp>
      <p:sp>
        <p:nvSpPr>
          <p:cNvPr id="15" name="Shape 13"/>
          <p:cNvSpPr/>
          <p:nvPr/>
        </p:nvSpPr>
        <p:spPr>
          <a:xfrm>
            <a:off x="5829948" y="3768527"/>
            <a:ext cx="531601" cy="531614"/>
          </a:xfrm>
          <a:prstGeom prst="roundRect">
            <a:avLst>
              <a:gd name="adj" fmla="val 40001"/>
            </a:avLst>
          </a:prstGeom>
          <a:solidFill>
            <a:srgbClr val="265834"/>
          </a:solidFill>
          <a:ln/>
        </p:spPr>
        <p:txBody>
          <a:bodyPr/>
          <a:lstStyle/>
          <a:p>
            <a:endParaRPr lang="en-US"/>
          </a:p>
        </p:txBody>
      </p:sp>
      <p:sp>
        <p:nvSpPr>
          <p:cNvPr id="16" name="Text 14"/>
          <p:cNvSpPr/>
          <p:nvPr/>
        </p:nvSpPr>
        <p:spPr>
          <a:xfrm>
            <a:off x="5918548" y="3812828"/>
            <a:ext cx="354401" cy="443012"/>
          </a:xfrm>
          <a:prstGeom prst="rect">
            <a:avLst/>
          </a:prstGeom>
          <a:noFill/>
          <a:ln/>
        </p:spPr>
        <p:txBody>
          <a:bodyPr wrap="none" lIns="0" tIns="0" rIns="0" bIns="0" rtlCol="0" anchor="ctr"/>
          <a:lstStyle/>
          <a:p>
            <a:pPr marL="0" indent="0" algn="ctr">
              <a:lnSpc>
                <a:spcPct val="100000"/>
              </a:lnSpc>
              <a:buNone/>
            </a:pPr>
            <a:r>
              <a:rPr lang="en-US" sz="2750" dirty="0">
                <a:solidFill>
                  <a:srgbClr val="FFFFFF"/>
                </a:solidFill>
                <a:latin typeface="Fraunces ExtraBold" pitchFamily="34" charset="0"/>
                <a:ea typeface="Fraunces ExtraBold" pitchFamily="34" charset="-122"/>
                <a:cs typeface="Fraunces ExtraBold" pitchFamily="34" charset="-120"/>
              </a:rPr>
              <a:t>3</a:t>
            </a:r>
            <a:endParaRPr lang="en-US" sz="2750" dirty="0"/>
          </a:p>
        </p:txBody>
      </p:sp>
      <p:sp>
        <p:nvSpPr>
          <p:cNvPr id="17" name="Text 15"/>
          <p:cNvSpPr/>
          <p:nvPr/>
        </p:nvSpPr>
        <p:spPr>
          <a:xfrm>
            <a:off x="4619113" y="2200473"/>
            <a:ext cx="2953371" cy="369193"/>
          </a:xfrm>
          <a:prstGeom prst="rect">
            <a:avLst/>
          </a:prstGeom>
          <a:noFill/>
          <a:ln/>
        </p:spPr>
        <p:txBody>
          <a:bodyPr wrap="none" lIns="0" tIns="0" rIns="0" bIns="0" rtlCol="0" anchor="t"/>
          <a:lstStyle/>
          <a:p>
            <a:pPr marL="0" indent="0" algn="ctr">
              <a:lnSpc>
                <a:spcPct val="104000"/>
              </a:lnSpc>
              <a:buNone/>
            </a:pPr>
            <a:r>
              <a:rPr lang="en-US" sz="2300" b="1" dirty="0">
                <a:solidFill>
                  <a:srgbClr val="030303"/>
                </a:solidFill>
                <a:latin typeface="Fraunces ExtraBold" pitchFamily="34" charset="0"/>
                <a:ea typeface="Fraunces ExtraBold" pitchFamily="34" charset="-122"/>
                <a:cs typeface="Fraunces ExtraBold" pitchFamily="34" charset="-120"/>
              </a:rPr>
              <a:t>Model Selection</a:t>
            </a:r>
            <a:endParaRPr lang="en-US" sz="2300" b="1" dirty="0"/>
          </a:p>
        </p:txBody>
      </p:sp>
      <p:sp>
        <p:nvSpPr>
          <p:cNvPr id="18" name="Text 16"/>
          <p:cNvSpPr/>
          <p:nvPr/>
        </p:nvSpPr>
        <p:spPr>
          <a:xfrm>
            <a:off x="4619013" y="2711351"/>
            <a:ext cx="2953569" cy="377924"/>
          </a:xfrm>
          <a:prstGeom prst="rect">
            <a:avLst/>
          </a:prstGeom>
          <a:noFill/>
          <a:ln/>
        </p:spPr>
        <p:txBody>
          <a:bodyPr wrap="none" lIns="0" tIns="0" rIns="0" bIns="0" rtlCol="0" anchor="t"/>
          <a:lstStyle/>
          <a:p>
            <a:pPr marL="0" indent="0" algn="ctr">
              <a:lnSpc>
                <a:spcPct val="133000"/>
              </a:lnSpc>
              <a:buNone/>
            </a:pPr>
            <a:endParaRPr lang="en-US" sz="1850" dirty="0"/>
          </a:p>
        </p:txBody>
      </p:sp>
      <p:sp>
        <p:nvSpPr>
          <p:cNvPr id="19" name="Shape 17"/>
          <p:cNvSpPr/>
          <p:nvPr/>
        </p:nvSpPr>
        <p:spPr>
          <a:xfrm>
            <a:off x="7940476" y="4034334"/>
            <a:ext cx="31749" cy="708819"/>
          </a:xfrm>
          <a:prstGeom prst="roundRect">
            <a:avLst>
              <a:gd name="adj" fmla="val 669772"/>
            </a:avLst>
          </a:prstGeom>
          <a:solidFill>
            <a:srgbClr val="3F714D"/>
          </a:solidFill>
          <a:ln/>
        </p:spPr>
        <p:txBody>
          <a:bodyPr/>
          <a:lstStyle/>
          <a:p>
            <a:endParaRPr lang="en-US"/>
          </a:p>
        </p:txBody>
      </p:sp>
      <p:sp>
        <p:nvSpPr>
          <p:cNvPr id="20" name="Shape 18"/>
          <p:cNvSpPr/>
          <p:nvPr/>
        </p:nvSpPr>
        <p:spPr>
          <a:xfrm>
            <a:off x="7690551" y="3768527"/>
            <a:ext cx="531601" cy="531614"/>
          </a:xfrm>
          <a:prstGeom prst="roundRect">
            <a:avLst>
              <a:gd name="adj" fmla="val 40001"/>
            </a:avLst>
          </a:prstGeom>
          <a:solidFill>
            <a:srgbClr val="265834"/>
          </a:solidFill>
          <a:ln/>
        </p:spPr>
        <p:txBody>
          <a:bodyPr/>
          <a:lstStyle/>
          <a:p>
            <a:endParaRPr lang="en-US"/>
          </a:p>
        </p:txBody>
      </p:sp>
      <p:sp>
        <p:nvSpPr>
          <p:cNvPr id="21" name="Text 19"/>
          <p:cNvSpPr/>
          <p:nvPr/>
        </p:nvSpPr>
        <p:spPr>
          <a:xfrm>
            <a:off x="7779151" y="3812828"/>
            <a:ext cx="354401" cy="443012"/>
          </a:xfrm>
          <a:prstGeom prst="rect">
            <a:avLst/>
          </a:prstGeom>
          <a:noFill/>
          <a:ln/>
        </p:spPr>
        <p:txBody>
          <a:bodyPr wrap="none" lIns="0" tIns="0" rIns="0" bIns="0" rtlCol="0" anchor="ctr"/>
          <a:lstStyle/>
          <a:p>
            <a:pPr marL="0" indent="0" algn="ctr">
              <a:lnSpc>
                <a:spcPct val="100000"/>
              </a:lnSpc>
              <a:buNone/>
            </a:pPr>
            <a:r>
              <a:rPr lang="en-US" sz="2750" dirty="0">
                <a:solidFill>
                  <a:srgbClr val="FFFFFF"/>
                </a:solidFill>
                <a:latin typeface="Fraunces ExtraBold" pitchFamily="34" charset="0"/>
                <a:ea typeface="Fraunces ExtraBold" pitchFamily="34" charset="-122"/>
                <a:cs typeface="Fraunces ExtraBold" pitchFamily="34" charset="-120"/>
              </a:rPr>
              <a:t>4</a:t>
            </a:r>
            <a:endParaRPr lang="en-US" sz="2750" dirty="0"/>
          </a:p>
        </p:txBody>
      </p:sp>
      <p:sp>
        <p:nvSpPr>
          <p:cNvPr id="22" name="Text 20"/>
          <p:cNvSpPr/>
          <p:nvPr/>
        </p:nvSpPr>
        <p:spPr>
          <a:xfrm>
            <a:off x="6479715" y="4979392"/>
            <a:ext cx="2953371" cy="369193"/>
          </a:xfrm>
          <a:prstGeom prst="rect">
            <a:avLst/>
          </a:prstGeom>
          <a:noFill/>
          <a:ln/>
        </p:spPr>
        <p:txBody>
          <a:bodyPr wrap="none" lIns="0" tIns="0" rIns="0" bIns="0" rtlCol="0" anchor="t"/>
          <a:lstStyle/>
          <a:p>
            <a:pPr marL="0" indent="0" algn="ctr">
              <a:lnSpc>
                <a:spcPct val="104000"/>
              </a:lnSpc>
              <a:buNone/>
            </a:pPr>
            <a:r>
              <a:rPr lang="en-US" sz="2300" b="1" dirty="0">
                <a:solidFill>
                  <a:srgbClr val="030303"/>
                </a:solidFill>
                <a:latin typeface="Fraunces ExtraBold" pitchFamily="34" charset="0"/>
                <a:ea typeface="Fraunces ExtraBold" pitchFamily="34" charset="-122"/>
                <a:cs typeface="Fraunces ExtraBold" pitchFamily="34" charset="-120"/>
              </a:rPr>
              <a:t>Training</a:t>
            </a:r>
            <a:endParaRPr lang="en-US" sz="2300" b="1" dirty="0"/>
          </a:p>
        </p:txBody>
      </p:sp>
      <p:sp>
        <p:nvSpPr>
          <p:cNvPr id="23" name="Text 21"/>
          <p:cNvSpPr/>
          <p:nvPr/>
        </p:nvSpPr>
        <p:spPr>
          <a:xfrm>
            <a:off x="6479616" y="5490270"/>
            <a:ext cx="2953569" cy="377924"/>
          </a:xfrm>
          <a:prstGeom prst="rect">
            <a:avLst/>
          </a:prstGeom>
          <a:noFill/>
          <a:ln/>
        </p:spPr>
        <p:txBody>
          <a:bodyPr wrap="none" lIns="0" tIns="0" rIns="0" bIns="0" rtlCol="0" anchor="t"/>
          <a:lstStyle/>
          <a:p>
            <a:pPr marL="0" indent="0" algn="ctr">
              <a:lnSpc>
                <a:spcPct val="133000"/>
              </a:lnSpc>
              <a:buNone/>
            </a:pPr>
            <a:endParaRPr lang="en-US" sz="1850" dirty="0"/>
          </a:p>
        </p:txBody>
      </p:sp>
      <p:sp>
        <p:nvSpPr>
          <p:cNvPr id="24" name="Shape 22"/>
          <p:cNvSpPr/>
          <p:nvPr/>
        </p:nvSpPr>
        <p:spPr>
          <a:xfrm>
            <a:off x="9801178" y="3325515"/>
            <a:ext cx="31749" cy="708819"/>
          </a:xfrm>
          <a:prstGeom prst="roundRect">
            <a:avLst>
              <a:gd name="adj" fmla="val 669772"/>
            </a:avLst>
          </a:prstGeom>
          <a:solidFill>
            <a:srgbClr val="3F714D"/>
          </a:solidFill>
          <a:ln/>
        </p:spPr>
        <p:txBody>
          <a:bodyPr/>
          <a:lstStyle/>
          <a:p>
            <a:endParaRPr lang="en-US"/>
          </a:p>
        </p:txBody>
      </p:sp>
      <p:sp>
        <p:nvSpPr>
          <p:cNvPr id="25" name="Shape 23"/>
          <p:cNvSpPr/>
          <p:nvPr/>
        </p:nvSpPr>
        <p:spPr>
          <a:xfrm>
            <a:off x="9551252" y="3768527"/>
            <a:ext cx="531601" cy="531614"/>
          </a:xfrm>
          <a:prstGeom prst="roundRect">
            <a:avLst>
              <a:gd name="adj" fmla="val 40001"/>
            </a:avLst>
          </a:prstGeom>
          <a:solidFill>
            <a:srgbClr val="265834"/>
          </a:solidFill>
          <a:ln/>
        </p:spPr>
        <p:txBody>
          <a:bodyPr/>
          <a:lstStyle/>
          <a:p>
            <a:endParaRPr lang="en-US"/>
          </a:p>
        </p:txBody>
      </p:sp>
      <p:sp>
        <p:nvSpPr>
          <p:cNvPr id="26" name="Text 24"/>
          <p:cNvSpPr/>
          <p:nvPr/>
        </p:nvSpPr>
        <p:spPr>
          <a:xfrm>
            <a:off x="9639853" y="3812828"/>
            <a:ext cx="354401" cy="443012"/>
          </a:xfrm>
          <a:prstGeom prst="rect">
            <a:avLst/>
          </a:prstGeom>
          <a:noFill/>
          <a:ln/>
        </p:spPr>
        <p:txBody>
          <a:bodyPr wrap="none" lIns="0" tIns="0" rIns="0" bIns="0" rtlCol="0" anchor="ctr"/>
          <a:lstStyle/>
          <a:p>
            <a:pPr marL="0" indent="0" algn="ctr">
              <a:lnSpc>
                <a:spcPct val="100000"/>
              </a:lnSpc>
              <a:buNone/>
            </a:pPr>
            <a:r>
              <a:rPr lang="en-US" sz="2750" dirty="0">
                <a:solidFill>
                  <a:srgbClr val="FFFFFF"/>
                </a:solidFill>
                <a:latin typeface="Fraunces ExtraBold" pitchFamily="34" charset="0"/>
                <a:ea typeface="Fraunces ExtraBold" pitchFamily="34" charset="-122"/>
                <a:cs typeface="Fraunces ExtraBold" pitchFamily="34" charset="-120"/>
              </a:rPr>
              <a:t>5</a:t>
            </a:r>
            <a:endParaRPr lang="en-US" sz="2750" dirty="0"/>
          </a:p>
        </p:txBody>
      </p:sp>
      <p:sp>
        <p:nvSpPr>
          <p:cNvPr id="27" name="Text 25"/>
          <p:cNvSpPr/>
          <p:nvPr/>
        </p:nvSpPr>
        <p:spPr>
          <a:xfrm>
            <a:off x="8340318" y="2200473"/>
            <a:ext cx="2953371" cy="369193"/>
          </a:xfrm>
          <a:prstGeom prst="rect">
            <a:avLst/>
          </a:prstGeom>
          <a:noFill/>
          <a:ln/>
        </p:spPr>
        <p:txBody>
          <a:bodyPr wrap="none" lIns="0" tIns="0" rIns="0" bIns="0" rtlCol="0" anchor="t"/>
          <a:lstStyle/>
          <a:p>
            <a:pPr marL="0" indent="0" algn="ctr">
              <a:lnSpc>
                <a:spcPct val="104000"/>
              </a:lnSpc>
              <a:buNone/>
            </a:pPr>
            <a:r>
              <a:rPr lang="en-US" sz="2300" b="1" dirty="0">
                <a:solidFill>
                  <a:srgbClr val="030303"/>
                </a:solidFill>
                <a:latin typeface="Fraunces ExtraBold" pitchFamily="34" charset="0"/>
                <a:ea typeface="Fraunces ExtraBold" pitchFamily="34" charset="-122"/>
                <a:cs typeface="Fraunces ExtraBold" pitchFamily="34" charset="-120"/>
              </a:rPr>
              <a:t>Evaluation</a:t>
            </a:r>
            <a:endParaRPr lang="en-US" sz="2300" b="1" dirty="0"/>
          </a:p>
        </p:txBody>
      </p:sp>
      <p:sp>
        <p:nvSpPr>
          <p:cNvPr id="28" name="Text 26"/>
          <p:cNvSpPr/>
          <p:nvPr/>
        </p:nvSpPr>
        <p:spPr>
          <a:xfrm>
            <a:off x="8340318" y="2711351"/>
            <a:ext cx="2953470" cy="377924"/>
          </a:xfrm>
          <a:prstGeom prst="rect">
            <a:avLst/>
          </a:prstGeom>
          <a:noFill/>
          <a:ln/>
        </p:spPr>
        <p:txBody>
          <a:bodyPr wrap="none" lIns="0" tIns="0" rIns="0" bIns="0" rtlCol="0" anchor="t"/>
          <a:lstStyle/>
          <a:p>
            <a:pPr marL="0" indent="0" algn="ctr">
              <a:lnSpc>
                <a:spcPct val="133000"/>
              </a:lnSpc>
              <a:buNone/>
            </a:pPr>
            <a:endParaRPr lang="en-US" sz="1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46503" y="676771"/>
            <a:ext cx="5261141" cy="581422"/>
          </a:xfrm>
          <a:prstGeom prst="rect">
            <a:avLst/>
          </a:prstGeom>
          <a:noFill/>
          <a:ln/>
        </p:spPr>
        <p:txBody>
          <a:bodyPr wrap="none" lIns="0" tIns="0" rIns="0" bIns="0" rtlCol="0" anchor="t"/>
          <a:lstStyle/>
          <a:p>
            <a:pPr marL="0" indent="0" algn="l">
              <a:lnSpc>
                <a:spcPct val="104000"/>
              </a:lnSpc>
              <a:buNone/>
            </a:pPr>
            <a:r>
              <a:rPr lang="en-US" sz="3650" b="1" dirty="0">
                <a:solidFill>
                  <a:srgbClr val="265834"/>
                </a:solidFill>
                <a:latin typeface="Fraunces ExtraBold" pitchFamily="34" charset="0"/>
                <a:ea typeface="Fraunces ExtraBold" pitchFamily="34" charset="-122"/>
                <a:cs typeface="Fraunces ExtraBold" pitchFamily="34" charset="-120"/>
              </a:rPr>
              <a:t>Dataset Structure</a:t>
            </a:r>
            <a:endParaRPr lang="en-US" sz="3650" b="1" dirty="0"/>
          </a:p>
        </p:txBody>
      </p:sp>
      <p:sp>
        <p:nvSpPr>
          <p:cNvPr id="3" name="Text 1"/>
          <p:cNvSpPr/>
          <p:nvPr/>
        </p:nvSpPr>
        <p:spPr>
          <a:xfrm>
            <a:off x="746503" y="1422995"/>
            <a:ext cx="10698689" cy="1611809"/>
          </a:xfrm>
          <a:prstGeom prst="rect">
            <a:avLst/>
          </a:prstGeom>
          <a:noFill/>
          <a:ln/>
        </p:spPr>
        <p:txBody>
          <a:bodyPr wrap="square" lIns="0" tIns="0" rIns="0" bIns="0" rtlCol="0" anchor="t">
            <a:normAutofit/>
          </a:bodyPr>
          <a:lstStyle/>
          <a:p>
            <a:pPr marL="285750" indent="-285750" algn="l">
              <a:lnSpc>
                <a:spcPct val="119000"/>
              </a:lnSpc>
              <a:buSzPct val="100000"/>
              <a:buFont typeface="Wingdings" panose="05000000000000000000" pitchFamily="2" charset="2"/>
              <a:buChar char="§"/>
            </a:pPr>
            <a:r>
              <a:rPr lang="en-US" sz="1600" b="1" dirty="0">
                <a:solidFill>
                  <a:srgbClr val="030303"/>
                </a:solidFill>
                <a:latin typeface="Aptos Display" panose="020B0004020202020204" pitchFamily="34" charset="0"/>
                <a:ea typeface="Instrument Sans" pitchFamily="34" charset="-122"/>
                <a:cs typeface="Instrument Sans" pitchFamily="34" charset="-120"/>
              </a:rPr>
              <a:t>Philosophy:</a:t>
            </a:r>
            <a:r>
              <a:rPr lang="en-US" sz="1600" dirty="0">
                <a:solidFill>
                  <a:srgbClr val="030303"/>
                </a:solidFill>
                <a:latin typeface="Aptos Display" panose="020B0004020202020204" pitchFamily="34" charset="0"/>
                <a:ea typeface="Instrument Sans" pitchFamily="34" charset="-122"/>
                <a:cs typeface="Instrument Sans" pitchFamily="34" charset="-120"/>
              </a:rPr>
              <a:t> We moved away from "crop-centric" datasets (e.g., Tomato_Blight) to a </a:t>
            </a:r>
            <a:r>
              <a:rPr lang="en-US" sz="1600" b="1" dirty="0">
                <a:solidFill>
                  <a:srgbClr val="030303"/>
                </a:solidFill>
                <a:latin typeface="Aptos Display" panose="020B0004020202020204" pitchFamily="34" charset="0"/>
                <a:ea typeface="Instrument Sans" pitchFamily="34" charset="-122"/>
                <a:cs typeface="Instrument Sans" pitchFamily="34" charset="-120"/>
              </a:rPr>
              <a:t>pathogen-centric</a:t>
            </a:r>
            <a:r>
              <a:rPr lang="en-US" sz="1600" dirty="0">
                <a:solidFill>
                  <a:srgbClr val="030303"/>
                </a:solidFill>
                <a:latin typeface="Aptos Display" panose="020B0004020202020204" pitchFamily="34" charset="0"/>
                <a:ea typeface="Instrument Sans" pitchFamily="34" charset="-122"/>
                <a:cs typeface="Instrument Sans" pitchFamily="34" charset="-120"/>
              </a:rPr>
              <a:t> structure. This forces the model to learn the visual texture of the disease itself, not the plant.</a:t>
            </a:r>
            <a:endParaRPr lang="en-US" sz="1600" dirty="0">
              <a:latin typeface="Aptos Display" panose="020B0004020202020204" pitchFamily="34" charset="0"/>
            </a:endParaRPr>
          </a:p>
          <a:p>
            <a:pPr marL="285750" indent="-285750" algn="l">
              <a:lnSpc>
                <a:spcPct val="119000"/>
              </a:lnSpc>
              <a:buSzPct val="100000"/>
              <a:buFont typeface="Wingdings" panose="05000000000000000000" pitchFamily="2" charset="2"/>
              <a:buChar char="§"/>
            </a:pPr>
            <a:r>
              <a:rPr lang="en-US" sz="1600" b="1" dirty="0">
                <a:solidFill>
                  <a:srgbClr val="030303"/>
                </a:solidFill>
                <a:latin typeface="Aptos Display" panose="020B0004020202020204" pitchFamily="34" charset="0"/>
                <a:ea typeface="Instrument Sans" pitchFamily="34" charset="-122"/>
                <a:cs typeface="Instrument Sans" pitchFamily="34" charset="-120"/>
              </a:rPr>
              <a:t>Class Balance:</a:t>
            </a:r>
            <a:r>
              <a:rPr lang="en-US" sz="1600" dirty="0">
                <a:solidFill>
                  <a:srgbClr val="030303"/>
                </a:solidFill>
                <a:latin typeface="Aptos Display" panose="020B0004020202020204" pitchFamily="34" charset="0"/>
                <a:ea typeface="Instrument Sans" pitchFamily="34" charset="-122"/>
                <a:cs typeface="Instrument Sans" pitchFamily="34" charset="-120"/>
              </a:rPr>
              <a:t> The data is categorized into 5 universal, Balanced classes each has 8K images, in total 40K images :</a:t>
            </a:r>
            <a:endParaRPr lang="en-US" sz="1600" dirty="0">
              <a:latin typeface="Aptos Display" panose="020B0004020202020204" pitchFamily="34" charset="0"/>
            </a:endParaRPr>
          </a:p>
          <a:p>
            <a:pPr marL="285750" indent="-285750" algn="l">
              <a:lnSpc>
                <a:spcPct val="119000"/>
              </a:lnSpc>
              <a:buSzPct val="100000"/>
              <a:buFont typeface="Wingdings" panose="05000000000000000000" pitchFamily="2" charset="2"/>
              <a:buChar char="§"/>
            </a:pPr>
            <a:r>
              <a:rPr lang="en-US" sz="1600" b="1" dirty="0">
                <a:solidFill>
                  <a:srgbClr val="030303"/>
                </a:solidFill>
                <a:latin typeface="Aptos Display" panose="020B0004020202020204" pitchFamily="34" charset="0"/>
                <a:ea typeface="Instrument Sans" pitchFamily="34" charset="-122"/>
                <a:cs typeface="Instrument Sans" pitchFamily="34" charset="-120"/>
              </a:rPr>
              <a:t>Dataset: Plant Pathogen Dataset</a:t>
            </a:r>
            <a:endParaRPr lang="en-US" sz="1600" dirty="0">
              <a:latin typeface="Aptos Display" panose="020B0004020202020204" pitchFamily="34" charset="0"/>
            </a:endParaRPr>
          </a:p>
          <a:p>
            <a:pPr marL="285750" indent="-285750" algn="l">
              <a:lnSpc>
                <a:spcPct val="119000"/>
              </a:lnSpc>
              <a:buSzPct val="100000"/>
              <a:buFont typeface="Wingdings" panose="05000000000000000000" pitchFamily="2" charset="2"/>
              <a:buChar char="§"/>
            </a:pPr>
            <a:r>
              <a:rPr lang="en-US" sz="1600" b="1" u="sng" dirty="0">
                <a:solidFill>
                  <a:srgbClr val="438951"/>
                </a:solidFill>
                <a:latin typeface="Aptos Display" panose="020B0004020202020204" pitchFamily="34" charset="0"/>
                <a:ea typeface="Instrument Sans" pitchFamily="34" charset="-122"/>
                <a:cs typeface="Instrument Sans" pitchFamily="34" charset="-120"/>
                <a:hlinkClick r:id="rId3">
                  <a:extLst>
                    <a:ext uri="{A12FA001-AC4F-418D-AE19-62706E023703}">
                      <ahyp:hlinkClr xmlns:ahyp="http://schemas.microsoft.com/office/drawing/2018/hyperlinkcolor" val="tx"/>
                    </a:ext>
                  </a:extLst>
                </a:hlinkClick>
              </a:rPr>
              <a:t>https://www.kaggle.com/datasets/kanishk3813/pathogen-dataset</a:t>
            </a:r>
            <a:endParaRPr lang="en-US" sz="1600" dirty="0">
              <a:latin typeface="Aptos Display" panose="020B0004020202020204" pitchFamily="34" charset="0"/>
            </a:endParaRPr>
          </a:p>
        </p:txBody>
      </p:sp>
      <p:sp>
        <p:nvSpPr>
          <p:cNvPr id="4" name="Shape 2"/>
          <p:cNvSpPr/>
          <p:nvPr/>
        </p:nvSpPr>
        <p:spPr>
          <a:xfrm>
            <a:off x="612561" y="3199606"/>
            <a:ext cx="2602145" cy="2550815"/>
          </a:xfrm>
          <a:prstGeom prst="roundRect">
            <a:avLst>
              <a:gd name="adj" fmla="val 10504"/>
            </a:avLst>
          </a:prstGeom>
          <a:solidFill>
            <a:srgbClr val="D1E7D2"/>
          </a:solidFill>
          <a:ln/>
        </p:spPr>
        <p:txBody>
          <a:bodyPr/>
          <a:lstStyle/>
          <a:p>
            <a:endParaRPr lang="en-US"/>
          </a:p>
        </p:txBody>
      </p:sp>
      <p:pic>
        <p:nvPicPr>
          <p:cNvPr id="5" name="Image 0" descr="preencoded.png"/>
          <p:cNvPicPr>
            <a:picLocks noChangeAspect="1"/>
          </p:cNvPicPr>
          <p:nvPr/>
        </p:nvPicPr>
        <p:blipFill>
          <a:blip r:embed="rId4"/>
          <a:stretch>
            <a:fillRect/>
          </a:stretch>
        </p:blipFill>
        <p:spPr>
          <a:xfrm>
            <a:off x="1021630" y="3364409"/>
            <a:ext cx="1784008" cy="1784052"/>
          </a:xfrm>
          <a:prstGeom prst="rect">
            <a:avLst/>
          </a:prstGeom>
        </p:spPr>
      </p:pic>
      <p:sp>
        <p:nvSpPr>
          <p:cNvPr id="6" name="Text 3"/>
          <p:cNvSpPr/>
          <p:nvPr/>
        </p:nvSpPr>
        <p:spPr>
          <a:xfrm>
            <a:off x="493799" y="5313263"/>
            <a:ext cx="2839669" cy="290711"/>
          </a:xfrm>
          <a:prstGeom prst="rect">
            <a:avLst/>
          </a:prstGeom>
          <a:noFill/>
          <a:ln/>
        </p:spPr>
        <p:txBody>
          <a:bodyPr wrap="none" lIns="0" tIns="0" rIns="0" bIns="0" rtlCol="0" anchor="t"/>
          <a:lstStyle/>
          <a:p>
            <a:pPr marL="0" indent="0" algn="ctr">
              <a:lnSpc>
                <a:spcPct val="104000"/>
              </a:lnSpc>
              <a:buNone/>
            </a:pPr>
            <a:r>
              <a:rPr lang="en-US" sz="1800" b="1" dirty="0">
                <a:solidFill>
                  <a:srgbClr val="265834"/>
                </a:solidFill>
                <a:latin typeface="Fraunces ExtraBold" pitchFamily="34" charset="0"/>
                <a:ea typeface="Fraunces ExtraBold" pitchFamily="34" charset="-122"/>
                <a:cs typeface="Fraunces ExtraBold" pitchFamily="34" charset="-120"/>
              </a:rPr>
              <a:t>Bacteria</a:t>
            </a:r>
            <a:endParaRPr lang="en-US" sz="1800" b="1" dirty="0"/>
          </a:p>
        </p:txBody>
      </p:sp>
      <p:sp>
        <p:nvSpPr>
          <p:cNvPr id="7" name="Shape 4"/>
          <p:cNvSpPr/>
          <p:nvPr/>
        </p:nvSpPr>
        <p:spPr>
          <a:xfrm>
            <a:off x="3406987" y="3199606"/>
            <a:ext cx="2602145" cy="2550815"/>
          </a:xfrm>
          <a:prstGeom prst="roundRect">
            <a:avLst>
              <a:gd name="adj" fmla="val 10504"/>
            </a:avLst>
          </a:prstGeom>
          <a:solidFill>
            <a:srgbClr val="D1E7D2"/>
          </a:solidFill>
          <a:ln/>
        </p:spPr>
        <p:txBody>
          <a:bodyPr/>
          <a:lstStyle/>
          <a:p>
            <a:endParaRPr lang="en-US"/>
          </a:p>
        </p:txBody>
      </p:sp>
      <p:pic>
        <p:nvPicPr>
          <p:cNvPr id="8" name="Image 1" descr="preencoded.png"/>
          <p:cNvPicPr>
            <a:picLocks noChangeAspect="1"/>
          </p:cNvPicPr>
          <p:nvPr/>
        </p:nvPicPr>
        <p:blipFill>
          <a:blip r:embed="rId5"/>
          <a:stretch>
            <a:fillRect/>
          </a:stretch>
        </p:blipFill>
        <p:spPr>
          <a:xfrm>
            <a:off x="3816056" y="3364409"/>
            <a:ext cx="1784008" cy="1784052"/>
          </a:xfrm>
          <a:prstGeom prst="rect">
            <a:avLst/>
          </a:prstGeom>
        </p:spPr>
      </p:pic>
      <p:sp>
        <p:nvSpPr>
          <p:cNvPr id="9" name="Text 5"/>
          <p:cNvSpPr/>
          <p:nvPr/>
        </p:nvSpPr>
        <p:spPr>
          <a:xfrm>
            <a:off x="3288226" y="5313263"/>
            <a:ext cx="2839669" cy="290711"/>
          </a:xfrm>
          <a:prstGeom prst="rect">
            <a:avLst/>
          </a:prstGeom>
          <a:noFill/>
          <a:ln/>
        </p:spPr>
        <p:txBody>
          <a:bodyPr wrap="none" lIns="0" tIns="0" rIns="0" bIns="0" rtlCol="0" anchor="t"/>
          <a:lstStyle/>
          <a:p>
            <a:pPr marL="0" indent="0" algn="ctr">
              <a:lnSpc>
                <a:spcPct val="104000"/>
              </a:lnSpc>
              <a:buNone/>
            </a:pPr>
            <a:r>
              <a:rPr lang="en-US" sz="1800" b="1" dirty="0">
                <a:solidFill>
                  <a:srgbClr val="265834"/>
                </a:solidFill>
                <a:latin typeface="Fraunces ExtraBold" pitchFamily="34" charset="0"/>
                <a:ea typeface="Fraunces ExtraBold" pitchFamily="34" charset="-122"/>
                <a:cs typeface="Fraunces ExtraBold" pitchFamily="34" charset="-120"/>
              </a:rPr>
              <a:t>Fungi</a:t>
            </a:r>
            <a:endParaRPr lang="en-US" sz="1800" b="1" dirty="0"/>
          </a:p>
        </p:txBody>
      </p:sp>
      <p:sp>
        <p:nvSpPr>
          <p:cNvPr id="10" name="Shape 6"/>
          <p:cNvSpPr/>
          <p:nvPr/>
        </p:nvSpPr>
        <p:spPr>
          <a:xfrm>
            <a:off x="6201414" y="3199606"/>
            <a:ext cx="2602145" cy="2550815"/>
          </a:xfrm>
          <a:prstGeom prst="roundRect">
            <a:avLst>
              <a:gd name="adj" fmla="val 10504"/>
            </a:avLst>
          </a:prstGeom>
          <a:solidFill>
            <a:srgbClr val="D1E7D2"/>
          </a:solidFill>
          <a:ln/>
        </p:spPr>
        <p:txBody>
          <a:bodyPr/>
          <a:lstStyle/>
          <a:p>
            <a:endParaRPr lang="en-US"/>
          </a:p>
        </p:txBody>
      </p:sp>
      <p:pic>
        <p:nvPicPr>
          <p:cNvPr id="11" name="Image 2" descr="preencoded.png"/>
          <p:cNvPicPr>
            <a:picLocks noChangeAspect="1"/>
          </p:cNvPicPr>
          <p:nvPr/>
        </p:nvPicPr>
        <p:blipFill>
          <a:blip r:embed="rId6"/>
          <a:stretch>
            <a:fillRect/>
          </a:stretch>
        </p:blipFill>
        <p:spPr>
          <a:xfrm>
            <a:off x="6610482" y="3364409"/>
            <a:ext cx="1784008" cy="1784052"/>
          </a:xfrm>
          <a:prstGeom prst="rect">
            <a:avLst/>
          </a:prstGeom>
        </p:spPr>
      </p:pic>
      <p:sp>
        <p:nvSpPr>
          <p:cNvPr id="12" name="Text 7"/>
          <p:cNvSpPr/>
          <p:nvPr/>
        </p:nvSpPr>
        <p:spPr>
          <a:xfrm>
            <a:off x="6082652" y="5313263"/>
            <a:ext cx="2839669" cy="290711"/>
          </a:xfrm>
          <a:prstGeom prst="rect">
            <a:avLst/>
          </a:prstGeom>
          <a:noFill/>
          <a:ln/>
        </p:spPr>
        <p:txBody>
          <a:bodyPr wrap="none" lIns="0" tIns="0" rIns="0" bIns="0" rtlCol="0" anchor="t"/>
          <a:lstStyle/>
          <a:p>
            <a:pPr marL="0" indent="0" algn="ctr">
              <a:lnSpc>
                <a:spcPct val="104000"/>
              </a:lnSpc>
              <a:buNone/>
            </a:pPr>
            <a:r>
              <a:rPr lang="en-US" sz="1800" b="1" dirty="0">
                <a:solidFill>
                  <a:srgbClr val="265834"/>
                </a:solidFill>
                <a:latin typeface="Fraunces ExtraBold" pitchFamily="34" charset="0"/>
                <a:ea typeface="Fraunces ExtraBold" pitchFamily="34" charset="-122"/>
                <a:cs typeface="Fraunces ExtraBold" pitchFamily="34" charset="-120"/>
              </a:rPr>
              <a:t>Pests</a:t>
            </a:r>
            <a:endParaRPr lang="en-US" sz="1800" b="1" dirty="0"/>
          </a:p>
        </p:txBody>
      </p:sp>
      <p:sp>
        <p:nvSpPr>
          <p:cNvPr id="13" name="Shape 8"/>
          <p:cNvSpPr/>
          <p:nvPr/>
        </p:nvSpPr>
        <p:spPr>
          <a:xfrm>
            <a:off x="8995840" y="3199606"/>
            <a:ext cx="2602145" cy="2550815"/>
          </a:xfrm>
          <a:prstGeom prst="roundRect">
            <a:avLst>
              <a:gd name="adj" fmla="val 10504"/>
            </a:avLst>
          </a:prstGeom>
          <a:solidFill>
            <a:srgbClr val="D1E7D2"/>
          </a:solidFill>
          <a:ln/>
        </p:spPr>
        <p:txBody>
          <a:bodyPr/>
          <a:lstStyle/>
          <a:p>
            <a:endParaRPr lang="en-US"/>
          </a:p>
        </p:txBody>
      </p:sp>
      <p:pic>
        <p:nvPicPr>
          <p:cNvPr id="14" name="Image 3" descr="preencoded.png"/>
          <p:cNvPicPr>
            <a:picLocks noChangeAspect="1"/>
          </p:cNvPicPr>
          <p:nvPr/>
        </p:nvPicPr>
        <p:blipFill>
          <a:blip r:embed="rId7"/>
          <a:stretch>
            <a:fillRect/>
          </a:stretch>
        </p:blipFill>
        <p:spPr>
          <a:xfrm>
            <a:off x="9404908" y="3364409"/>
            <a:ext cx="1784008" cy="1784052"/>
          </a:xfrm>
          <a:prstGeom prst="rect">
            <a:avLst/>
          </a:prstGeom>
        </p:spPr>
      </p:pic>
      <p:sp>
        <p:nvSpPr>
          <p:cNvPr id="15" name="Text 9"/>
          <p:cNvSpPr/>
          <p:nvPr/>
        </p:nvSpPr>
        <p:spPr>
          <a:xfrm>
            <a:off x="8877078" y="5313263"/>
            <a:ext cx="2839669" cy="290711"/>
          </a:xfrm>
          <a:prstGeom prst="rect">
            <a:avLst/>
          </a:prstGeom>
          <a:noFill/>
          <a:ln/>
        </p:spPr>
        <p:txBody>
          <a:bodyPr wrap="none" lIns="0" tIns="0" rIns="0" bIns="0" rtlCol="0" anchor="t"/>
          <a:lstStyle/>
          <a:p>
            <a:pPr marL="0" indent="0" algn="ctr">
              <a:lnSpc>
                <a:spcPct val="104000"/>
              </a:lnSpc>
              <a:buNone/>
            </a:pPr>
            <a:r>
              <a:rPr lang="en-US" sz="1800" b="1" dirty="0">
                <a:solidFill>
                  <a:srgbClr val="265834"/>
                </a:solidFill>
                <a:latin typeface="Fraunces ExtraBold" pitchFamily="34" charset="0"/>
                <a:ea typeface="Fraunces ExtraBold" pitchFamily="34" charset="-122"/>
                <a:cs typeface="Fraunces ExtraBold" pitchFamily="34" charset="-120"/>
              </a:rPr>
              <a:t>Virus</a:t>
            </a:r>
            <a:endParaRPr lang="en-US" sz="1800" b="1" dirty="0"/>
          </a:p>
        </p:txBody>
      </p:sp>
      <p:sp>
        <p:nvSpPr>
          <p:cNvPr id="16" name="Text 10"/>
          <p:cNvSpPr/>
          <p:nvPr/>
        </p:nvSpPr>
        <p:spPr>
          <a:xfrm>
            <a:off x="746503" y="5915223"/>
            <a:ext cx="11308273" cy="266005"/>
          </a:xfrm>
          <a:prstGeom prst="rect">
            <a:avLst/>
          </a:prstGeom>
          <a:noFill/>
          <a:ln/>
        </p:spPr>
        <p:txBody>
          <a:bodyPr wrap="none" lIns="0" tIns="0" rIns="0" bIns="0" rtlCol="0" anchor="t"/>
          <a:lstStyle/>
          <a:p>
            <a:pPr marL="0" indent="0" algn="l">
              <a:lnSpc>
                <a:spcPct val="119000"/>
              </a:lnSpc>
              <a:buNone/>
            </a:pP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574" y="1055985"/>
            <a:ext cx="5630325" cy="627559"/>
          </a:xfrm>
          <a:prstGeom prst="rect">
            <a:avLst/>
          </a:prstGeom>
          <a:noFill/>
          <a:ln/>
        </p:spPr>
        <p:txBody>
          <a:bodyPr wrap="none" lIns="0" tIns="0" rIns="0" bIns="0" rtlCol="0" anchor="t"/>
          <a:lstStyle/>
          <a:p>
            <a:pPr marL="0" indent="0" algn="l">
              <a:lnSpc>
                <a:spcPct val="104000"/>
              </a:lnSpc>
              <a:buNone/>
            </a:pPr>
            <a:r>
              <a:rPr lang="en-US" sz="3950" b="1" dirty="0">
                <a:solidFill>
                  <a:srgbClr val="265834"/>
                </a:solidFill>
                <a:latin typeface="Fraunces ExtraBold" pitchFamily="34" charset="0"/>
                <a:ea typeface="Fraunces ExtraBold" pitchFamily="34" charset="-122"/>
                <a:cs typeface="Fraunces ExtraBold" pitchFamily="34" charset="-120"/>
              </a:rPr>
              <a:t>Dataset Validation</a:t>
            </a:r>
            <a:endParaRPr lang="en-US" sz="3950" b="1" dirty="0"/>
          </a:p>
        </p:txBody>
      </p:sp>
      <p:sp>
        <p:nvSpPr>
          <p:cNvPr id="3" name="Shape 1"/>
          <p:cNvSpPr/>
          <p:nvPr/>
        </p:nvSpPr>
        <p:spPr>
          <a:xfrm>
            <a:off x="661574" y="2024955"/>
            <a:ext cx="10868547" cy="3777059"/>
          </a:xfrm>
          <a:prstGeom prst="roundRect">
            <a:avLst>
              <a:gd name="adj" fmla="val 4785"/>
            </a:avLst>
          </a:prstGeom>
          <a:noFill/>
          <a:ln w="6350">
            <a:solidFill>
              <a:srgbClr val="000000">
                <a:alpha val="8000"/>
              </a:srgbClr>
            </a:solidFill>
            <a:prstDash val="solid"/>
          </a:ln>
        </p:spPr>
        <p:txBody>
          <a:bodyPr/>
          <a:lstStyle/>
          <a:p>
            <a:endParaRPr lang="en-US" sz="2400">
              <a:latin typeface="Aptos Display" panose="020B0004020202020204" pitchFamily="34" charset="0"/>
            </a:endParaRPr>
          </a:p>
        </p:txBody>
      </p:sp>
      <p:sp>
        <p:nvSpPr>
          <p:cNvPr id="4" name="Shape 2"/>
          <p:cNvSpPr/>
          <p:nvPr/>
        </p:nvSpPr>
        <p:spPr>
          <a:xfrm>
            <a:off x="667924" y="2031305"/>
            <a:ext cx="10855847" cy="455216"/>
          </a:xfrm>
          <a:prstGeom prst="rect">
            <a:avLst/>
          </a:prstGeom>
          <a:solidFill>
            <a:srgbClr val="FFFFFF">
              <a:alpha val="4000"/>
            </a:srgbClr>
          </a:solidFill>
          <a:ln/>
        </p:spPr>
        <p:txBody>
          <a:bodyPr/>
          <a:lstStyle/>
          <a:p>
            <a:endParaRPr lang="en-US" sz="2400">
              <a:latin typeface="Aptos Display" panose="020B0004020202020204" pitchFamily="34" charset="0"/>
            </a:endParaRPr>
          </a:p>
        </p:txBody>
      </p:sp>
      <p:sp>
        <p:nvSpPr>
          <p:cNvPr id="5" name="Text 3"/>
          <p:cNvSpPr/>
          <p:nvPr/>
        </p:nvSpPr>
        <p:spPr>
          <a:xfrm>
            <a:off x="868936" y="2140049"/>
            <a:ext cx="2241295" cy="237728"/>
          </a:xfrm>
          <a:prstGeom prst="rect">
            <a:avLst/>
          </a:prstGeom>
          <a:noFill/>
          <a:ln/>
        </p:spPr>
        <p:txBody>
          <a:bodyPr wrap="none" lIns="0" tIns="0" rIns="0" bIns="0" rtlCol="0" anchor="t"/>
          <a:lstStyle/>
          <a:p>
            <a:pPr marL="0" indent="0" algn="l">
              <a:lnSpc>
                <a:spcPct val="123000"/>
              </a:lnSpc>
              <a:buNone/>
            </a:pPr>
            <a:r>
              <a:rPr lang="en-US" sz="1600" b="1" dirty="0">
                <a:solidFill>
                  <a:srgbClr val="030303"/>
                </a:solidFill>
                <a:latin typeface="Aptos Display" panose="020B0004020202020204" pitchFamily="34" charset="0"/>
                <a:ea typeface="Instrument Sans" pitchFamily="34" charset="-122"/>
                <a:cs typeface="Instrument Sans" pitchFamily="34" charset="-120"/>
              </a:rPr>
              <a:t>Feature</a:t>
            </a:r>
            <a:endParaRPr lang="en-US" sz="1600" dirty="0">
              <a:latin typeface="Aptos Display" panose="020B0004020202020204" pitchFamily="34" charset="0"/>
            </a:endParaRPr>
          </a:p>
        </p:txBody>
      </p:sp>
      <p:sp>
        <p:nvSpPr>
          <p:cNvPr id="6" name="Text 4"/>
          <p:cNvSpPr/>
          <p:nvPr/>
        </p:nvSpPr>
        <p:spPr>
          <a:xfrm>
            <a:off x="2908624" y="2140049"/>
            <a:ext cx="4611175" cy="237728"/>
          </a:xfrm>
          <a:prstGeom prst="rect">
            <a:avLst/>
          </a:prstGeom>
          <a:noFill/>
          <a:ln/>
        </p:spPr>
        <p:txBody>
          <a:bodyPr wrap="none" lIns="0" tIns="0" rIns="0" bIns="0" rtlCol="0" anchor="t"/>
          <a:lstStyle/>
          <a:p>
            <a:pPr marL="0" indent="0" algn="l">
              <a:lnSpc>
                <a:spcPct val="123000"/>
              </a:lnSpc>
              <a:buNone/>
            </a:pPr>
            <a:r>
              <a:rPr lang="en-US" sz="1600" b="1" dirty="0">
                <a:solidFill>
                  <a:srgbClr val="030303"/>
                </a:solidFill>
                <a:latin typeface="Aptos Display" panose="020B0004020202020204" pitchFamily="34" charset="0"/>
                <a:ea typeface="Instrument Sans" pitchFamily="34" charset="-122"/>
                <a:cs typeface="Instrument Sans" pitchFamily="34" charset="-120"/>
              </a:rPr>
              <a:t>PlantVillage (Traditional Standard)</a:t>
            </a:r>
            <a:endParaRPr lang="en-US" sz="1600" dirty="0">
              <a:latin typeface="Aptos Display" panose="020B0004020202020204" pitchFamily="34" charset="0"/>
            </a:endParaRPr>
          </a:p>
        </p:txBody>
      </p:sp>
      <p:sp>
        <p:nvSpPr>
          <p:cNvPr id="7" name="Text 5"/>
          <p:cNvSpPr/>
          <p:nvPr/>
        </p:nvSpPr>
        <p:spPr>
          <a:xfrm>
            <a:off x="7318192" y="2140049"/>
            <a:ext cx="4614350" cy="237728"/>
          </a:xfrm>
          <a:prstGeom prst="rect">
            <a:avLst/>
          </a:prstGeom>
          <a:noFill/>
          <a:ln/>
        </p:spPr>
        <p:txBody>
          <a:bodyPr wrap="none" lIns="0" tIns="0" rIns="0" bIns="0" rtlCol="0" anchor="t"/>
          <a:lstStyle/>
          <a:p>
            <a:pPr marL="0" indent="0" algn="l">
              <a:lnSpc>
                <a:spcPct val="123000"/>
              </a:lnSpc>
              <a:buNone/>
            </a:pPr>
            <a:r>
              <a:rPr lang="en-US" sz="1600" b="1" dirty="0">
                <a:solidFill>
                  <a:srgbClr val="030303"/>
                </a:solidFill>
                <a:latin typeface="Aptos Display" panose="020B0004020202020204" pitchFamily="34" charset="0"/>
                <a:ea typeface="Instrument Sans" pitchFamily="34" charset="-122"/>
                <a:cs typeface="Instrument Sans" pitchFamily="34" charset="-120"/>
              </a:rPr>
              <a:t>Plant Pathogen (Our Approach)</a:t>
            </a:r>
            <a:endParaRPr lang="en-US" sz="1600" dirty="0">
              <a:latin typeface="Aptos Display" panose="020B0004020202020204" pitchFamily="34" charset="0"/>
            </a:endParaRPr>
          </a:p>
        </p:txBody>
      </p:sp>
      <p:sp>
        <p:nvSpPr>
          <p:cNvPr id="8" name="Shape 6"/>
          <p:cNvSpPr/>
          <p:nvPr/>
        </p:nvSpPr>
        <p:spPr>
          <a:xfrm>
            <a:off x="667924" y="2486521"/>
            <a:ext cx="10855847" cy="692944"/>
          </a:xfrm>
          <a:prstGeom prst="rect">
            <a:avLst/>
          </a:prstGeom>
          <a:solidFill>
            <a:srgbClr val="000000">
              <a:alpha val="4000"/>
            </a:srgbClr>
          </a:solidFill>
          <a:ln/>
        </p:spPr>
        <p:txBody>
          <a:bodyPr/>
          <a:lstStyle/>
          <a:p>
            <a:endParaRPr lang="en-US" sz="2400">
              <a:latin typeface="Aptos Display" panose="020B0004020202020204" pitchFamily="34" charset="0"/>
            </a:endParaRPr>
          </a:p>
        </p:txBody>
      </p:sp>
      <p:sp>
        <p:nvSpPr>
          <p:cNvPr id="9" name="Text 7"/>
          <p:cNvSpPr/>
          <p:nvPr/>
        </p:nvSpPr>
        <p:spPr>
          <a:xfrm>
            <a:off x="868936" y="2595265"/>
            <a:ext cx="2241295" cy="237728"/>
          </a:xfrm>
          <a:prstGeom prst="rect">
            <a:avLst/>
          </a:prstGeom>
          <a:noFill/>
          <a:ln/>
        </p:spPr>
        <p:txBody>
          <a:bodyPr wrap="none" lIns="0" tIns="0" rIns="0" bIns="0" rtlCol="0" anchor="t"/>
          <a:lstStyle/>
          <a:p>
            <a:pPr marL="0" indent="0" algn="l">
              <a:lnSpc>
                <a:spcPct val="123000"/>
              </a:lnSpc>
              <a:buNone/>
            </a:pPr>
            <a:r>
              <a:rPr lang="en-US" sz="1600" b="1" dirty="0">
                <a:solidFill>
                  <a:srgbClr val="030303"/>
                </a:solidFill>
                <a:latin typeface="Aptos Display" panose="020B0004020202020204" pitchFamily="34" charset="0"/>
                <a:ea typeface="Instrument Sans" pitchFamily="34" charset="-122"/>
                <a:cs typeface="Instrument Sans" pitchFamily="34" charset="-120"/>
              </a:rPr>
              <a:t>Classification Logic</a:t>
            </a:r>
            <a:endParaRPr lang="en-US" sz="1600" dirty="0">
              <a:latin typeface="Aptos Display" panose="020B0004020202020204" pitchFamily="34" charset="0"/>
            </a:endParaRPr>
          </a:p>
        </p:txBody>
      </p:sp>
      <p:sp>
        <p:nvSpPr>
          <p:cNvPr id="10" name="Text 8"/>
          <p:cNvSpPr/>
          <p:nvPr/>
        </p:nvSpPr>
        <p:spPr>
          <a:xfrm>
            <a:off x="2908624" y="2595265"/>
            <a:ext cx="4001591" cy="475456"/>
          </a:xfrm>
          <a:prstGeom prst="rect">
            <a:avLst/>
          </a:prstGeom>
          <a:noFill/>
          <a:ln/>
        </p:spPr>
        <p:txBody>
          <a:bodyPr wrap="square" lIns="0" tIns="0" rIns="0" bIns="0" rtlCol="0" anchor="t">
            <a:noAutofit/>
          </a:bodyPr>
          <a:lstStyle/>
          <a:p>
            <a:pPr marL="0" indent="0" algn="l">
              <a:lnSpc>
                <a:spcPct val="123000"/>
              </a:lnSpc>
              <a:buNone/>
            </a:pPr>
            <a:r>
              <a:rPr lang="en-US" sz="1600" dirty="0">
                <a:solidFill>
                  <a:srgbClr val="030303"/>
                </a:solidFill>
                <a:latin typeface="Aptos Display" panose="020B0004020202020204" pitchFamily="34" charset="0"/>
                <a:ea typeface="Instrument Sans" pitchFamily="34" charset="-122"/>
                <a:cs typeface="Instrument Sans" pitchFamily="34" charset="-120"/>
              </a:rPr>
              <a:t>Crop-centric, labeled by plant species and disease type</a:t>
            </a:r>
            <a:endParaRPr lang="en-US" sz="1600" dirty="0">
              <a:latin typeface="Aptos Display" panose="020B0004020202020204" pitchFamily="34" charset="0"/>
            </a:endParaRPr>
          </a:p>
        </p:txBody>
      </p:sp>
      <p:sp>
        <p:nvSpPr>
          <p:cNvPr id="11" name="Text 9"/>
          <p:cNvSpPr/>
          <p:nvPr/>
        </p:nvSpPr>
        <p:spPr>
          <a:xfrm>
            <a:off x="7318192" y="2595265"/>
            <a:ext cx="4004765" cy="475456"/>
          </a:xfrm>
          <a:prstGeom prst="rect">
            <a:avLst/>
          </a:prstGeom>
          <a:noFill/>
          <a:ln/>
        </p:spPr>
        <p:txBody>
          <a:bodyPr wrap="square" lIns="0" tIns="0" rIns="0" bIns="0" rtlCol="0" anchor="t">
            <a:noAutofit/>
          </a:bodyPr>
          <a:lstStyle/>
          <a:p>
            <a:pPr marL="0" indent="0" algn="l">
              <a:lnSpc>
                <a:spcPct val="123000"/>
              </a:lnSpc>
              <a:buNone/>
            </a:pPr>
            <a:r>
              <a:rPr lang="en-US" sz="1600" dirty="0">
                <a:solidFill>
                  <a:srgbClr val="030303"/>
                </a:solidFill>
                <a:latin typeface="Aptos Display" panose="020B0004020202020204" pitchFamily="34" charset="0"/>
                <a:ea typeface="Instrument Sans" pitchFamily="34" charset="-122"/>
                <a:cs typeface="Instrument Sans" pitchFamily="34" charset="-120"/>
              </a:rPr>
              <a:t>Pathogen-centric, labeled by the disease-causing agent</a:t>
            </a:r>
            <a:endParaRPr lang="en-US" sz="1600" dirty="0">
              <a:latin typeface="Aptos Display" panose="020B0004020202020204" pitchFamily="34" charset="0"/>
            </a:endParaRPr>
          </a:p>
        </p:txBody>
      </p:sp>
      <p:sp>
        <p:nvSpPr>
          <p:cNvPr id="12" name="Shape 10"/>
          <p:cNvSpPr/>
          <p:nvPr/>
        </p:nvSpPr>
        <p:spPr>
          <a:xfrm>
            <a:off x="667924" y="3179465"/>
            <a:ext cx="10855847" cy="455216"/>
          </a:xfrm>
          <a:prstGeom prst="rect">
            <a:avLst/>
          </a:prstGeom>
          <a:solidFill>
            <a:srgbClr val="FFFFFF">
              <a:alpha val="4000"/>
            </a:srgbClr>
          </a:solidFill>
          <a:ln/>
        </p:spPr>
        <p:txBody>
          <a:bodyPr/>
          <a:lstStyle/>
          <a:p>
            <a:endParaRPr lang="en-US" sz="2400">
              <a:latin typeface="Aptos Display" panose="020B0004020202020204" pitchFamily="34" charset="0"/>
            </a:endParaRPr>
          </a:p>
        </p:txBody>
      </p:sp>
      <p:sp>
        <p:nvSpPr>
          <p:cNvPr id="13" name="Text 11"/>
          <p:cNvSpPr/>
          <p:nvPr/>
        </p:nvSpPr>
        <p:spPr>
          <a:xfrm>
            <a:off x="868936" y="3288209"/>
            <a:ext cx="2241295" cy="237728"/>
          </a:xfrm>
          <a:prstGeom prst="rect">
            <a:avLst/>
          </a:prstGeom>
          <a:noFill/>
          <a:ln/>
        </p:spPr>
        <p:txBody>
          <a:bodyPr wrap="none" lIns="0" tIns="0" rIns="0" bIns="0" rtlCol="0" anchor="t"/>
          <a:lstStyle/>
          <a:p>
            <a:pPr marL="0" indent="0" algn="l">
              <a:lnSpc>
                <a:spcPct val="123000"/>
              </a:lnSpc>
              <a:buNone/>
            </a:pPr>
            <a:r>
              <a:rPr lang="en-US" sz="1600" b="1" dirty="0">
                <a:solidFill>
                  <a:srgbClr val="030303"/>
                </a:solidFill>
                <a:latin typeface="Aptos Display" panose="020B0004020202020204" pitchFamily="34" charset="0"/>
                <a:ea typeface="Instrument Sans" pitchFamily="34" charset="-122"/>
                <a:cs typeface="Instrument Sans" pitchFamily="34" charset="-120"/>
              </a:rPr>
              <a:t>Class Balance</a:t>
            </a:r>
            <a:endParaRPr lang="en-US" sz="1600" dirty="0">
              <a:latin typeface="Aptos Display" panose="020B0004020202020204" pitchFamily="34" charset="0"/>
            </a:endParaRPr>
          </a:p>
        </p:txBody>
      </p:sp>
      <p:sp>
        <p:nvSpPr>
          <p:cNvPr id="14" name="Text 12"/>
          <p:cNvSpPr/>
          <p:nvPr/>
        </p:nvSpPr>
        <p:spPr>
          <a:xfrm>
            <a:off x="2908624" y="3288208"/>
            <a:ext cx="3383275" cy="340121"/>
          </a:xfrm>
          <a:prstGeom prst="rect">
            <a:avLst/>
          </a:prstGeom>
          <a:noFill/>
          <a:ln/>
        </p:spPr>
        <p:txBody>
          <a:bodyPr wrap="none" lIns="0" tIns="0" rIns="0" bIns="0" rtlCol="0" anchor="t"/>
          <a:lstStyle/>
          <a:p>
            <a:pPr marL="0" indent="0" algn="l">
              <a:lnSpc>
                <a:spcPct val="123000"/>
              </a:lnSpc>
              <a:buNone/>
            </a:pPr>
            <a:r>
              <a:rPr lang="en-US" sz="1600" dirty="0">
                <a:solidFill>
                  <a:srgbClr val="030303"/>
                </a:solidFill>
                <a:latin typeface="Aptos Display" panose="020B0004020202020204" pitchFamily="34" charset="0"/>
                <a:ea typeface="Instrument Sans" pitchFamily="34" charset="-122"/>
                <a:cs typeface="Instrument Sans" pitchFamily="34" charset="-120"/>
              </a:rPr>
              <a:t>Often imbalanced across crops and disease classes</a:t>
            </a:r>
            <a:endParaRPr lang="en-US" sz="1600" dirty="0">
              <a:latin typeface="Aptos Display" panose="020B0004020202020204" pitchFamily="34" charset="0"/>
            </a:endParaRPr>
          </a:p>
        </p:txBody>
      </p:sp>
      <p:sp>
        <p:nvSpPr>
          <p:cNvPr id="15" name="Text 13"/>
          <p:cNvSpPr/>
          <p:nvPr/>
        </p:nvSpPr>
        <p:spPr>
          <a:xfrm>
            <a:off x="7318192" y="3288209"/>
            <a:ext cx="4614350" cy="237728"/>
          </a:xfrm>
          <a:prstGeom prst="rect">
            <a:avLst/>
          </a:prstGeom>
          <a:noFill/>
          <a:ln/>
        </p:spPr>
        <p:txBody>
          <a:bodyPr wrap="none" lIns="0" tIns="0" rIns="0" bIns="0" rtlCol="0" anchor="t"/>
          <a:lstStyle/>
          <a:p>
            <a:pPr marL="0" indent="0" algn="l">
              <a:lnSpc>
                <a:spcPct val="123000"/>
              </a:lnSpc>
              <a:buNone/>
            </a:pPr>
            <a:r>
              <a:rPr lang="en-US" sz="1600" dirty="0">
                <a:solidFill>
                  <a:srgbClr val="030303"/>
                </a:solidFill>
                <a:latin typeface="Aptos Display" panose="020B0004020202020204" pitchFamily="34" charset="0"/>
                <a:ea typeface="Instrument Sans" pitchFamily="34" charset="-122"/>
                <a:cs typeface="Instrument Sans" pitchFamily="34" charset="-120"/>
              </a:rPr>
              <a:t>Balanced universal classes with equal representation</a:t>
            </a:r>
            <a:endParaRPr lang="en-US" sz="1600" dirty="0">
              <a:latin typeface="Aptos Display" panose="020B0004020202020204" pitchFamily="34" charset="0"/>
            </a:endParaRPr>
          </a:p>
        </p:txBody>
      </p:sp>
      <p:sp>
        <p:nvSpPr>
          <p:cNvPr id="16" name="Shape 14"/>
          <p:cNvSpPr/>
          <p:nvPr/>
        </p:nvSpPr>
        <p:spPr>
          <a:xfrm>
            <a:off x="667924" y="3634680"/>
            <a:ext cx="10855847" cy="455216"/>
          </a:xfrm>
          <a:prstGeom prst="rect">
            <a:avLst/>
          </a:prstGeom>
          <a:solidFill>
            <a:srgbClr val="000000">
              <a:alpha val="4000"/>
            </a:srgbClr>
          </a:solidFill>
          <a:ln/>
        </p:spPr>
        <p:txBody>
          <a:bodyPr/>
          <a:lstStyle/>
          <a:p>
            <a:endParaRPr lang="en-US" sz="2400">
              <a:latin typeface="Aptos Display" panose="020B0004020202020204" pitchFamily="34" charset="0"/>
            </a:endParaRPr>
          </a:p>
        </p:txBody>
      </p:sp>
      <p:sp>
        <p:nvSpPr>
          <p:cNvPr id="17" name="Text 15"/>
          <p:cNvSpPr/>
          <p:nvPr/>
        </p:nvSpPr>
        <p:spPr>
          <a:xfrm>
            <a:off x="868936" y="3743424"/>
            <a:ext cx="2241295" cy="237728"/>
          </a:xfrm>
          <a:prstGeom prst="rect">
            <a:avLst/>
          </a:prstGeom>
          <a:noFill/>
          <a:ln/>
        </p:spPr>
        <p:txBody>
          <a:bodyPr wrap="none" lIns="0" tIns="0" rIns="0" bIns="0" rtlCol="0" anchor="t"/>
          <a:lstStyle/>
          <a:p>
            <a:pPr marL="0" indent="0" algn="l">
              <a:lnSpc>
                <a:spcPct val="123000"/>
              </a:lnSpc>
              <a:buNone/>
            </a:pPr>
            <a:r>
              <a:rPr lang="en-US" sz="1600" b="1" dirty="0">
                <a:solidFill>
                  <a:srgbClr val="030303"/>
                </a:solidFill>
                <a:latin typeface="Aptos Display" panose="020B0004020202020204" pitchFamily="34" charset="0"/>
                <a:ea typeface="Instrument Sans" pitchFamily="34" charset="-122"/>
                <a:cs typeface="Instrument Sans" pitchFamily="34" charset="-120"/>
              </a:rPr>
              <a:t>Target Scope</a:t>
            </a:r>
            <a:endParaRPr lang="en-US" sz="1600" dirty="0">
              <a:latin typeface="Aptos Display" panose="020B0004020202020204" pitchFamily="34" charset="0"/>
            </a:endParaRPr>
          </a:p>
        </p:txBody>
      </p:sp>
      <p:sp>
        <p:nvSpPr>
          <p:cNvPr id="18" name="Text 16"/>
          <p:cNvSpPr/>
          <p:nvPr/>
        </p:nvSpPr>
        <p:spPr>
          <a:xfrm>
            <a:off x="2908624" y="3743424"/>
            <a:ext cx="4611175" cy="237728"/>
          </a:xfrm>
          <a:prstGeom prst="rect">
            <a:avLst/>
          </a:prstGeom>
          <a:noFill/>
          <a:ln/>
        </p:spPr>
        <p:txBody>
          <a:bodyPr wrap="none" lIns="0" tIns="0" rIns="0" bIns="0" rtlCol="0" anchor="t"/>
          <a:lstStyle/>
          <a:p>
            <a:pPr marL="0" indent="0" algn="l">
              <a:lnSpc>
                <a:spcPct val="123000"/>
              </a:lnSpc>
              <a:buNone/>
            </a:pPr>
            <a:r>
              <a:rPr lang="en-US" sz="1600" dirty="0">
                <a:solidFill>
                  <a:srgbClr val="030303"/>
                </a:solidFill>
                <a:latin typeface="Aptos Display" panose="020B0004020202020204" pitchFamily="34" charset="0"/>
                <a:ea typeface="Instrument Sans" pitchFamily="34" charset="-122"/>
                <a:cs typeface="Instrument Sans" pitchFamily="34" charset="-120"/>
              </a:rPr>
              <a:t>Specific Crops (Agriculture Focus)</a:t>
            </a:r>
            <a:endParaRPr lang="en-US" sz="1600" dirty="0">
              <a:latin typeface="Aptos Display" panose="020B0004020202020204" pitchFamily="34" charset="0"/>
            </a:endParaRPr>
          </a:p>
        </p:txBody>
      </p:sp>
      <p:sp>
        <p:nvSpPr>
          <p:cNvPr id="19" name="Text 17"/>
          <p:cNvSpPr/>
          <p:nvPr/>
        </p:nvSpPr>
        <p:spPr>
          <a:xfrm>
            <a:off x="7318192" y="3743424"/>
            <a:ext cx="4614350" cy="237728"/>
          </a:xfrm>
          <a:prstGeom prst="rect">
            <a:avLst/>
          </a:prstGeom>
          <a:noFill/>
          <a:ln/>
        </p:spPr>
        <p:txBody>
          <a:bodyPr wrap="none" lIns="0" tIns="0" rIns="0" bIns="0" rtlCol="0" anchor="t"/>
          <a:lstStyle/>
          <a:p>
            <a:pPr marL="0" indent="0" algn="l">
              <a:lnSpc>
                <a:spcPct val="123000"/>
              </a:lnSpc>
              <a:buNone/>
            </a:pPr>
            <a:r>
              <a:rPr lang="en-US" sz="1600" dirty="0">
                <a:solidFill>
                  <a:srgbClr val="030303"/>
                </a:solidFill>
                <a:latin typeface="Aptos Display" panose="020B0004020202020204" pitchFamily="34" charset="0"/>
                <a:ea typeface="Instrument Sans" pitchFamily="34" charset="-122"/>
                <a:cs typeface="Instrument Sans" pitchFamily="34" charset="-120"/>
              </a:rPr>
              <a:t>Universal/Ornamental (Home Gardening Focus)</a:t>
            </a:r>
            <a:endParaRPr lang="en-US" sz="1600" dirty="0">
              <a:latin typeface="Aptos Display" panose="020B0004020202020204" pitchFamily="34" charset="0"/>
            </a:endParaRPr>
          </a:p>
        </p:txBody>
      </p:sp>
      <p:sp>
        <p:nvSpPr>
          <p:cNvPr id="20" name="Shape 18"/>
          <p:cNvSpPr/>
          <p:nvPr/>
        </p:nvSpPr>
        <p:spPr>
          <a:xfrm>
            <a:off x="667924" y="4089896"/>
            <a:ext cx="10855847" cy="455216"/>
          </a:xfrm>
          <a:prstGeom prst="rect">
            <a:avLst/>
          </a:prstGeom>
          <a:solidFill>
            <a:srgbClr val="FFFFFF">
              <a:alpha val="4000"/>
            </a:srgbClr>
          </a:solidFill>
          <a:ln/>
        </p:spPr>
        <p:txBody>
          <a:bodyPr/>
          <a:lstStyle/>
          <a:p>
            <a:endParaRPr lang="en-US" sz="2400">
              <a:latin typeface="Aptos Display" panose="020B0004020202020204" pitchFamily="34" charset="0"/>
            </a:endParaRPr>
          </a:p>
        </p:txBody>
      </p:sp>
      <p:sp>
        <p:nvSpPr>
          <p:cNvPr id="21" name="Text 19"/>
          <p:cNvSpPr/>
          <p:nvPr/>
        </p:nvSpPr>
        <p:spPr>
          <a:xfrm>
            <a:off x="868936" y="4198640"/>
            <a:ext cx="2241295" cy="237728"/>
          </a:xfrm>
          <a:prstGeom prst="rect">
            <a:avLst/>
          </a:prstGeom>
          <a:noFill/>
          <a:ln/>
        </p:spPr>
        <p:txBody>
          <a:bodyPr wrap="none" lIns="0" tIns="0" rIns="0" bIns="0" rtlCol="0" anchor="t"/>
          <a:lstStyle/>
          <a:p>
            <a:pPr marL="0" indent="0" algn="l">
              <a:lnSpc>
                <a:spcPct val="123000"/>
              </a:lnSpc>
              <a:buNone/>
            </a:pPr>
            <a:r>
              <a:rPr lang="en-US" sz="1600" b="1" dirty="0">
                <a:solidFill>
                  <a:srgbClr val="030303"/>
                </a:solidFill>
                <a:latin typeface="Aptos Display" panose="020B0004020202020204" pitchFamily="34" charset="0"/>
                <a:ea typeface="Instrument Sans" pitchFamily="34" charset="-122"/>
                <a:cs typeface="Instrument Sans" pitchFamily="34" charset="-120"/>
              </a:rPr>
              <a:t>Diversity</a:t>
            </a:r>
            <a:endParaRPr lang="en-US" sz="1600" dirty="0">
              <a:latin typeface="Aptos Display" panose="020B0004020202020204" pitchFamily="34" charset="0"/>
            </a:endParaRPr>
          </a:p>
        </p:txBody>
      </p:sp>
      <p:sp>
        <p:nvSpPr>
          <p:cNvPr id="22" name="Text 20"/>
          <p:cNvSpPr/>
          <p:nvPr/>
        </p:nvSpPr>
        <p:spPr>
          <a:xfrm>
            <a:off x="2908624" y="4198640"/>
            <a:ext cx="4611175" cy="237728"/>
          </a:xfrm>
          <a:prstGeom prst="rect">
            <a:avLst/>
          </a:prstGeom>
          <a:noFill/>
          <a:ln/>
        </p:spPr>
        <p:txBody>
          <a:bodyPr wrap="none" lIns="0" tIns="0" rIns="0" bIns="0" rtlCol="0" anchor="t"/>
          <a:lstStyle/>
          <a:p>
            <a:pPr marL="0" indent="0" algn="l">
              <a:lnSpc>
                <a:spcPct val="123000"/>
              </a:lnSpc>
              <a:buNone/>
            </a:pPr>
            <a:r>
              <a:rPr lang="en-US" sz="1600" dirty="0">
                <a:solidFill>
                  <a:srgbClr val="030303"/>
                </a:solidFill>
                <a:latin typeface="Aptos Display" panose="020B0004020202020204" pitchFamily="34" charset="0"/>
                <a:ea typeface="Instrument Sans" pitchFamily="34" charset="-122"/>
                <a:cs typeface="Instrument Sans" pitchFamily="34" charset="-120"/>
              </a:rPr>
              <a:t>Limited variation within a crop-specific dataset</a:t>
            </a:r>
            <a:endParaRPr lang="en-US" sz="1600" dirty="0">
              <a:latin typeface="Aptos Display" panose="020B0004020202020204" pitchFamily="34" charset="0"/>
            </a:endParaRPr>
          </a:p>
        </p:txBody>
      </p:sp>
      <p:sp>
        <p:nvSpPr>
          <p:cNvPr id="23" name="Text 21"/>
          <p:cNvSpPr/>
          <p:nvPr/>
        </p:nvSpPr>
        <p:spPr>
          <a:xfrm>
            <a:off x="7318192" y="4198640"/>
            <a:ext cx="4614350" cy="237728"/>
          </a:xfrm>
          <a:prstGeom prst="rect">
            <a:avLst/>
          </a:prstGeom>
          <a:noFill/>
          <a:ln/>
        </p:spPr>
        <p:txBody>
          <a:bodyPr wrap="none" lIns="0" tIns="0" rIns="0" bIns="0" rtlCol="0" anchor="t"/>
          <a:lstStyle/>
          <a:p>
            <a:pPr marL="0" indent="0" algn="l">
              <a:lnSpc>
                <a:spcPct val="123000"/>
              </a:lnSpc>
              <a:buNone/>
            </a:pPr>
            <a:r>
              <a:rPr lang="en-US" sz="1600" dirty="0">
                <a:solidFill>
                  <a:srgbClr val="030303"/>
                </a:solidFill>
                <a:latin typeface="Aptos Display" panose="020B0004020202020204" pitchFamily="34" charset="0"/>
                <a:ea typeface="Instrument Sans" pitchFamily="34" charset="-122"/>
                <a:cs typeface="Instrument Sans" pitchFamily="34" charset="-120"/>
              </a:rPr>
              <a:t>Broader visual diversity across pathogen categories</a:t>
            </a:r>
            <a:endParaRPr lang="en-US" sz="1600" dirty="0">
              <a:latin typeface="Aptos Display" panose="020B0004020202020204" pitchFamily="34" charset="0"/>
            </a:endParaRPr>
          </a:p>
        </p:txBody>
      </p:sp>
      <p:sp>
        <p:nvSpPr>
          <p:cNvPr id="24" name="Shape 22"/>
          <p:cNvSpPr/>
          <p:nvPr/>
        </p:nvSpPr>
        <p:spPr>
          <a:xfrm>
            <a:off x="667924" y="4545112"/>
            <a:ext cx="10855847" cy="795337"/>
          </a:xfrm>
          <a:prstGeom prst="rect">
            <a:avLst/>
          </a:prstGeom>
          <a:solidFill>
            <a:srgbClr val="000000">
              <a:alpha val="4000"/>
            </a:srgbClr>
          </a:solidFill>
          <a:ln/>
        </p:spPr>
        <p:txBody>
          <a:bodyPr/>
          <a:lstStyle/>
          <a:p>
            <a:endParaRPr lang="en-US" sz="2400">
              <a:latin typeface="Aptos Display" panose="020B0004020202020204" pitchFamily="34" charset="0"/>
            </a:endParaRPr>
          </a:p>
        </p:txBody>
      </p:sp>
      <p:sp>
        <p:nvSpPr>
          <p:cNvPr id="25" name="Text 23"/>
          <p:cNvSpPr/>
          <p:nvPr/>
        </p:nvSpPr>
        <p:spPr>
          <a:xfrm>
            <a:off x="868936" y="4653855"/>
            <a:ext cx="2241295" cy="237728"/>
          </a:xfrm>
          <a:prstGeom prst="rect">
            <a:avLst/>
          </a:prstGeom>
          <a:noFill/>
          <a:ln/>
        </p:spPr>
        <p:txBody>
          <a:bodyPr wrap="none" lIns="0" tIns="0" rIns="0" bIns="0" rtlCol="0" anchor="t"/>
          <a:lstStyle/>
          <a:p>
            <a:pPr marL="0" indent="0" algn="l">
              <a:lnSpc>
                <a:spcPct val="123000"/>
              </a:lnSpc>
              <a:buNone/>
            </a:pPr>
            <a:r>
              <a:rPr lang="en-US" sz="1600" b="1" dirty="0">
                <a:solidFill>
                  <a:srgbClr val="030303"/>
                </a:solidFill>
                <a:latin typeface="Aptos Display" panose="020B0004020202020204" pitchFamily="34" charset="0"/>
                <a:ea typeface="Instrument Sans" pitchFamily="34" charset="-122"/>
                <a:cs typeface="Instrument Sans" pitchFamily="34" charset="-120"/>
              </a:rPr>
              <a:t>Total Size</a:t>
            </a:r>
            <a:endParaRPr lang="en-US" sz="1600" dirty="0">
              <a:latin typeface="Aptos Display" panose="020B0004020202020204" pitchFamily="34" charset="0"/>
            </a:endParaRPr>
          </a:p>
        </p:txBody>
      </p:sp>
      <p:sp>
        <p:nvSpPr>
          <p:cNvPr id="26" name="Text 24"/>
          <p:cNvSpPr/>
          <p:nvPr/>
        </p:nvSpPr>
        <p:spPr>
          <a:xfrm>
            <a:off x="2908624" y="4653855"/>
            <a:ext cx="4001591" cy="577850"/>
          </a:xfrm>
          <a:prstGeom prst="rect">
            <a:avLst/>
          </a:prstGeom>
          <a:noFill/>
          <a:ln/>
        </p:spPr>
        <p:txBody>
          <a:bodyPr wrap="square" lIns="0" tIns="0" rIns="0" bIns="0" rtlCol="0" anchor="t"/>
          <a:lstStyle/>
          <a:p>
            <a:pPr marL="0" indent="0" algn="l">
              <a:lnSpc>
                <a:spcPct val="123000"/>
              </a:lnSpc>
              <a:spcAft>
                <a:spcPts val="800"/>
              </a:spcAft>
              <a:buNone/>
            </a:pPr>
            <a:r>
              <a:rPr lang="en-US" sz="1600" dirty="0">
                <a:solidFill>
                  <a:srgbClr val="030303"/>
                </a:solidFill>
                <a:latin typeface="Aptos Display" panose="020B0004020202020204" pitchFamily="34" charset="0"/>
                <a:ea typeface="Instrument Sans" pitchFamily="34" charset="-122"/>
                <a:cs typeface="Instrument Sans" pitchFamily="34" charset="-120"/>
              </a:rPr>
              <a:t>~54,000 Images (38 Classes)</a:t>
            </a:r>
            <a:endParaRPr lang="en-US" sz="1600" dirty="0">
              <a:latin typeface="Aptos Display" panose="020B0004020202020204" pitchFamily="34" charset="0"/>
            </a:endParaRPr>
          </a:p>
          <a:p>
            <a:pPr marL="0" indent="0" algn="l">
              <a:lnSpc>
                <a:spcPct val="123000"/>
              </a:lnSpc>
              <a:buNone/>
            </a:pPr>
            <a:r>
              <a:rPr lang="en-US" sz="1600" dirty="0">
                <a:solidFill>
                  <a:srgbClr val="030303"/>
                </a:solidFill>
                <a:latin typeface="Aptos Display" panose="020B0004020202020204" pitchFamily="34" charset="0"/>
                <a:ea typeface="Instrument Sans" pitchFamily="34" charset="-122"/>
                <a:cs typeface="Instrument Sans" pitchFamily="34" charset="-120"/>
              </a:rPr>
              <a:t>Varies by crop and disease distribution</a:t>
            </a:r>
            <a:endParaRPr lang="en-US" sz="1600" dirty="0">
              <a:latin typeface="Aptos Display" panose="020B0004020202020204" pitchFamily="34" charset="0"/>
            </a:endParaRPr>
          </a:p>
        </p:txBody>
      </p:sp>
      <p:sp>
        <p:nvSpPr>
          <p:cNvPr id="27" name="Text 25"/>
          <p:cNvSpPr/>
          <p:nvPr/>
        </p:nvSpPr>
        <p:spPr>
          <a:xfrm>
            <a:off x="7318192" y="4653855"/>
            <a:ext cx="4614350" cy="237728"/>
          </a:xfrm>
          <a:prstGeom prst="rect">
            <a:avLst/>
          </a:prstGeom>
          <a:noFill/>
          <a:ln/>
        </p:spPr>
        <p:txBody>
          <a:bodyPr wrap="none" lIns="0" tIns="0" rIns="0" bIns="0" rtlCol="0" anchor="t"/>
          <a:lstStyle/>
          <a:p>
            <a:pPr marL="0" indent="0" algn="l">
              <a:lnSpc>
                <a:spcPct val="123000"/>
              </a:lnSpc>
              <a:buNone/>
            </a:pPr>
            <a:r>
              <a:rPr lang="en-US" sz="1600" dirty="0">
                <a:solidFill>
                  <a:srgbClr val="030303"/>
                </a:solidFill>
                <a:latin typeface="Aptos Display" panose="020B0004020202020204" pitchFamily="34" charset="0"/>
                <a:ea typeface="Instrument Sans" pitchFamily="34" charset="-122"/>
                <a:cs typeface="Instrument Sans" pitchFamily="34" charset="-120"/>
              </a:rPr>
              <a:t>40K images total, 8K per class</a:t>
            </a:r>
            <a:endParaRPr lang="en-US" sz="1600" dirty="0">
              <a:latin typeface="Aptos Display" panose="020B0004020202020204" pitchFamily="34" charset="0"/>
            </a:endParaRPr>
          </a:p>
        </p:txBody>
      </p:sp>
      <p:sp>
        <p:nvSpPr>
          <p:cNvPr id="28" name="Shape 26"/>
          <p:cNvSpPr/>
          <p:nvPr/>
        </p:nvSpPr>
        <p:spPr>
          <a:xfrm>
            <a:off x="667924" y="5340449"/>
            <a:ext cx="10855847" cy="455216"/>
          </a:xfrm>
          <a:prstGeom prst="rect">
            <a:avLst/>
          </a:prstGeom>
          <a:solidFill>
            <a:srgbClr val="FFFFFF">
              <a:alpha val="4000"/>
            </a:srgbClr>
          </a:solidFill>
          <a:ln/>
        </p:spPr>
        <p:txBody>
          <a:bodyPr/>
          <a:lstStyle/>
          <a:p>
            <a:endParaRPr lang="en-US" sz="2400">
              <a:latin typeface="Aptos Display" panose="020B0004020202020204" pitchFamily="34" charset="0"/>
            </a:endParaRPr>
          </a:p>
        </p:txBody>
      </p:sp>
      <p:sp>
        <p:nvSpPr>
          <p:cNvPr id="29" name="Text 27"/>
          <p:cNvSpPr/>
          <p:nvPr/>
        </p:nvSpPr>
        <p:spPr>
          <a:xfrm>
            <a:off x="868936" y="5449193"/>
            <a:ext cx="2241295" cy="237728"/>
          </a:xfrm>
          <a:prstGeom prst="rect">
            <a:avLst/>
          </a:prstGeom>
          <a:noFill/>
          <a:ln/>
        </p:spPr>
        <p:txBody>
          <a:bodyPr wrap="none" lIns="0" tIns="0" rIns="0" bIns="0" rtlCol="0" anchor="t"/>
          <a:lstStyle/>
          <a:p>
            <a:pPr marL="0" indent="0" algn="l">
              <a:lnSpc>
                <a:spcPct val="123000"/>
              </a:lnSpc>
              <a:buNone/>
            </a:pPr>
            <a:r>
              <a:rPr lang="en-US" sz="1600" b="1" dirty="0">
                <a:solidFill>
                  <a:srgbClr val="030303"/>
                </a:solidFill>
                <a:latin typeface="Aptos Display" panose="020B0004020202020204" pitchFamily="34" charset="0"/>
                <a:ea typeface="Instrument Sans" pitchFamily="34" charset="-122"/>
                <a:cs typeface="Instrument Sans" pitchFamily="34" charset="-120"/>
              </a:rPr>
              <a:t>Generalization</a:t>
            </a:r>
            <a:endParaRPr lang="en-US" sz="1600" dirty="0">
              <a:latin typeface="Aptos Display" panose="020B0004020202020204" pitchFamily="34" charset="0"/>
            </a:endParaRPr>
          </a:p>
        </p:txBody>
      </p:sp>
      <p:sp>
        <p:nvSpPr>
          <p:cNvPr id="30" name="Text 28"/>
          <p:cNvSpPr/>
          <p:nvPr/>
        </p:nvSpPr>
        <p:spPr>
          <a:xfrm>
            <a:off x="2908624" y="5449193"/>
            <a:ext cx="4611175" cy="237728"/>
          </a:xfrm>
          <a:prstGeom prst="rect">
            <a:avLst/>
          </a:prstGeom>
          <a:noFill/>
          <a:ln/>
        </p:spPr>
        <p:txBody>
          <a:bodyPr wrap="none" lIns="0" tIns="0" rIns="0" bIns="0" rtlCol="0" anchor="t"/>
          <a:lstStyle/>
          <a:p>
            <a:pPr marL="0" indent="0" algn="l">
              <a:lnSpc>
                <a:spcPct val="123000"/>
              </a:lnSpc>
              <a:buNone/>
            </a:pPr>
            <a:r>
              <a:rPr lang="en-US" sz="1600" dirty="0">
                <a:solidFill>
                  <a:srgbClr val="030303"/>
                </a:solidFill>
                <a:latin typeface="Aptos Display" panose="020B0004020202020204" pitchFamily="34" charset="0"/>
                <a:ea typeface="Instrument Sans" pitchFamily="34" charset="-122"/>
                <a:cs typeface="Instrument Sans" pitchFamily="34" charset="-120"/>
              </a:rPr>
              <a:t>Lower transferability to unseen crops</a:t>
            </a:r>
            <a:endParaRPr lang="en-US" sz="1600" dirty="0">
              <a:latin typeface="Aptos Display" panose="020B0004020202020204" pitchFamily="34" charset="0"/>
            </a:endParaRPr>
          </a:p>
        </p:txBody>
      </p:sp>
      <p:sp>
        <p:nvSpPr>
          <p:cNvPr id="31" name="Text 29"/>
          <p:cNvSpPr/>
          <p:nvPr/>
        </p:nvSpPr>
        <p:spPr>
          <a:xfrm>
            <a:off x="7318192" y="5449193"/>
            <a:ext cx="4614350" cy="237728"/>
          </a:xfrm>
          <a:prstGeom prst="rect">
            <a:avLst/>
          </a:prstGeom>
          <a:noFill/>
          <a:ln/>
        </p:spPr>
        <p:txBody>
          <a:bodyPr wrap="none" lIns="0" tIns="0" rIns="0" bIns="0" rtlCol="0" anchor="t"/>
          <a:lstStyle/>
          <a:p>
            <a:pPr marL="0" indent="0" algn="l">
              <a:lnSpc>
                <a:spcPct val="123000"/>
              </a:lnSpc>
              <a:buNone/>
            </a:pPr>
            <a:r>
              <a:rPr lang="en-US" sz="1600" dirty="0">
                <a:solidFill>
                  <a:srgbClr val="030303"/>
                </a:solidFill>
                <a:latin typeface="Aptos Display" panose="020B0004020202020204" pitchFamily="34" charset="0"/>
                <a:ea typeface="Instrument Sans" pitchFamily="34" charset="-122"/>
                <a:cs typeface="Instrument Sans" pitchFamily="34" charset="-120"/>
              </a:rPr>
              <a:t>Stronger cross-crop generalization</a:t>
            </a:r>
            <a:endParaRPr lang="en-US" sz="1600" dirty="0">
              <a:latin typeface="Aptos Display" panose="020B00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574" y="780157"/>
            <a:ext cx="6136625" cy="553740"/>
          </a:xfrm>
          <a:prstGeom prst="rect">
            <a:avLst/>
          </a:prstGeom>
          <a:noFill/>
          <a:ln/>
        </p:spPr>
        <p:txBody>
          <a:bodyPr wrap="none" lIns="0" tIns="0" rIns="0" bIns="0" rtlCol="0" anchor="t"/>
          <a:lstStyle/>
          <a:p>
            <a:pPr marL="0" indent="0" algn="l">
              <a:lnSpc>
                <a:spcPct val="104000"/>
              </a:lnSpc>
              <a:buNone/>
            </a:pPr>
            <a:r>
              <a:rPr lang="en-US" sz="3450" b="1" dirty="0">
                <a:solidFill>
                  <a:srgbClr val="265834"/>
                </a:solidFill>
                <a:latin typeface="Fraunces ExtraBold" pitchFamily="34" charset="0"/>
                <a:ea typeface="Fraunces ExtraBold" pitchFamily="34" charset="-122"/>
                <a:cs typeface="Fraunces ExtraBold" pitchFamily="34" charset="-120"/>
              </a:rPr>
              <a:t>Data Processing Pipeline</a:t>
            </a:r>
            <a:endParaRPr lang="en-US" sz="3450" b="1" dirty="0"/>
          </a:p>
        </p:txBody>
      </p:sp>
      <p:sp>
        <p:nvSpPr>
          <p:cNvPr id="3" name="Shape 1"/>
          <p:cNvSpPr/>
          <p:nvPr/>
        </p:nvSpPr>
        <p:spPr>
          <a:xfrm>
            <a:off x="661574" y="4297065"/>
            <a:ext cx="10868547" cy="19050"/>
          </a:xfrm>
          <a:prstGeom prst="roundRect">
            <a:avLst>
              <a:gd name="adj" fmla="val 837187"/>
            </a:avLst>
          </a:prstGeom>
          <a:solidFill>
            <a:srgbClr val="CED9CE"/>
          </a:solidFill>
          <a:ln/>
        </p:spPr>
        <p:txBody>
          <a:bodyPr/>
          <a:lstStyle/>
          <a:p>
            <a:endParaRPr lang="en-US"/>
          </a:p>
        </p:txBody>
      </p:sp>
      <p:sp>
        <p:nvSpPr>
          <p:cNvPr id="4" name="Shape 2"/>
          <p:cNvSpPr/>
          <p:nvPr/>
        </p:nvSpPr>
        <p:spPr>
          <a:xfrm>
            <a:off x="2775873" y="3765451"/>
            <a:ext cx="19050" cy="531614"/>
          </a:xfrm>
          <a:prstGeom prst="roundRect">
            <a:avLst>
              <a:gd name="adj" fmla="val 837187"/>
            </a:avLst>
          </a:prstGeom>
          <a:solidFill>
            <a:srgbClr val="CED9CE"/>
          </a:solidFill>
          <a:ln/>
        </p:spPr>
        <p:txBody>
          <a:bodyPr/>
          <a:lstStyle/>
          <a:p>
            <a:endParaRPr lang="en-US"/>
          </a:p>
        </p:txBody>
      </p:sp>
      <p:sp>
        <p:nvSpPr>
          <p:cNvPr id="5" name="Shape 3"/>
          <p:cNvSpPr/>
          <p:nvPr/>
        </p:nvSpPr>
        <p:spPr>
          <a:xfrm>
            <a:off x="2586072" y="4097734"/>
            <a:ext cx="398651" cy="398661"/>
          </a:xfrm>
          <a:prstGeom prst="roundRect">
            <a:avLst>
              <a:gd name="adj" fmla="val 40006"/>
            </a:avLst>
          </a:prstGeom>
          <a:solidFill>
            <a:srgbClr val="E8F3E8"/>
          </a:solidFill>
          <a:ln/>
        </p:spPr>
        <p:txBody>
          <a:bodyPr/>
          <a:lstStyle/>
          <a:p>
            <a:endParaRPr lang="en-US"/>
          </a:p>
        </p:txBody>
      </p:sp>
      <p:sp>
        <p:nvSpPr>
          <p:cNvPr id="6" name="Text 4"/>
          <p:cNvSpPr/>
          <p:nvPr/>
        </p:nvSpPr>
        <p:spPr>
          <a:xfrm>
            <a:off x="2652497" y="4130973"/>
            <a:ext cx="265800" cy="332184"/>
          </a:xfrm>
          <a:prstGeom prst="rect">
            <a:avLst/>
          </a:prstGeom>
          <a:noFill/>
          <a:ln/>
        </p:spPr>
        <p:txBody>
          <a:bodyPr wrap="none" lIns="0" tIns="0" rIns="0" bIns="0" rtlCol="0" anchor="ctr"/>
          <a:lstStyle/>
          <a:p>
            <a:pPr marL="0" indent="0" algn="ctr">
              <a:lnSpc>
                <a:spcPct val="100000"/>
              </a:lnSpc>
              <a:buNone/>
            </a:pPr>
            <a:r>
              <a:rPr lang="en-US" sz="2050" dirty="0">
                <a:solidFill>
                  <a:srgbClr val="030303"/>
                </a:solidFill>
                <a:latin typeface="Fraunces ExtraBold" pitchFamily="34" charset="0"/>
                <a:ea typeface="Fraunces ExtraBold" pitchFamily="34" charset="-122"/>
                <a:cs typeface="Fraunces ExtraBold" pitchFamily="34" charset="-120"/>
              </a:rPr>
              <a:t>1</a:t>
            </a:r>
            <a:endParaRPr lang="en-US" sz="2050" dirty="0"/>
          </a:p>
        </p:txBody>
      </p:sp>
      <p:sp>
        <p:nvSpPr>
          <p:cNvPr id="7" name="Text 5"/>
          <p:cNvSpPr/>
          <p:nvPr/>
        </p:nvSpPr>
        <p:spPr>
          <a:xfrm>
            <a:off x="848250" y="2273755"/>
            <a:ext cx="3893346" cy="823813"/>
          </a:xfrm>
          <a:prstGeom prst="rect">
            <a:avLst/>
          </a:prstGeom>
          <a:noFill/>
          <a:ln/>
        </p:spPr>
        <p:txBody>
          <a:bodyPr wrap="square" lIns="0" tIns="0" rIns="0" bIns="0" rtlCol="0" anchor="t"/>
          <a:lstStyle/>
          <a:p>
            <a:pPr marL="0" indent="0" algn="ctr">
              <a:lnSpc>
                <a:spcPct val="117000"/>
              </a:lnSpc>
              <a:spcAft>
                <a:spcPts val="600"/>
              </a:spcAft>
              <a:buNone/>
            </a:pPr>
            <a:r>
              <a:rPr lang="en-US" b="1" dirty="0">
                <a:solidFill>
                  <a:srgbClr val="030303"/>
                </a:solidFill>
                <a:latin typeface="Aptos Display" panose="020B0004020202020204" pitchFamily="34" charset="0"/>
                <a:ea typeface="Instrument Sans" pitchFamily="34" charset="-122"/>
                <a:cs typeface="Instrument Sans" pitchFamily="34" charset="-120"/>
              </a:rPr>
              <a:t>Dataset split </a:t>
            </a:r>
            <a:endParaRPr lang="en-US" dirty="0">
              <a:latin typeface="Aptos Display" panose="020B0004020202020204" pitchFamily="34" charset="0"/>
            </a:endParaRPr>
          </a:p>
          <a:p>
            <a:pPr marL="0" indent="0" algn="ctr">
              <a:lnSpc>
                <a:spcPct val="117000"/>
              </a:lnSpc>
              <a:buNone/>
            </a:pPr>
            <a:r>
              <a:rPr lang="en-US" dirty="0">
                <a:solidFill>
                  <a:srgbClr val="272525"/>
                </a:solidFill>
                <a:latin typeface="Aptos Display" panose="020B0004020202020204" pitchFamily="34" charset="0"/>
                <a:ea typeface="Instrument Sans" pitchFamily="34" charset="-122"/>
                <a:cs typeface="Instrument Sans" pitchFamily="34" charset="-120"/>
              </a:rPr>
              <a:t>Split into train (80%), validation (10%), test (10%) sets using DataFrame partitioning .</a:t>
            </a:r>
            <a:endParaRPr lang="en-US" dirty="0">
              <a:latin typeface="Aptos Display" panose="020B0004020202020204" pitchFamily="34" charset="0"/>
            </a:endParaRPr>
          </a:p>
        </p:txBody>
      </p:sp>
      <p:sp>
        <p:nvSpPr>
          <p:cNvPr id="8" name="Shape 6"/>
          <p:cNvSpPr/>
          <p:nvPr/>
        </p:nvSpPr>
        <p:spPr>
          <a:xfrm>
            <a:off x="4982740" y="4297065"/>
            <a:ext cx="19050" cy="531614"/>
          </a:xfrm>
          <a:prstGeom prst="roundRect">
            <a:avLst>
              <a:gd name="adj" fmla="val 837187"/>
            </a:avLst>
          </a:prstGeom>
          <a:solidFill>
            <a:srgbClr val="CED9CE"/>
          </a:solidFill>
          <a:ln/>
        </p:spPr>
        <p:txBody>
          <a:bodyPr/>
          <a:lstStyle/>
          <a:p>
            <a:endParaRPr lang="en-US"/>
          </a:p>
        </p:txBody>
      </p:sp>
      <p:sp>
        <p:nvSpPr>
          <p:cNvPr id="9" name="Shape 7"/>
          <p:cNvSpPr/>
          <p:nvPr/>
        </p:nvSpPr>
        <p:spPr>
          <a:xfrm>
            <a:off x="4792939" y="4097734"/>
            <a:ext cx="398651" cy="398661"/>
          </a:xfrm>
          <a:prstGeom prst="roundRect">
            <a:avLst>
              <a:gd name="adj" fmla="val 40006"/>
            </a:avLst>
          </a:prstGeom>
          <a:solidFill>
            <a:srgbClr val="E8F3E8"/>
          </a:solidFill>
          <a:ln/>
        </p:spPr>
        <p:txBody>
          <a:bodyPr/>
          <a:lstStyle/>
          <a:p>
            <a:endParaRPr lang="en-US"/>
          </a:p>
        </p:txBody>
      </p:sp>
      <p:sp>
        <p:nvSpPr>
          <p:cNvPr id="10" name="Text 8"/>
          <p:cNvSpPr/>
          <p:nvPr/>
        </p:nvSpPr>
        <p:spPr>
          <a:xfrm>
            <a:off x="4859365" y="4130973"/>
            <a:ext cx="265800" cy="332184"/>
          </a:xfrm>
          <a:prstGeom prst="rect">
            <a:avLst/>
          </a:prstGeom>
          <a:noFill/>
          <a:ln/>
        </p:spPr>
        <p:txBody>
          <a:bodyPr wrap="none" lIns="0" tIns="0" rIns="0" bIns="0" rtlCol="0" anchor="ctr"/>
          <a:lstStyle/>
          <a:p>
            <a:pPr marL="0" indent="0" algn="ctr">
              <a:lnSpc>
                <a:spcPct val="100000"/>
              </a:lnSpc>
              <a:buNone/>
            </a:pPr>
            <a:r>
              <a:rPr lang="en-US" sz="2050" dirty="0">
                <a:solidFill>
                  <a:srgbClr val="030303"/>
                </a:solidFill>
                <a:latin typeface="Fraunces ExtraBold" pitchFamily="34" charset="0"/>
                <a:ea typeface="Fraunces ExtraBold" pitchFamily="34" charset="-122"/>
                <a:cs typeface="Fraunces ExtraBold" pitchFamily="34" charset="-120"/>
              </a:rPr>
              <a:t>2</a:t>
            </a:r>
            <a:endParaRPr lang="en-US" sz="2050" dirty="0"/>
          </a:p>
        </p:txBody>
      </p:sp>
      <p:sp>
        <p:nvSpPr>
          <p:cNvPr id="11" name="Text 9"/>
          <p:cNvSpPr/>
          <p:nvPr/>
        </p:nvSpPr>
        <p:spPr>
          <a:xfrm>
            <a:off x="3045642" y="5005884"/>
            <a:ext cx="3893346" cy="1071860"/>
          </a:xfrm>
          <a:prstGeom prst="rect">
            <a:avLst/>
          </a:prstGeom>
          <a:noFill/>
          <a:ln/>
        </p:spPr>
        <p:txBody>
          <a:bodyPr wrap="square" lIns="0" tIns="0" rIns="0" bIns="0" rtlCol="0" anchor="t"/>
          <a:lstStyle/>
          <a:p>
            <a:pPr marL="0" indent="0" algn="ctr">
              <a:lnSpc>
                <a:spcPct val="117000"/>
              </a:lnSpc>
              <a:spcAft>
                <a:spcPts val="600"/>
              </a:spcAft>
              <a:buNone/>
            </a:pPr>
            <a:r>
              <a:rPr lang="en-US" b="1" dirty="0">
                <a:solidFill>
                  <a:srgbClr val="030303"/>
                </a:solidFill>
                <a:latin typeface="Aptos Display" panose="020B0004020202020204" pitchFamily="34" charset="0"/>
                <a:ea typeface="Instrument Sans" pitchFamily="34" charset="-122"/>
                <a:cs typeface="Instrument Sans" pitchFamily="34" charset="-120"/>
              </a:rPr>
              <a:t>Normalization</a:t>
            </a:r>
            <a:endParaRPr lang="en-US" dirty="0">
              <a:latin typeface="Aptos Display" panose="020B0004020202020204" pitchFamily="34" charset="0"/>
            </a:endParaRPr>
          </a:p>
          <a:p>
            <a:pPr marL="0" indent="0" algn="ctr">
              <a:lnSpc>
                <a:spcPct val="11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Pixel values were scaled to the </a:t>
            </a:r>
            <a:r>
              <a:rPr lang="en-US" b="1" dirty="0">
                <a:solidFill>
                  <a:srgbClr val="030303"/>
                </a:solidFill>
                <a:latin typeface="Aptos Display" panose="020B0004020202020204" pitchFamily="34" charset="0"/>
                <a:ea typeface="Instrument Sans" pitchFamily="34" charset="-122"/>
                <a:cs typeface="Instrument Sans" pitchFamily="34" charset="-120"/>
              </a:rPr>
              <a:t>[-1, 1]</a:t>
            </a:r>
            <a:r>
              <a:rPr lang="en-US" dirty="0">
                <a:solidFill>
                  <a:srgbClr val="030303"/>
                </a:solidFill>
                <a:latin typeface="Aptos Display" panose="020B0004020202020204" pitchFamily="34" charset="0"/>
                <a:ea typeface="Instrument Sans" pitchFamily="34" charset="-122"/>
                <a:cs typeface="Instrument Sans" pitchFamily="34" charset="-120"/>
              </a:rPr>
              <a:t> range (for MobileNetV2) to accelerate gradient descent convergence.</a:t>
            </a:r>
            <a:endParaRPr lang="en-US" dirty="0">
              <a:latin typeface="Aptos Display" panose="020B0004020202020204" pitchFamily="34" charset="0"/>
            </a:endParaRPr>
          </a:p>
        </p:txBody>
      </p:sp>
      <p:sp>
        <p:nvSpPr>
          <p:cNvPr id="12" name="Shape 10"/>
          <p:cNvSpPr/>
          <p:nvPr/>
        </p:nvSpPr>
        <p:spPr>
          <a:xfrm>
            <a:off x="7189707" y="3765451"/>
            <a:ext cx="19050" cy="531614"/>
          </a:xfrm>
          <a:prstGeom prst="roundRect">
            <a:avLst>
              <a:gd name="adj" fmla="val 837187"/>
            </a:avLst>
          </a:prstGeom>
          <a:solidFill>
            <a:srgbClr val="CED9CE"/>
          </a:solidFill>
          <a:ln/>
        </p:spPr>
        <p:txBody>
          <a:bodyPr/>
          <a:lstStyle/>
          <a:p>
            <a:endParaRPr lang="en-US"/>
          </a:p>
        </p:txBody>
      </p:sp>
      <p:sp>
        <p:nvSpPr>
          <p:cNvPr id="13" name="Shape 11"/>
          <p:cNvSpPr/>
          <p:nvPr/>
        </p:nvSpPr>
        <p:spPr>
          <a:xfrm>
            <a:off x="6999906" y="4097734"/>
            <a:ext cx="398651" cy="398661"/>
          </a:xfrm>
          <a:prstGeom prst="roundRect">
            <a:avLst>
              <a:gd name="adj" fmla="val 40006"/>
            </a:avLst>
          </a:prstGeom>
          <a:solidFill>
            <a:srgbClr val="E8F3E8"/>
          </a:solidFill>
          <a:ln/>
        </p:spPr>
        <p:txBody>
          <a:bodyPr/>
          <a:lstStyle/>
          <a:p>
            <a:endParaRPr lang="en-US"/>
          </a:p>
        </p:txBody>
      </p:sp>
      <p:sp>
        <p:nvSpPr>
          <p:cNvPr id="14" name="Text 12"/>
          <p:cNvSpPr/>
          <p:nvPr/>
        </p:nvSpPr>
        <p:spPr>
          <a:xfrm>
            <a:off x="7066331" y="4130973"/>
            <a:ext cx="265800" cy="332184"/>
          </a:xfrm>
          <a:prstGeom prst="rect">
            <a:avLst/>
          </a:prstGeom>
          <a:noFill/>
          <a:ln/>
        </p:spPr>
        <p:txBody>
          <a:bodyPr wrap="none" lIns="0" tIns="0" rIns="0" bIns="0" rtlCol="0" anchor="ctr"/>
          <a:lstStyle/>
          <a:p>
            <a:pPr marL="0" indent="0" algn="ctr">
              <a:lnSpc>
                <a:spcPct val="100000"/>
              </a:lnSpc>
              <a:buNone/>
            </a:pPr>
            <a:r>
              <a:rPr lang="en-US" sz="2050" dirty="0">
                <a:solidFill>
                  <a:srgbClr val="030303"/>
                </a:solidFill>
                <a:latin typeface="Fraunces ExtraBold" pitchFamily="34" charset="0"/>
                <a:ea typeface="Fraunces ExtraBold" pitchFamily="34" charset="-122"/>
                <a:cs typeface="Fraunces ExtraBold" pitchFamily="34" charset="-120"/>
              </a:rPr>
              <a:t>3</a:t>
            </a:r>
            <a:endParaRPr lang="en-US" sz="2050" dirty="0"/>
          </a:p>
        </p:txBody>
      </p:sp>
      <p:sp>
        <p:nvSpPr>
          <p:cNvPr id="15" name="Text 13"/>
          <p:cNvSpPr/>
          <p:nvPr/>
        </p:nvSpPr>
        <p:spPr>
          <a:xfrm>
            <a:off x="5379853" y="1454696"/>
            <a:ext cx="3893346" cy="1071860"/>
          </a:xfrm>
          <a:prstGeom prst="rect">
            <a:avLst/>
          </a:prstGeom>
          <a:noFill/>
          <a:ln/>
        </p:spPr>
        <p:txBody>
          <a:bodyPr wrap="square" lIns="0" tIns="0" rIns="0" bIns="0" rtlCol="0" anchor="t"/>
          <a:lstStyle/>
          <a:p>
            <a:pPr marL="0" indent="0" algn="ctr">
              <a:lnSpc>
                <a:spcPct val="117000"/>
              </a:lnSpc>
              <a:spcAft>
                <a:spcPts val="600"/>
              </a:spcAft>
              <a:buNone/>
            </a:pPr>
            <a:r>
              <a:rPr lang="en-US" b="1" dirty="0">
                <a:solidFill>
                  <a:srgbClr val="030303"/>
                </a:solidFill>
                <a:latin typeface="Aptos Display" panose="020B0004020202020204" pitchFamily="34" charset="0"/>
                <a:ea typeface="Instrument Sans" pitchFamily="34" charset="-122"/>
                <a:cs typeface="Instrument Sans" pitchFamily="34" charset="-120"/>
              </a:rPr>
              <a:t>Augmentation Engine</a:t>
            </a:r>
            <a:endParaRPr lang="en-US" dirty="0">
              <a:latin typeface="Aptos Display" panose="020B0004020202020204" pitchFamily="34" charset="0"/>
            </a:endParaRPr>
          </a:p>
          <a:p>
            <a:pPr marL="0" indent="0" algn="ctr">
              <a:lnSpc>
                <a:spcPct val="11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To prevent the model from "memorizing" clean lab images, we applied aggressive random transformations during training:</a:t>
            </a:r>
            <a:endParaRPr lang="en-US" dirty="0">
              <a:latin typeface="Aptos Display" panose="020B0004020202020204" pitchFamily="34" charset="0"/>
            </a:endParaRPr>
          </a:p>
        </p:txBody>
      </p:sp>
      <p:sp>
        <p:nvSpPr>
          <p:cNvPr id="16" name="Text 14"/>
          <p:cNvSpPr/>
          <p:nvPr/>
        </p:nvSpPr>
        <p:spPr>
          <a:xfrm>
            <a:off x="5877632" y="2858840"/>
            <a:ext cx="3893346" cy="837009"/>
          </a:xfrm>
          <a:prstGeom prst="rect">
            <a:avLst/>
          </a:prstGeom>
          <a:noFill/>
          <a:ln/>
        </p:spPr>
        <p:txBody>
          <a:bodyPr wrap="square" lIns="0" tIns="0" rIns="0" bIns="0" rtlCol="0" anchor="t">
            <a:normAutofit fontScale="92500" lnSpcReduction="10000"/>
          </a:bodyPr>
          <a:lstStyle/>
          <a:p>
            <a:pPr marL="685800" lvl="1" indent="-342900" algn="l">
              <a:lnSpc>
                <a:spcPct val="117000"/>
              </a:lnSpc>
              <a:buSzPct val="100000"/>
              <a:buChar char="◦"/>
            </a:pPr>
            <a:r>
              <a:rPr lang="en-US" dirty="0">
                <a:solidFill>
                  <a:srgbClr val="030303"/>
                </a:solidFill>
                <a:latin typeface="Aptos Display" panose="020B0004020202020204" pitchFamily="34" charset="0"/>
                <a:ea typeface="Instrument Sans" pitchFamily="34" charset="-122"/>
                <a:cs typeface="Instrument Sans" pitchFamily="34" charset="-120"/>
              </a:rPr>
              <a:t>Rotation &amp; Zoom</a:t>
            </a:r>
            <a:endParaRPr lang="en-US" dirty="0">
              <a:latin typeface="Aptos Display" panose="020B0004020202020204" pitchFamily="34" charset="0"/>
            </a:endParaRPr>
          </a:p>
          <a:p>
            <a:pPr marL="685800" lvl="1" indent="-342900" algn="l">
              <a:lnSpc>
                <a:spcPct val="117000"/>
              </a:lnSpc>
              <a:buSzPct val="100000"/>
              <a:buChar char="◦"/>
            </a:pPr>
            <a:r>
              <a:rPr lang="en-US" dirty="0">
                <a:solidFill>
                  <a:srgbClr val="030303"/>
                </a:solidFill>
                <a:latin typeface="Aptos Display" panose="020B0004020202020204" pitchFamily="34" charset="0"/>
                <a:ea typeface="Instrument Sans" pitchFamily="34" charset="-122"/>
                <a:cs typeface="Instrument Sans" pitchFamily="34" charset="-120"/>
              </a:rPr>
              <a:t>Horizontal Flips</a:t>
            </a:r>
            <a:endParaRPr lang="en-US" dirty="0">
              <a:latin typeface="Aptos Display" panose="020B0004020202020204" pitchFamily="34" charset="0"/>
            </a:endParaRPr>
          </a:p>
          <a:p>
            <a:pPr marL="685800" lvl="1" indent="-342900" algn="l">
              <a:lnSpc>
                <a:spcPct val="117000"/>
              </a:lnSpc>
              <a:buSzPct val="100000"/>
              <a:buChar char="◦"/>
            </a:pPr>
            <a:r>
              <a:rPr lang="en-US" dirty="0">
                <a:solidFill>
                  <a:srgbClr val="030303"/>
                </a:solidFill>
                <a:latin typeface="Aptos Display" panose="020B0004020202020204" pitchFamily="34" charset="0"/>
                <a:ea typeface="Instrument Sans" pitchFamily="34" charset="-122"/>
                <a:cs typeface="Instrument Sans" pitchFamily="34" charset="-120"/>
              </a:rPr>
              <a:t>Brightness Adjustments</a:t>
            </a:r>
            <a:endParaRPr lang="en-US" dirty="0">
              <a:latin typeface="Aptos Display" panose="020B0004020202020204" pitchFamily="34" charset="0"/>
            </a:endParaRPr>
          </a:p>
        </p:txBody>
      </p:sp>
      <p:sp>
        <p:nvSpPr>
          <p:cNvPr id="17" name="Shape 15"/>
          <p:cNvSpPr/>
          <p:nvPr/>
        </p:nvSpPr>
        <p:spPr>
          <a:xfrm>
            <a:off x="9396574" y="4297065"/>
            <a:ext cx="19050" cy="531614"/>
          </a:xfrm>
          <a:prstGeom prst="roundRect">
            <a:avLst>
              <a:gd name="adj" fmla="val 837187"/>
            </a:avLst>
          </a:prstGeom>
          <a:solidFill>
            <a:srgbClr val="CED9CE"/>
          </a:solidFill>
          <a:ln/>
        </p:spPr>
        <p:txBody>
          <a:bodyPr/>
          <a:lstStyle/>
          <a:p>
            <a:endParaRPr lang="en-US"/>
          </a:p>
        </p:txBody>
      </p:sp>
      <p:sp>
        <p:nvSpPr>
          <p:cNvPr id="18" name="Shape 16"/>
          <p:cNvSpPr/>
          <p:nvPr/>
        </p:nvSpPr>
        <p:spPr>
          <a:xfrm>
            <a:off x="9206774" y="4097734"/>
            <a:ext cx="398651" cy="398661"/>
          </a:xfrm>
          <a:prstGeom prst="roundRect">
            <a:avLst>
              <a:gd name="adj" fmla="val 40006"/>
            </a:avLst>
          </a:prstGeom>
          <a:solidFill>
            <a:srgbClr val="E8F3E8"/>
          </a:solidFill>
          <a:ln/>
        </p:spPr>
        <p:txBody>
          <a:bodyPr/>
          <a:lstStyle/>
          <a:p>
            <a:endParaRPr lang="en-US"/>
          </a:p>
        </p:txBody>
      </p:sp>
      <p:sp>
        <p:nvSpPr>
          <p:cNvPr id="19" name="Text 17"/>
          <p:cNvSpPr/>
          <p:nvPr/>
        </p:nvSpPr>
        <p:spPr>
          <a:xfrm>
            <a:off x="9273199" y="4130973"/>
            <a:ext cx="265800" cy="332184"/>
          </a:xfrm>
          <a:prstGeom prst="rect">
            <a:avLst/>
          </a:prstGeom>
          <a:noFill/>
          <a:ln/>
        </p:spPr>
        <p:txBody>
          <a:bodyPr wrap="none" lIns="0" tIns="0" rIns="0" bIns="0" rtlCol="0" anchor="ctr"/>
          <a:lstStyle/>
          <a:p>
            <a:pPr marL="0" indent="0" algn="ctr">
              <a:lnSpc>
                <a:spcPct val="100000"/>
              </a:lnSpc>
              <a:buNone/>
            </a:pPr>
            <a:r>
              <a:rPr lang="en-US" sz="2050" dirty="0">
                <a:solidFill>
                  <a:srgbClr val="030303"/>
                </a:solidFill>
                <a:latin typeface="Fraunces ExtraBold" pitchFamily="34" charset="0"/>
                <a:ea typeface="Fraunces ExtraBold" pitchFamily="34" charset="-122"/>
                <a:cs typeface="Fraunces ExtraBold" pitchFamily="34" charset="-120"/>
              </a:rPr>
              <a:t>4</a:t>
            </a:r>
            <a:endParaRPr lang="en-US" sz="2050" dirty="0"/>
          </a:p>
        </p:txBody>
      </p:sp>
      <p:sp>
        <p:nvSpPr>
          <p:cNvPr id="20" name="Text 18"/>
          <p:cNvSpPr/>
          <p:nvPr/>
        </p:nvSpPr>
        <p:spPr>
          <a:xfrm>
            <a:off x="7459476" y="5005884"/>
            <a:ext cx="3893346" cy="1071860"/>
          </a:xfrm>
          <a:prstGeom prst="rect">
            <a:avLst/>
          </a:prstGeom>
          <a:noFill/>
          <a:ln/>
        </p:spPr>
        <p:txBody>
          <a:bodyPr wrap="square" lIns="0" tIns="0" rIns="0" bIns="0" rtlCol="0" anchor="t"/>
          <a:lstStyle/>
          <a:p>
            <a:pPr marL="0" indent="0" algn="ctr">
              <a:lnSpc>
                <a:spcPct val="117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Input Shape:</a:t>
            </a:r>
            <a:r>
              <a:rPr lang="en-US" dirty="0">
                <a:solidFill>
                  <a:srgbClr val="030303"/>
                </a:solidFill>
                <a:latin typeface="Aptos Display" panose="020B0004020202020204" pitchFamily="34" charset="0"/>
                <a:ea typeface="Instrument Sans" pitchFamily="34" charset="-122"/>
                <a:cs typeface="Instrument Sans" pitchFamily="34" charset="-120"/>
              </a:rPr>
              <a:t> </a:t>
            </a:r>
            <a:endParaRPr lang="en-US" dirty="0">
              <a:latin typeface="Aptos Display" panose="020B0004020202020204" pitchFamily="34" charset="0"/>
            </a:endParaRPr>
          </a:p>
          <a:p>
            <a:pPr marL="0" indent="0" algn="ctr">
              <a:lnSpc>
                <a:spcPct val="11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All images were resized to </a:t>
            </a:r>
            <a:r>
              <a:rPr lang="en-US" b="1" dirty="0">
                <a:solidFill>
                  <a:srgbClr val="030303"/>
                </a:solidFill>
                <a:latin typeface="Aptos Display" panose="020B0004020202020204" pitchFamily="34" charset="0"/>
                <a:ea typeface="Instrument Sans" pitchFamily="34" charset="-122"/>
                <a:cs typeface="Instrument Sans" pitchFamily="34" charset="-120"/>
              </a:rPr>
              <a:t>224x224 pixels</a:t>
            </a:r>
            <a:r>
              <a:rPr lang="en-US" dirty="0">
                <a:solidFill>
                  <a:srgbClr val="030303"/>
                </a:solidFill>
                <a:latin typeface="Aptos Display" panose="020B0004020202020204" pitchFamily="34" charset="0"/>
                <a:ea typeface="Instrument Sans" pitchFamily="34" charset="-122"/>
                <a:cs typeface="Instrument Sans" pitchFamily="34" charset="-120"/>
              </a:rPr>
              <a:t> to match the input requirements of standard pre-trained architectures</a:t>
            </a:r>
            <a:endParaRPr lang="en-US" dirty="0">
              <a:latin typeface="Aptos Display" panose="020B00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574" y="847626"/>
            <a:ext cx="5936010" cy="664468"/>
          </a:xfrm>
          <a:prstGeom prst="rect">
            <a:avLst/>
          </a:prstGeom>
          <a:noFill/>
          <a:ln/>
        </p:spPr>
        <p:txBody>
          <a:bodyPr wrap="none" lIns="0" tIns="0" rIns="0" bIns="0" rtlCol="0" anchor="t"/>
          <a:lstStyle/>
          <a:p>
            <a:pPr marL="0" indent="0" algn="l">
              <a:lnSpc>
                <a:spcPct val="104000"/>
              </a:lnSpc>
              <a:buNone/>
            </a:pPr>
            <a:r>
              <a:rPr lang="en-US" sz="4150" b="1" dirty="0">
                <a:solidFill>
                  <a:srgbClr val="265834"/>
                </a:solidFill>
                <a:latin typeface="Fraunces ExtraBold" pitchFamily="34" charset="0"/>
                <a:ea typeface="Fraunces ExtraBold" pitchFamily="34" charset="-122"/>
                <a:cs typeface="Fraunces ExtraBold" pitchFamily="34" charset="-120"/>
              </a:rPr>
              <a:t>Algorithm Selection</a:t>
            </a:r>
            <a:endParaRPr lang="en-US" sz="4150" b="1" dirty="0"/>
          </a:p>
        </p:txBody>
      </p:sp>
      <p:sp>
        <p:nvSpPr>
          <p:cNvPr id="3" name="Shape 1"/>
          <p:cNvSpPr/>
          <p:nvPr/>
        </p:nvSpPr>
        <p:spPr>
          <a:xfrm>
            <a:off x="661574" y="1894780"/>
            <a:ext cx="10868547" cy="773807"/>
          </a:xfrm>
          <a:prstGeom prst="roundRect">
            <a:avLst>
              <a:gd name="adj" fmla="val 24732"/>
            </a:avLst>
          </a:prstGeom>
          <a:solidFill>
            <a:srgbClr val="D9D9D9"/>
          </a:solidFill>
          <a:ln/>
        </p:spPr>
        <p:txBody>
          <a:bodyPr/>
          <a:lstStyle/>
          <a:p>
            <a:endParaRPr lang="en-US" sz="2000">
              <a:latin typeface="Aptos Display" panose="020B0004020202020204" pitchFamily="34" charset="0"/>
            </a:endParaRPr>
          </a:p>
        </p:txBody>
      </p:sp>
      <p:pic>
        <p:nvPicPr>
          <p:cNvPr id="4" name="Image 0" descr="preencoded.png"/>
          <p:cNvPicPr>
            <a:picLocks noChangeAspect="1"/>
          </p:cNvPicPr>
          <p:nvPr/>
        </p:nvPicPr>
        <p:blipFill>
          <a:blip r:embed="rId3"/>
          <a:stretch>
            <a:fillRect/>
          </a:stretch>
        </p:blipFill>
        <p:spPr>
          <a:xfrm>
            <a:off x="874195" y="2190254"/>
            <a:ext cx="265800" cy="212626"/>
          </a:xfrm>
          <a:prstGeom prst="rect">
            <a:avLst/>
          </a:prstGeom>
        </p:spPr>
      </p:pic>
      <p:sp>
        <p:nvSpPr>
          <p:cNvPr id="5" name="Text 2"/>
          <p:cNvSpPr/>
          <p:nvPr/>
        </p:nvSpPr>
        <p:spPr>
          <a:xfrm>
            <a:off x="1352615" y="2120106"/>
            <a:ext cx="10574470" cy="323155"/>
          </a:xfrm>
          <a:prstGeom prst="rect">
            <a:avLst/>
          </a:prstGeom>
          <a:noFill/>
          <a:ln/>
        </p:spPr>
        <p:txBody>
          <a:bodyPr wrap="none" lIns="0" tIns="0" rIns="0" bIns="0" rtlCol="0" anchor="t"/>
          <a:lstStyle/>
          <a:p>
            <a:pPr marL="0" indent="0" algn="l">
              <a:lnSpc>
                <a:spcPct val="127000"/>
              </a:lnSpc>
              <a:buNone/>
            </a:pPr>
            <a:r>
              <a:rPr lang="en-US" b="1" dirty="0">
                <a:solidFill>
                  <a:srgbClr val="000000"/>
                </a:solidFill>
                <a:latin typeface="Aptos Display" panose="020B0004020202020204" pitchFamily="34" charset="0"/>
                <a:ea typeface="Instrument Sans" pitchFamily="34" charset="-122"/>
                <a:cs typeface="Instrument Sans" pitchFamily="34" charset="-120"/>
              </a:rPr>
              <a:t>Why Deep Learning (CNNs) instead of Machine Learning?</a:t>
            </a:r>
            <a:endParaRPr lang="en-US" dirty="0">
              <a:latin typeface="Aptos Display" panose="020B0004020202020204" pitchFamily="34" charset="0"/>
            </a:endParaRPr>
          </a:p>
        </p:txBody>
      </p:sp>
      <p:sp>
        <p:nvSpPr>
          <p:cNvPr id="6" name="Text 3"/>
          <p:cNvSpPr/>
          <p:nvPr/>
        </p:nvSpPr>
        <p:spPr>
          <a:xfrm>
            <a:off x="661574" y="2883892"/>
            <a:ext cx="10868547" cy="713284"/>
          </a:xfrm>
          <a:prstGeom prst="rect">
            <a:avLst/>
          </a:prstGeom>
          <a:noFill/>
          <a:ln/>
        </p:spPr>
        <p:txBody>
          <a:bodyPr wrap="square" lIns="0" tIns="0" rIns="0" bIns="0" rtlCol="0" anchor="t">
            <a:normAutofit/>
          </a:bodyPr>
          <a:lstStyle/>
          <a:p>
            <a:pPr marL="342900" indent="-342900" algn="l">
              <a:lnSpc>
                <a:spcPct val="127000"/>
              </a:lnSpc>
              <a:buSzPct val="100000"/>
              <a:buChar char="•"/>
            </a:pPr>
            <a:r>
              <a:rPr lang="en-US" b="1" dirty="0">
                <a:solidFill>
                  <a:srgbClr val="030303"/>
                </a:solidFill>
                <a:latin typeface="Aptos Display" panose="020B0004020202020204" pitchFamily="34" charset="0"/>
                <a:ea typeface="Instrument Sans" pitchFamily="34" charset="-122"/>
                <a:cs typeface="Instrument Sans" pitchFamily="34" charset="-120"/>
              </a:rPr>
              <a:t>Automated Feature Extraction: </a:t>
            </a:r>
            <a:r>
              <a:rPr lang="en-US" dirty="0">
                <a:solidFill>
                  <a:srgbClr val="030303"/>
                </a:solidFill>
                <a:latin typeface="Aptos Display" panose="020B0004020202020204" pitchFamily="34" charset="0"/>
                <a:ea typeface="Instrument Sans" pitchFamily="34" charset="-122"/>
                <a:cs typeface="Instrument Sans" pitchFamily="34" charset="-120"/>
              </a:rPr>
              <a:t>CNNs learn image Features directly from raw pixels.</a:t>
            </a:r>
            <a:endParaRPr lang="en-US" dirty="0">
              <a:latin typeface="Aptos Display" panose="020B0004020202020204" pitchFamily="34" charset="0"/>
            </a:endParaRPr>
          </a:p>
          <a:p>
            <a:pPr marL="342900" indent="-342900" algn="l">
              <a:lnSpc>
                <a:spcPct val="127000"/>
              </a:lnSpc>
              <a:buSzPct val="100000"/>
              <a:buChar char="•"/>
            </a:pPr>
            <a:r>
              <a:rPr lang="en-US" b="1" dirty="0">
                <a:solidFill>
                  <a:srgbClr val="030303"/>
                </a:solidFill>
                <a:latin typeface="Aptos Display" panose="020B0004020202020204" pitchFamily="34" charset="0"/>
                <a:ea typeface="Instrument Sans" pitchFamily="34" charset="-122"/>
                <a:cs typeface="Instrument Sans" pitchFamily="34" charset="-120"/>
              </a:rPr>
              <a:t>Robustness:</a:t>
            </a:r>
            <a:r>
              <a:rPr lang="en-US" dirty="0">
                <a:solidFill>
                  <a:srgbClr val="030303"/>
                </a:solidFill>
                <a:latin typeface="Aptos Display" panose="020B0004020202020204" pitchFamily="34" charset="0"/>
                <a:ea typeface="Instrument Sans" pitchFamily="34" charset="-122"/>
                <a:cs typeface="Instrument Sans" pitchFamily="34" charset="-120"/>
              </a:rPr>
              <a:t> Better handling of unstructured image data.</a:t>
            </a:r>
            <a:endParaRPr lang="en-US" dirty="0">
              <a:latin typeface="Aptos Display" panose="020B0004020202020204" pitchFamily="34" charset="0"/>
            </a:endParaRPr>
          </a:p>
        </p:txBody>
      </p:sp>
      <p:sp>
        <p:nvSpPr>
          <p:cNvPr id="7" name="Shape 4"/>
          <p:cNvSpPr/>
          <p:nvPr/>
        </p:nvSpPr>
        <p:spPr>
          <a:xfrm>
            <a:off x="661574" y="3812480"/>
            <a:ext cx="10868547" cy="1269206"/>
          </a:xfrm>
          <a:prstGeom prst="roundRect">
            <a:avLst>
              <a:gd name="adj" fmla="val 15079"/>
            </a:avLst>
          </a:prstGeom>
          <a:solidFill>
            <a:srgbClr val="D9D9D9"/>
          </a:solidFill>
          <a:ln/>
        </p:spPr>
        <p:txBody>
          <a:bodyPr/>
          <a:lstStyle/>
          <a:p>
            <a:endParaRPr lang="en-US" sz="2000">
              <a:latin typeface="Aptos Display" panose="020B0004020202020204" pitchFamily="34" charset="0"/>
            </a:endParaRPr>
          </a:p>
        </p:txBody>
      </p:sp>
      <p:pic>
        <p:nvPicPr>
          <p:cNvPr id="8" name="Image 1" descr="preencoded.png"/>
          <p:cNvPicPr>
            <a:picLocks noChangeAspect="1"/>
          </p:cNvPicPr>
          <p:nvPr/>
        </p:nvPicPr>
        <p:blipFill>
          <a:blip r:embed="rId3"/>
          <a:stretch>
            <a:fillRect/>
          </a:stretch>
        </p:blipFill>
        <p:spPr>
          <a:xfrm>
            <a:off x="874195" y="4107954"/>
            <a:ext cx="265800" cy="212626"/>
          </a:xfrm>
          <a:prstGeom prst="rect">
            <a:avLst/>
          </a:prstGeom>
        </p:spPr>
      </p:pic>
      <p:sp>
        <p:nvSpPr>
          <p:cNvPr id="9" name="Text 5"/>
          <p:cNvSpPr/>
          <p:nvPr/>
        </p:nvSpPr>
        <p:spPr>
          <a:xfrm>
            <a:off x="1352615" y="4037806"/>
            <a:ext cx="9964885" cy="818555"/>
          </a:xfrm>
          <a:prstGeom prst="rect">
            <a:avLst/>
          </a:prstGeom>
          <a:noFill/>
          <a:ln/>
        </p:spPr>
        <p:txBody>
          <a:bodyPr wrap="square" lIns="0" tIns="0" rIns="0" bIns="0" rtlCol="0" anchor="t"/>
          <a:lstStyle/>
          <a:p>
            <a:pPr marL="0" indent="0" algn="l">
              <a:lnSpc>
                <a:spcPct val="127000"/>
              </a:lnSpc>
              <a:spcAft>
                <a:spcPts val="1350"/>
              </a:spcAft>
              <a:buNone/>
            </a:pPr>
            <a:r>
              <a:rPr lang="en-US" b="1" dirty="0">
                <a:solidFill>
                  <a:srgbClr val="000000"/>
                </a:solidFill>
                <a:latin typeface="Aptos Display" panose="020B0004020202020204" pitchFamily="34" charset="0"/>
                <a:ea typeface="Instrument Sans" pitchFamily="34" charset="-122"/>
                <a:cs typeface="Instrument Sans" pitchFamily="34" charset="-120"/>
              </a:rPr>
              <a:t>Why Use Transfer Learning Over Training from scratch?</a:t>
            </a:r>
            <a:endParaRPr lang="en-US" dirty="0">
              <a:latin typeface="Aptos Display" panose="020B0004020202020204" pitchFamily="34" charset="0"/>
            </a:endParaRPr>
          </a:p>
          <a:p>
            <a:pPr marL="0" indent="0" algn="l">
              <a:lnSpc>
                <a:spcPct val="127000"/>
              </a:lnSpc>
              <a:buNone/>
            </a:pPr>
            <a:r>
              <a:rPr lang="en-US" dirty="0">
                <a:solidFill>
                  <a:srgbClr val="000000"/>
                </a:solidFill>
                <a:latin typeface="Aptos Display" panose="020B0004020202020204" pitchFamily="34" charset="0"/>
                <a:ea typeface="Instrument Sans" pitchFamily="34" charset="-122"/>
                <a:cs typeface="Instrument Sans" pitchFamily="34" charset="-120"/>
              </a:rPr>
              <a:t>We employed Transfer Learning, repurposing a pre-trained model for our specific task.</a:t>
            </a:r>
            <a:endParaRPr lang="en-US" dirty="0">
              <a:latin typeface="Aptos Display" panose="020B0004020202020204" pitchFamily="34" charset="0"/>
            </a:endParaRPr>
          </a:p>
        </p:txBody>
      </p:sp>
      <p:sp>
        <p:nvSpPr>
          <p:cNvPr id="10" name="Text 6"/>
          <p:cNvSpPr/>
          <p:nvPr/>
        </p:nvSpPr>
        <p:spPr>
          <a:xfrm>
            <a:off x="661574" y="5296991"/>
            <a:ext cx="10868547" cy="713284"/>
          </a:xfrm>
          <a:prstGeom prst="rect">
            <a:avLst/>
          </a:prstGeom>
          <a:noFill/>
          <a:ln/>
        </p:spPr>
        <p:txBody>
          <a:bodyPr wrap="square" lIns="0" tIns="0" rIns="0" bIns="0" rtlCol="0" anchor="t">
            <a:normAutofit/>
          </a:bodyPr>
          <a:lstStyle/>
          <a:p>
            <a:pPr marL="342900" indent="-342900" algn="l">
              <a:lnSpc>
                <a:spcPct val="127000"/>
              </a:lnSpc>
              <a:buSzPct val="100000"/>
              <a:buChar char="•"/>
            </a:pPr>
            <a:r>
              <a:rPr lang="en-US" b="1" dirty="0">
                <a:solidFill>
                  <a:srgbClr val="030303"/>
                </a:solidFill>
                <a:latin typeface="Aptos Display" panose="020B0004020202020204" pitchFamily="34" charset="0"/>
                <a:ea typeface="Instrument Sans" pitchFamily="34" charset="-122"/>
                <a:cs typeface="Instrument Sans" pitchFamily="34" charset="-120"/>
              </a:rPr>
              <a:t>Layer Freezing:</a:t>
            </a:r>
            <a:r>
              <a:rPr lang="en-US" dirty="0">
                <a:solidFill>
                  <a:srgbClr val="030303"/>
                </a:solidFill>
                <a:latin typeface="Aptos Display" panose="020B0004020202020204" pitchFamily="34" charset="0"/>
                <a:ea typeface="Instrument Sans" pitchFamily="34" charset="-122"/>
                <a:cs typeface="Instrument Sans" pitchFamily="34" charset="-120"/>
              </a:rPr>
              <a:t> initial layers are "frozen" to preserve universal feature detection.</a:t>
            </a:r>
            <a:endParaRPr lang="en-US" dirty="0">
              <a:latin typeface="Aptos Display" panose="020B0004020202020204" pitchFamily="34" charset="0"/>
            </a:endParaRPr>
          </a:p>
          <a:p>
            <a:pPr marL="342900" indent="-342900" algn="l">
              <a:lnSpc>
                <a:spcPct val="127000"/>
              </a:lnSpc>
              <a:buSzPct val="100000"/>
              <a:buChar char="•"/>
            </a:pPr>
            <a:r>
              <a:rPr lang="en-US" b="1" dirty="0">
                <a:solidFill>
                  <a:srgbClr val="030303"/>
                </a:solidFill>
                <a:latin typeface="Aptos Display" panose="020B0004020202020204" pitchFamily="34" charset="0"/>
                <a:ea typeface="Instrument Sans" pitchFamily="34" charset="-122"/>
                <a:cs typeface="Instrument Sans" pitchFamily="34" charset="-120"/>
              </a:rPr>
              <a:t>Key Benefits:</a:t>
            </a:r>
            <a:r>
              <a:rPr lang="en-US" dirty="0">
                <a:solidFill>
                  <a:srgbClr val="030303"/>
                </a:solidFill>
                <a:latin typeface="Aptos Display" panose="020B0004020202020204" pitchFamily="34" charset="0"/>
                <a:ea typeface="Instrument Sans" pitchFamily="34" charset="-122"/>
                <a:cs typeface="Instrument Sans" pitchFamily="34" charset="-120"/>
              </a:rPr>
              <a:t> Enables faster training and higher accuracy with limited data.</a:t>
            </a:r>
            <a:endParaRPr lang="en-US" dirty="0">
              <a:latin typeface="Aptos Display" panose="020B00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61574" y="1305024"/>
            <a:ext cx="7343095" cy="627559"/>
          </a:xfrm>
          <a:prstGeom prst="rect">
            <a:avLst/>
          </a:prstGeom>
          <a:noFill/>
          <a:ln/>
        </p:spPr>
        <p:txBody>
          <a:bodyPr wrap="none" lIns="0" tIns="0" rIns="0" bIns="0" rtlCol="0" anchor="t"/>
          <a:lstStyle/>
          <a:p>
            <a:pPr marL="0" indent="0" algn="l">
              <a:lnSpc>
                <a:spcPct val="104000"/>
              </a:lnSpc>
              <a:buNone/>
            </a:pPr>
            <a:r>
              <a:rPr lang="en-US" sz="3950" b="1" dirty="0">
                <a:solidFill>
                  <a:srgbClr val="265834"/>
                </a:solidFill>
                <a:latin typeface="Fraunces ExtraBold" pitchFamily="34" charset="0"/>
                <a:ea typeface="Fraunces ExtraBold" pitchFamily="34" charset="-122"/>
                <a:cs typeface="Fraunces ExtraBold" pitchFamily="34" charset="-120"/>
              </a:rPr>
              <a:t>Our Applied Architectures</a:t>
            </a:r>
            <a:endParaRPr lang="en-US" sz="3950" b="1" dirty="0"/>
          </a:p>
        </p:txBody>
      </p:sp>
      <p:sp>
        <p:nvSpPr>
          <p:cNvPr id="3" name="Shape 1"/>
          <p:cNvSpPr/>
          <p:nvPr/>
        </p:nvSpPr>
        <p:spPr>
          <a:xfrm>
            <a:off x="661574" y="2273995"/>
            <a:ext cx="10868547" cy="3278981"/>
          </a:xfrm>
          <a:prstGeom prst="roundRect">
            <a:avLst>
              <a:gd name="adj" fmla="val 5512"/>
            </a:avLst>
          </a:prstGeom>
          <a:noFill/>
          <a:ln w="6350">
            <a:solidFill>
              <a:srgbClr val="000000">
                <a:alpha val="8000"/>
              </a:srgbClr>
            </a:solidFill>
            <a:prstDash val="solid"/>
          </a:ln>
        </p:spPr>
        <p:txBody>
          <a:bodyPr/>
          <a:lstStyle/>
          <a:p>
            <a:endParaRPr lang="en-US" sz="2400">
              <a:latin typeface="Aptos Display" panose="020B0004020202020204" pitchFamily="34" charset="0"/>
            </a:endParaRPr>
          </a:p>
        </p:txBody>
      </p:sp>
      <p:sp>
        <p:nvSpPr>
          <p:cNvPr id="4" name="Text 2"/>
          <p:cNvSpPr/>
          <p:nvPr/>
        </p:nvSpPr>
        <p:spPr>
          <a:xfrm>
            <a:off x="868936" y="2389088"/>
            <a:ext cx="2267290" cy="297160"/>
          </a:xfrm>
          <a:prstGeom prst="rect">
            <a:avLst/>
          </a:prstGeom>
          <a:noFill/>
          <a:ln/>
        </p:spPr>
        <p:txBody>
          <a:bodyPr wrap="none" lIns="0" tIns="0" rIns="0" bIns="0" rtlCol="0" anchor="t"/>
          <a:lstStyle/>
          <a:p>
            <a:pPr marL="0" indent="0" algn="l">
              <a:lnSpc>
                <a:spcPct val="123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Architecture</a:t>
            </a:r>
            <a:endParaRPr lang="en-US" dirty="0">
              <a:latin typeface="Aptos Display" panose="020B0004020202020204" pitchFamily="34" charset="0"/>
            </a:endParaRPr>
          </a:p>
        </p:txBody>
      </p:sp>
      <p:sp>
        <p:nvSpPr>
          <p:cNvPr id="5" name="Text 3"/>
          <p:cNvSpPr/>
          <p:nvPr/>
        </p:nvSpPr>
        <p:spPr>
          <a:xfrm>
            <a:off x="2928269" y="2389088"/>
            <a:ext cx="3426632" cy="297160"/>
          </a:xfrm>
          <a:prstGeom prst="rect">
            <a:avLst/>
          </a:prstGeom>
          <a:noFill/>
          <a:ln/>
        </p:spPr>
        <p:txBody>
          <a:bodyPr wrap="none" lIns="0" tIns="0" rIns="0" bIns="0" rtlCol="0" anchor="t"/>
          <a:lstStyle/>
          <a:p>
            <a:pPr marL="0" indent="0" algn="l">
              <a:lnSpc>
                <a:spcPct val="123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Concept</a:t>
            </a:r>
            <a:endParaRPr lang="en-US" dirty="0">
              <a:latin typeface="Aptos Display" panose="020B0004020202020204" pitchFamily="34" charset="0"/>
            </a:endParaRPr>
          </a:p>
        </p:txBody>
      </p:sp>
      <p:sp>
        <p:nvSpPr>
          <p:cNvPr id="6" name="Text 4"/>
          <p:cNvSpPr/>
          <p:nvPr/>
        </p:nvSpPr>
        <p:spPr>
          <a:xfrm>
            <a:off x="6146944" y="2389088"/>
            <a:ext cx="2781826" cy="297160"/>
          </a:xfrm>
          <a:prstGeom prst="rect">
            <a:avLst/>
          </a:prstGeom>
          <a:noFill/>
          <a:ln/>
        </p:spPr>
        <p:txBody>
          <a:bodyPr wrap="none" lIns="0" tIns="0" rIns="0" bIns="0" rtlCol="0" anchor="t"/>
          <a:lstStyle/>
          <a:p>
            <a:pPr marL="0" indent="0" algn="l">
              <a:lnSpc>
                <a:spcPct val="123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Role in Project</a:t>
            </a:r>
            <a:endParaRPr lang="en-US" dirty="0">
              <a:latin typeface="Aptos Display" panose="020B0004020202020204" pitchFamily="34" charset="0"/>
            </a:endParaRPr>
          </a:p>
        </p:txBody>
      </p:sp>
      <p:sp>
        <p:nvSpPr>
          <p:cNvPr id="7" name="Text 5"/>
          <p:cNvSpPr/>
          <p:nvPr/>
        </p:nvSpPr>
        <p:spPr>
          <a:xfrm>
            <a:off x="8720812" y="2389088"/>
            <a:ext cx="3211730" cy="297160"/>
          </a:xfrm>
          <a:prstGeom prst="rect">
            <a:avLst/>
          </a:prstGeom>
          <a:noFill/>
          <a:ln/>
        </p:spPr>
        <p:txBody>
          <a:bodyPr wrap="none" lIns="0" tIns="0" rIns="0" bIns="0" rtlCol="0" anchor="t"/>
          <a:lstStyle/>
          <a:p>
            <a:pPr marL="0" indent="0" algn="l">
              <a:lnSpc>
                <a:spcPct val="123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Key Outcome / Decision</a:t>
            </a:r>
            <a:endParaRPr lang="en-US" dirty="0">
              <a:latin typeface="Aptos Display" panose="020B0004020202020204" pitchFamily="34" charset="0"/>
            </a:endParaRPr>
          </a:p>
        </p:txBody>
      </p:sp>
      <p:sp>
        <p:nvSpPr>
          <p:cNvPr id="8" name="Text 6"/>
          <p:cNvSpPr/>
          <p:nvPr/>
        </p:nvSpPr>
        <p:spPr>
          <a:xfrm>
            <a:off x="868936" y="2910086"/>
            <a:ext cx="2267290" cy="297160"/>
          </a:xfrm>
          <a:prstGeom prst="rect">
            <a:avLst/>
          </a:prstGeom>
          <a:noFill/>
          <a:ln/>
        </p:spPr>
        <p:txBody>
          <a:bodyPr wrap="none" lIns="0" tIns="0" rIns="0" bIns="0" rtlCol="0" anchor="t"/>
          <a:lstStyle/>
          <a:p>
            <a:pPr marL="0" indent="0" algn="l">
              <a:lnSpc>
                <a:spcPct val="123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ResNet50</a:t>
            </a:r>
            <a:endParaRPr lang="en-US" dirty="0">
              <a:latin typeface="Aptos Display" panose="020B0004020202020204" pitchFamily="34" charset="0"/>
            </a:endParaRPr>
          </a:p>
        </p:txBody>
      </p:sp>
      <p:sp>
        <p:nvSpPr>
          <p:cNvPr id="9" name="Text 7"/>
          <p:cNvSpPr/>
          <p:nvPr/>
        </p:nvSpPr>
        <p:spPr>
          <a:xfrm>
            <a:off x="2928269" y="2910086"/>
            <a:ext cx="2817047" cy="594320"/>
          </a:xfrm>
          <a:prstGeom prst="rect">
            <a:avLst/>
          </a:prstGeom>
          <a:noFill/>
          <a:ln/>
        </p:spPr>
        <p:txBody>
          <a:bodyPr wrap="square" lIns="0" tIns="0" rIns="0" bIns="0" rtlCol="0" anchor="t">
            <a:noAutofit/>
          </a:bodyPr>
          <a:lstStyle/>
          <a:p>
            <a:pPr marL="0" indent="0" algn="l">
              <a:lnSpc>
                <a:spcPct val="123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Deep residual model for strong feature extraction.</a:t>
            </a:r>
            <a:endParaRPr lang="en-US" dirty="0">
              <a:latin typeface="Aptos Display" panose="020B0004020202020204" pitchFamily="34" charset="0"/>
            </a:endParaRPr>
          </a:p>
        </p:txBody>
      </p:sp>
      <p:sp>
        <p:nvSpPr>
          <p:cNvPr id="10" name="Text 8"/>
          <p:cNvSpPr/>
          <p:nvPr/>
        </p:nvSpPr>
        <p:spPr>
          <a:xfrm>
            <a:off x="6146944" y="2910086"/>
            <a:ext cx="2172241" cy="594320"/>
          </a:xfrm>
          <a:prstGeom prst="rect">
            <a:avLst/>
          </a:prstGeom>
          <a:noFill/>
          <a:ln/>
        </p:spPr>
        <p:txBody>
          <a:bodyPr wrap="square" lIns="0" tIns="0" rIns="0" bIns="0" rtlCol="0" anchor="t">
            <a:noAutofit/>
          </a:bodyPr>
          <a:lstStyle/>
          <a:p>
            <a:pPr marL="0" indent="0" algn="l">
              <a:lnSpc>
                <a:spcPct val="123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Baseline for high-accuracy comparison.</a:t>
            </a:r>
            <a:endParaRPr lang="en-US" dirty="0">
              <a:latin typeface="Aptos Display" panose="020B0004020202020204" pitchFamily="34" charset="0"/>
            </a:endParaRPr>
          </a:p>
        </p:txBody>
      </p:sp>
      <p:sp>
        <p:nvSpPr>
          <p:cNvPr id="11" name="Text 9"/>
          <p:cNvSpPr/>
          <p:nvPr/>
        </p:nvSpPr>
        <p:spPr>
          <a:xfrm>
            <a:off x="8720812" y="2910086"/>
            <a:ext cx="2602145" cy="594320"/>
          </a:xfrm>
          <a:prstGeom prst="rect">
            <a:avLst/>
          </a:prstGeom>
          <a:noFill/>
          <a:ln/>
        </p:spPr>
        <p:txBody>
          <a:bodyPr wrap="square" lIns="0" tIns="0" rIns="0" bIns="0" rtlCol="0" anchor="t">
            <a:noAutofit/>
          </a:bodyPr>
          <a:lstStyle/>
          <a:p>
            <a:pPr marL="0" indent="0" algn="l">
              <a:lnSpc>
                <a:spcPct val="123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Most powerful, but heavier and slower for mobile use.</a:t>
            </a:r>
            <a:endParaRPr lang="en-US" dirty="0">
              <a:latin typeface="Aptos Display" panose="020B0004020202020204" pitchFamily="34" charset="0"/>
            </a:endParaRPr>
          </a:p>
        </p:txBody>
      </p:sp>
      <p:sp>
        <p:nvSpPr>
          <p:cNvPr id="12" name="Text 10"/>
          <p:cNvSpPr/>
          <p:nvPr/>
        </p:nvSpPr>
        <p:spPr>
          <a:xfrm>
            <a:off x="868936" y="3728244"/>
            <a:ext cx="2267290" cy="297160"/>
          </a:xfrm>
          <a:prstGeom prst="rect">
            <a:avLst/>
          </a:prstGeom>
          <a:noFill/>
          <a:ln/>
        </p:spPr>
        <p:txBody>
          <a:bodyPr wrap="none" lIns="0" tIns="0" rIns="0" bIns="0" rtlCol="0" anchor="t"/>
          <a:lstStyle/>
          <a:p>
            <a:pPr marL="0" indent="0" algn="l">
              <a:lnSpc>
                <a:spcPct val="123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MobileNetV2</a:t>
            </a:r>
            <a:endParaRPr lang="en-US" dirty="0">
              <a:latin typeface="Aptos Display" panose="020B0004020202020204" pitchFamily="34" charset="0"/>
            </a:endParaRPr>
          </a:p>
        </p:txBody>
      </p:sp>
      <p:sp>
        <p:nvSpPr>
          <p:cNvPr id="13" name="Text 11"/>
          <p:cNvSpPr/>
          <p:nvPr/>
        </p:nvSpPr>
        <p:spPr>
          <a:xfrm>
            <a:off x="2928269" y="3728244"/>
            <a:ext cx="2817047" cy="594320"/>
          </a:xfrm>
          <a:prstGeom prst="rect">
            <a:avLst/>
          </a:prstGeom>
          <a:noFill/>
          <a:ln/>
        </p:spPr>
        <p:txBody>
          <a:bodyPr wrap="square" lIns="0" tIns="0" rIns="0" bIns="0" rtlCol="0" anchor="t">
            <a:noAutofit/>
          </a:bodyPr>
          <a:lstStyle/>
          <a:p>
            <a:pPr marL="0" indent="0" algn="l">
              <a:lnSpc>
                <a:spcPct val="123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Lightweight model designed for efficient edge deployment.</a:t>
            </a:r>
            <a:endParaRPr lang="en-US" dirty="0">
              <a:latin typeface="Aptos Display" panose="020B0004020202020204" pitchFamily="34" charset="0"/>
            </a:endParaRPr>
          </a:p>
        </p:txBody>
      </p:sp>
      <p:sp>
        <p:nvSpPr>
          <p:cNvPr id="14" name="Text 12"/>
          <p:cNvSpPr/>
          <p:nvPr/>
        </p:nvSpPr>
        <p:spPr>
          <a:xfrm>
            <a:off x="6146944" y="3728244"/>
            <a:ext cx="2172241" cy="594320"/>
          </a:xfrm>
          <a:prstGeom prst="rect">
            <a:avLst/>
          </a:prstGeom>
          <a:noFill/>
          <a:ln/>
        </p:spPr>
        <p:txBody>
          <a:bodyPr wrap="square" lIns="0" tIns="0" rIns="0" bIns="0" rtlCol="0" anchor="t">
            <a:noAutofit/>
          </a:bodyPr>
          <a:lstStyle/>
          <a:p>
            <a:pPr marL="0" indent="0" algn="l">
              <a:lnSpc>
                <a:spcPct val="123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Primary model for mobile inference.</a:t>
            </a:r>
            <a:endParaRPr lang="en-US" dirty="0">
              <a:latin typeface="Aptos Display" panose="020B0004020202020204" pitchFamily="34" charset="0"/>
            </a:endParaRPr>
          </a:p>
        </p:txBody>
      </p:sp>
      <p:sp>
        <p:nvSpPr>
          <p:cNvPr id="15" name="Text 13"/>
          <p:cNvSpPr/>
          <p:nvPr/>
        </p:nvSpPr>
        <p:spPr>
          <a:xfrm>
            <a:off x="8720812" y="3728244"/>
            <a:ext cx="2602145" cy="594320"/>
          </a:xfrm>
          <a:prstGeom prst="rect">
            <a:avLst/>
          </a:prstGeom>
          <a:noFill/>
          <a:ln/>
        </p:spPr>
        <p:txBody>
          <a:bodyPr wrap="square" lIns="0" tIns="0" rIns="0" bIns="0" rtlCol="0" anchor="t">
            <a:noAutofit/>
          </a:bodyPr>
          <a:lstStyle/>
          <a:p>
            <a:pPr marL="0" indent="0" algn="l">
              <a:lnSpc>
                <a:spcPct val="123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Best fit for fast, offline-first mobile inference.</a:t>
            </a:r>
            <a:endParaRPr lang="en-US" dirty="0">
              <a:latin typeface="Aptos Display" panose="020B0004020202020204" pitchFamily="34" charset="0"/>
            </a:endParaRPr>
          </a:p>
        </p:txBody>
      </p:sp>
      <p:sp>
        <p:nvSpPr>
          <p:cNvPr id="16" name="Text 14"/>
          <p:cNvSpPr/>
          <p:nvPr/>
        </p:nvSpPr>
        <p:spPr>
          <a:xfrm>
            <a:off x="868936" y="4546402"/>
            <a:ext cx="2267290" cy="297160"/>
          </a:xfrm>
          <a:prstGeom prst="rect">
            <a:avLst/>
          </a:prstGeom>
          <a:noFill/>
          <a:ln/>
        </p:spPr>
        <p:txBody>
          <a:bodyPr wrap="none" lIns="0" tIns="0" rIns="0" bIns="0" rtlCol="0" anchor="t"/>
          <a:lstStyle/>
          <a:p>
            <a:pPr marL="0" indent="0" algn="l">
              <a:lnSpc>
                <a:spcPct val="123000"/>
              </a:lnSpc>
              <a:buNone/>
            </a:pPr>
            <a:r>
              <a:rPr lang="en-US" b="1" dirty="0">
                <a:solidFill>
                  <a:srgbClr val="030303"/>
                </a:solidFill>
                <a:latin typeface="Aptos Display" panose="020B0004020202020204" pitchFamily="34" charset="0"/>
                <a:ea typeface="Instrument Sans" pitchFamily="34" charset="-122"/>
                <a:cs typeface="Instrument Sans" pitchFamily="34" charset="-120"/>
              </a:rPr>
              <a:t>EfficientNet-B0</a:t>
            </a:r>
            <a:endParaRPr lang="en-US" dirty="0">
              <a:latin typeface="Aptos Display" panose="020B0004020202020204" pitchFamily="34" charset="0"/>
            </a:endParaRPr>
          </a:p>
        </p:txBody>
      </p:sp>
      <p:sp>
        <p:nvSpPr>
          <p:cNvPr id="17" name="Text 15"/>
          <p:cNvSpPr/>
          <p:nvPr/>
        </p:nvSpPr>
        <p:spPr>
          <a:xfrm>
            <a:off x="2928269" y="4546402"/>
            <a:ext cx="2817047" cy="891480"/>
          </a:xfrm>
          <a:prstGeom prst="rect">
            <a:avLst/>
          </a:prstGeom>
          <a:noFill/>
          <a:ln/>
        </p:spPr>
        <p:txBody>
          <a:bodyPr wrap="square" lIns="0" tIns="0" rIns="0" bIns="0" rtlCol="0" anchor="t">
            <a:noAutofit/>
          </a:bodyPr>
          <a:lstStyle/>
          <a:p>
            <a:pPr marL="0" indent="0" algn="l">
              <a:lnSpc>
                <a:spcPct val="123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Balanced model using compound scaling for efficiency.</a:t>
            </a:r>
            <a:endParaRPr lang="en-US" dirty="0">
              <a:latin typeface="Aptos Display" panose="020B0004020202020204" pitchFamily="34" charset="0"/>
            </a:endParaRPr>
          </a:p>
        </p:txBody>
      </p:sp>
      <p:sp>
        <p:nvSpPr>
          <p:cNvPr id="18" name="Text 16"/>
          <p:cNvSpPr/>
          <p:nvPr/>
        </p:nvSpPr>
        <p:spPr>
          <a:xfrm>
            <a:off x="6146944" y="4546402"/>
            <a:ext cx="2172241" cy="891480"/>
          </a:xfrm>
          <a:prstGeom prst="rect">
            <a:avLst/>
          </a:prstGeom>
          <a:noFill/>
          <a:ln/>
        </p:spPr>
        <p:txBody>
          <a:bodyPr wrap="square" lIns="0" tIns="0" rIns="0" bIns="0" rtlCol="0" anchor="t">
            <a:noAutofit/>
          </a:bodyPr>
          <a:lstStyle/>
          <a:p>
            <a:pPr marL="0" indent="0" algn="l">
              <a:lnSpc>
                <a:spcPct val="123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Benchmark for efficiency-performance tradeoff.</a:t>
            </a:r>
            <a:endParaRPr lang="en-US" dirty="0">
              <a:latin typeface="Aptos Display" panose="020B0004020202020204" pitchFamily="34" charset="0"/>
            </a:endParaRPr>
          </a:p>
        </p:txBody>
      </p:sp>
      <p:sp>
        <p:nvSpPr>
          <p:cNvPr id="19" name="Text 17"/>
          <p:cNvSpPr/>
          <p:nvPr/>
        </p:nvSpPr>
        <p:spPr>
          <a:xfrm>
            <a:off x="8720812" y="4546402"/>
            <a:ext cx="2602145" cy="891480"/>
          </a:xfrm>
          <a:prstGeom prst="rect">
            <a:avLst/>
          </a:prstGeom>
          <a:noFill/>
          <a:ln/>
        </p:spPr>
        <p:txBody>
          <a:bodyPr wrap="square" lIns="0" tIns="0" rIns="0" bIns="0" rtlCol="0" anchor="t">
            <a:normAutofit fontScale="92500" lnSpcReduction="10000"/>
          </a:bodyPr>
          <a:lstStyle/>
          <a:p>
            <a:pPr marL="0" indent="0" algn="l">
              <a:lnSpc>
                <a:spcPct val="123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Efficient, but not enough faster than MobileNetV2 to replace it.</a:t>
            </a:r>
            <a:endParaRPr lang="en-US" dirty="0">
              <a:latin typeface="Aptos Display" panose="020B0004020202020204" pitchFamily="34" charset="0"/>
            </a:endParaRPr>
          </a:p>
        </p:txBody>
      </p:sp>
      <p:sp>
        <p:nvSpPr>
          <p:cNvPr id="21" name="Shape 7">
            <a:extLst>
              <a:ext uri="{FF2B5EF4-FFF2-40B4-BE49-F238E27FC236}">
                <a16:creationId xmlns:a16="http://schemas.microsoft.com/office/drawing/2014/main" id="{CFC4D89B-7411-72C4-06B1-CA070033D7E0}"/>
              </a:ext>
            </a:extLst>
          </p:cNvPr>
          <p:cNvSpPr/>
          <p:nvPr/>
        </p:nvSpPr>
        <p:spPr>
          <a:xfrm>
            <a:off x="725370" y="3650755"/>
            <a:ext cx="10843147" cy="780553"/>
          </a:xfrm>
          <a:prstGeom prst="rect">
            <a:avLst/>
          </a:prstGeom>
          <a:solidFill>
            <a:srgbClr val="000000">
              <a:alpha val="4000"/>
            </a:srgbClr>
          </a:solidFill>
          <a:ln/>
        </p:spPr>
        <p:txBody>
          <a:bodyPr/>
          <a:lstStyle/>
          <a:p>
            <a:endParaRPr lang="en-US" sz="2400">
              <a:latin typeface="Aptos Display" panose="020B0004020202020204" pitchFamily="34" charset="0"/>
            </a:endParaRPr>
          </a:p>
        </p:txBody>
      </p:sp>
      <p:sp>
        <p:nvSpPr>
          <p:cNvPr id="23" name="Shape 7">
            <a:extLst>
              <a:ext uri="{FF2B5EF4-FFF2-40B4-BE49-F238E27FC236}">
                <a16:creationId xmlns:a16="http://schemas.microsoft.com/office/drawing/2014/main" id="{B0DAE43F-6D80-5FC0-EC10-CF9B9F1BF666}"/>
              </a:ext>
            </a:extLst>
          </p:cNvPr>
          <p:cNvSpPr/>
          <p:nvPr/>
        </p:nvSpPr>
        <p:spPr>
          <a:xfrm>
            <a:off x="674274" y="2288383"/>
            <a:ext cx="10843147" cy="608708"/>
          </a:xfrm>
          <a:prstGeom prst="rect">
            <a:avLst/>
          </a:prstGeom>
          <a:solidFill>
            <a:srgbClr val="000000">
              <a:alpha val="4000"/>
            </a:srgbClr>
          </a:solidFill>
          <a:ln/>
        </p:spPr>
        <p:txBody>
          <a:bodyPr/>
          <a:lstStyle/>
          <a:p>
            <a:endParaRPr lang="en-US" sz="2400">
              <a:latin typeface="Aptos Display" panose="020B00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61574" y="788888"/>
            <a:ext cx="7920236" cy="738287"/>
          </a:xfrm>
          <a:prstGeom prst="rect">
            <a:avLst/>
          </a:prstGeom>
          <a:noFill/>
          <a:ln/>
        </p:spPr>
        <p:txBody>
          <a:bodyPr wrap="none" lIns="0" tIns="0" rIns="0" bIns="0" rtlCol="0" anchor="t"/>
          <a:lstStyle/>
          <a:p>
            <a:pPr marL="0" indent="0" algn="l">
              <a:lnSpc>
                <a:spcPct val="104000"/>
              </a:lnSpc>
              <a:buNone/>
            </a:pPr>
            <a:r>
              <a:rPr lang="en-US" sz="4650" b="1" dirty="0">
                <a:solidFill>
                  <a:srgbClr val="265834"/>
                </a:solidFill>
                <a:latin typeface="Fraunces ExtraBold" pitchFamily="34" charset="0"/>
                <a:ea typeface="Fraunces ExtraBold" pitchFamily="34" charset="-122"/>
                <a:cs typeface="Fraunces ExtraBold" pitchFamily="34" charset="-120"/>
              </a:rPr>
              <a:t>Training &amp; Performance</a:t>
            </a:r>
            <a:endParaRPr lang="en-US" sz="4650" b="1" dirty="0"/>
          </a:p>
        </p:txBody>
      </p:sp>
      <p:sp>
        <p:nvSpPr>
          <p:cNvPr id="3" name="Shape 1"/>
          <p:cNvSpPr/>
          <p:nvPr/>
        </p:nvSpPr>
        <p:spPr>
          <a:xfrm>
            <a:off x="661574" y="1999655"/>
            <a:ext cx="10868547" cy="4069358"/>
          </a:xfrm>
          <a:prstGeom prst="roundRect">
            <a:avLst>
              <a:gd name="adj" fmla="val 5226"/>
            </a:avLst>
          </a:prstGeom>
          <a:noFill/>
          <a:ln w="12700">
            <a:solidFill>
              <a:srgbClr val="000000">
                <a:alpha val="8000"/>
              </a:srgbClr>
            </a:solidFill>
            <a:prstDash val="solid"/>
          </a:ln>
        </p:spPr>
        <p:txBody>
          <a:bodyPr/>
          <a:lstStyle/>
          <a:p>
            <a:endParaRPr lang="en-US" sz="2400">
              <a:latin typeface="Aptos Display" panose="020B0004020202020204" pitchFamily="34" charset="0"/>
            </a:endParaRPr>
          </a:p>
        </p:txBody>
      </p:sp>
      <p:sp>
        <p:nvSpPr>
          <p:cNvPr id="4" name="Shape 2"/>
          <p:cNvSpPr/>
          <p:nvPr/>
        </p:nvSpPr>
        <p:spPr>
          <a:xfrm>
            <a:off x="674274" y="2012355"/>
            <a:ext cx="10843147" cy="673993"/>
          </a:xfrm>
          <a:prstGeom prst="rect">
            <a:avLst/>
          </a:prstGeom>
          <a:solidFill>
            <a:srgbClr val="FFFFFF">
              <a:alpha val="4000"/>
            </a:srgbClr>
          </a:solidFill>
          <a:ln/>
        </p:spPr>
        <p:txBody>
          <a:bodyPr/>
          <a:lstStyle/>
          <a:p>
            <a:endParaRPr lang="en-US" sz="2400">
              <a:latin typeface="Aptos Display" panose="020B0004020202020204" pitchFamily="34" charset="0"/>
            </a:endParaRPr>
          </a:p>
        </p:txBody>
      </p:sp>
      <p:sp>
        <p:nvSpPr>
          <p:cNvPr id="5" name="Text 3"/>
          <p:cNvSpPr/>
          <p:nvPr/>
        </p:nvSpPr>
        <p:spPr>
          <a:xfrm>
            <a:off x="910607" y="2160389"/>
            <a:ext cx="2844729" cy="377924"/>
          </a:xfrm>
          <a:prstGeom prst="rect">
            <a:avLst/>
          </a:prstGeom>
          <a:noFill/>
          <a:ln/>
        </p:spPr>
        <p:txBody>
          <a:bodyPr wrap="none" lIns="0" tIns="0" rIns="0" bIns="0" rtlCol="0" anchor="t"/>
          <a:lstStyle/>
          <a:p>
            <a:pPr marL="0" indent="0" algn="l">
              <a:lnSpc>
                <a:spcPct val="133000"/>
              </a:lnSpc>
              <a:buNone/>
            </a:pPr>
            <a:endParaRPr lang="en-US" sz="2400" dirty="0">
              <a:latin typeface="Aptos Display" panose="020B0004020202020204" pitchFamily="34" charset="0"/>
            </a:endParaRPr>
          </a:p>
        </p:txBody>
      </p:sp>
      <p:sp>
        <p:nvSpPr>
          <p:cNvPr id="6" name="Text 4"/>
          <p:cNvSpPr/>
          <p:nvPr/>
        </p:nvSpPr>
        <p:spPr>
          <a:xfrm>
            <a:off x="3624569" y="2160389"/>
            <a:ext cx="2568213" cy="377924"/>
          </a:xfrm>
          <a:prstGeom prst="rect">
            <a:avLst/>
          </a:prstGeom>
          <a:noFill/>
          <a:ln/>
        </p:spPr>
        <p:txBody>
          <a:bodyPr wrap="none" lIns="0" tIns="0" rIns="0" bIns="0" rtlCol="0" anchor="t"/>
          <a:lstStyle/>
          <a:p>
            <a:pPr marL="0" indent="0" algn="l">
              <a:lnSpc>
                <a:spcPct val="133000"/>
              </a:lnSpc>
              <a:buNone/>
            </a:pPr>
            <a:r>
              <a:rPr lang="en-US" sz="2400" b="1" dirty="0">
                <a:solidFill>
                  <a:srgbClr val="030303"/>
                </a:solidFill>
                <a:latin typeface="Aptos Display" panose="020B0004020202020204" pitchFamily="34" charset="0"/>
                <a:ea typeface="Instrument Sans" pitchFamily="34" charset="-122"/>
                <a:cs typeface="Instrument Sans" pitchFamily="34" charset="-120"/>
              </a:rPr>
              <a:t>ResNet-50</a:t>
            </a:r>
            <a:endParaRPr lang="en-US" sz="2400" dirty="0">
              <a:latin typeface="Aptos Display" panose="020B0004020202020204" pitchFamily="34" charset="0"/>
            </a:endParaRPr>
          </a:p>
        </p:txBody>
      </p:sp>
      <p:sp>
        <p:nvSpPr>
          <p:cNvPr id="7" name="Text 5"/>
          <p:cNvSpPr/>
          <p:nvPr/>
        </p:nvSpPr>
        <p:spPr>
          <a:xfrm>
            <a:off x="6062015" y="2160389"/>
            <a:ext cx="2978175" cy="377924"/>
          </a:xfrm>
          <a:prstGeom prst="rect">
            <a:avLst/>
          </a:prstGeom>
          <a:noFill/>
          <a:ln/>
        </p:spPr>
        <p:txBody>
          <a:bodyPr wrap="none" lIns="0" tIns="0" rIns="0" bIns="0" rtlCol="0" anchor="t"/>
          <a:lstStyle/>
          <a:p>
            <a:pPr marL="0" indent="0" algn="l">
              <a:lnSpc>
                <a:spcPct val="133000"/>
              </a:lnSpc>
              <a:buNone/>
            </a:pPr>
            <a:r>
              <a:rPr lang="en-US" sz="2400" b="1" dirty="0">
                <a:solidFill>
                  <a:srgbClr val="030303"/>
                </a:solidFill>
                <a:latin typeface="Aptos Display" panose="020B0004020202020204" pitchFamily="34" charset="0"/>
                <a:ea typeface="Instrument Sans" pitchFamily="34" charset="-122"/>
                <a:cs typeface="Instrument Sans" pitchFamily="34" charset="-120"/>
              </a:rPr>
              <a:t>EfficientNetB0</a:t>
            </a:r>
            <a:endParaRPr lang="en-US" sz="2400" dirty="0">
              <a:latin typeface="Aptos Display" panose="020B0004020202020204" pitchFamily="34" charset="0"/>
            </a:endParaRPr>
          </a:p>
        </p:txBody>
      </p:sp>
      <p:sp>
        <p:nvSpPr>
          <p:cNvPr id="8" name="Text 6"/>
          <p:cNvSpPr/>
          <p:nvPr/>
        </p:nvSpPr>
        <p:spPr>
          <a:xfrm>
            <a:off x="8909422" y="2160389"/>
            <a:ext cx="2981350" cy="377924"/>
          </a:xfrm>
          <a:prstGeom prst="rect">
            <a:avLst/>
          </a:prstGeom>
          <a:noFill/>
          <a:ln/>
        </p:spPr>
        <p:txBody>
          <a:bodyPr wrap="none" lIns="0" tIns="0" rIns="0" bIns="0" rtlCol="0" anchor="t"/>
          <a:lstStyle/>
          <a:p>
            <a:pPr marL="0" indent="0" algn="l">
              <a:lnSpc>
                <a:spcPct val="133000"/>
              </a:lnSpc>
              <a:buNone/>
            </a:pPr>
            <a:r>
              <a:rPr lang="en-US" sz="2400" b="1" dirty="0">
                <a:solidFill>
                  <a:srgbClr val="030303"/>
                </a:solidFill>
                <a:latin typeface="Aptos Display" panose="020B0004020202020204" pitchFamily="34" charset="0"/>
                <a:ea typeface="Instrument Sans" pitchFamily="34" charset="-122"/>
                <a:cs typeface="Instrument Sans" pitchFamily="34" charset="-120"/>
              </a:rPr>
              <a:t>MobileNetV2</a:t>
            </a:r>
            <a:endParaRPr lang="en-US" sz="2400" dirty="0">
              <a:latin typeface="Aptos Display" panose="020B0004020202020204" pitchFamily="34" charset="0"/>
            </a:endParaRPr>
          </a:p>
        </p:txBody>
      </p:sp>
      <p:sp>
        <p:nvSpPr>
          <p:cNvPr id="9" name="Shape 7"/>
          <p:cNvSpPr/>
          <p:nvPr/>
        </p:nvSpPr>
        <p:spPr>
          <a:xfrm>
            <a:off x="674274" y="2686348"/>
            <a:ext cx="10843147" cy="673993"/>
          </a:xfrm>
          <a:prstGeom prst="rect">
            <a:avLst/>
          </a:prstGeom>
          <a:solidFill>
            <a:srgbClr val="000000">
              <a:alpha val="4000"/>
            </a:srgbClr>
          </a:solidFill>
          <a:ln/>
        </p:spPr>
        <p:txBody>
          <a:bodyPr/>
          <a:lstStyle/>
          <a:p>
            <a:endParaRPr lang="en-US" sz="2400">
              <a:latin typeface="Aptos Display" panose="020B0004020202020204" pitchFamily="34" charset="0"/>
            </a:endParaRPr>
          </a:p>
        </p:txBody>
      </p:sp>
      <p:sp>
        <p:nvSpPr>
          <p:cNvPr id="10" name="Text 8"/>
          <p:cNvSpPr/>
          <p:nvPr/>
        </p:nvSpPr>
        <p:spPr>
          <a:xfrm>
            <a:off x="910607" y="2834382"/>
            <a:ext cx="2844729" cy="377924"/>
          </a:xfrm>
          <a:prstGeom prst="rect">
            <a:avLst/>
          </a:prstGeom>
          <a:noFill/>
          <a:ln/>
        </p:spPr>
        <p:txBody>
          <a:bodyPr wrap="none" lIns="0" tIns="0" rIns="0" bIns="0" rtlCol="0" anchor="t"/>
          <a:lstStyle/>
          <a:p>
            <a:pPr marL="0" indent="0" algn="l">
              <a:lnSpc>
                <a:spcPct val="133000"/>
              </a:lnSpc>
              <a:buNone/>
            </a:pPr>
            <a:r>
              <a:rPr lang="en-US" sz="2400" b="1" dirty="0">
                <a:solidFill>
                  <a:srgbClr val="030303"/>
                </a:solidFill>
                <a:latin typeface="Aptos Display" panose="020B0004020202020204" pitchFamily="34" charset="0"/>
                <a:ea typeface="Instrument Sans" pitchFamily="34" charset="-122"/>
                <a:cs typeface="Instrument Sans" pitchFamily="34" charset="-120"/>
              </a:rPr>
              <a:t>Epochs</a:t>
            </a:r>
            <a:endParaRPr lang="en-US" sz="2400" dirty="0">
              <a:latin typeface="Aptos Display" panose="020B0004020202020204" pitchFamily="34" charset="0"/>
            </a:endParaRPr>
          </a:p>
        </p:txBody>
      </p:sp>
      <p:sp>
        <p:nvSpPr>
          <p:cNvPr id="11" name="Text 9"/>
          <p:cNvSpPr/>
          <p:nvPr/>
        </p:nvSpPr>
        <p:spPr>
          <a:xfrm>
            <a:off x="3624569" y="2834382"/>
            <a:ext cx="2568213"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ea typeface="Instrument Sans" pitchFamily="34" charset="-122"/>
                <a:cs typeface="Instrument Sans" pitchFamily="34" charset="-120"/>
              </a:rPr>
              <a:t>15</a:t>
            </a:r>
            <a:endParaRPr lang="en-US" sz="2400" dirty="0">
              <a:latin typeface="Aptos Display" panose="020B0004020202020204" pitchFamily="34" charset="0"/>
            </a:endParaRPr>
          </a:p>
        </p:txBody>
      </p:sp>
      <p:sp>
        <p:nvSpPr>
          <p:cNvPr id="12" name="Text 10"/>
          <p:cNvSpPr/>
          <p:nvPr/>
        </p:nvSpPr>
        <p:spPr>
          <a:xfrm>
            <a:off x="6062015" y="2834382"/>
            <a:ext cx="2978175"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ea typeface="Instrument Sans" pitchFamily="34" charset="-122"/>
                <a:cs typeface="Instrument Sans" pitchFamily="34" charset="-120"/>
              </a:rPr>
              <a:t>30</a:t>
            </a:r>
            <a:endParaRPr lang="en-US" sz="2400" dirty="0">
              <a:latin typeface="Aptos Display" panose="020B0004020202020204" pitchFamily="34" charset="0"/>
            </a:endParaRPr>
          </a:p>
        </p:txBody>
      </p:sp>
      <p:sp>
        <p:nvSpPr>
          <p:cNvPr id="13" name="Text 11"/>
          <p:cNvSpPr/>
          <p:nvPr/>
        </p:nvSpPr>
        <p:spPr>
          <a:xfrm>
            <a:off x="8909422" y="2834382"/>
            <a:ext cx="2981350"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ea typeface="Instrument Sans" pitchFamily="34" charset="-122"/>
                <a:cs typeface="Instrument Sans" pitchFamily="34" charset="-120"/>
              </a:rPr>
              <a:t>30</a:t>
            </a:r>
            <a:endParaRPr lang="en-US" sz="2400" dirty="0">
              <a:latin typeface="Aptos Display" panose="020B0004020202020204" pitchFamily="34" charset="0"/>
            </a:endParaRPr>
          </a:p>
        </p:txBody>
      </p:sp>
      <p:sp>
        <p:nvSpPr>
          <p:cNvPr id="14" name="Shape 12"/>
          <p:cNvSpPr/>
          <p:nvPr/>
        </p:nvSpPr>
        <p:spPr>
          <a:xfrm>
            <a:off x="674274" y="3360341"/>
            <a:ext cx="10843147" cy="673993"/>
          </a:xfrm>
          <a:prstGeom prst="rect">
            <a:avLst/>
          </a:prstGeom>
          <a:solidFill>
            <a:srgbClr val="FFFFFF">
              <a:alpha val="4000"/>
            </a:srgbClr>
          </a:solidFill>
          <a:ln/>
        </p:spPr>
        <p:txBody>
          <a:bodyPr/>
          <a:lstStyle/>
          <a:p>
            <a:endParaRPr lang="en-US" sz="2400">
              <a:latin typeface="Aptos Display" panose="020B0004020202020204" pitchFamily="34" charset="0"/>
            </a:endParaRPr>
          </a:p>
        </p:txBody>
      </p:sp>
      <p:sp>
        <p:nvSpPr>
          <p:cNvPr id="15" name="Text 13"/>
          <p:cNvSpPr/>
          <p:nvPr/>
        </p:nvSpPr>
        <p:spPr>
          <a:xfrm>
            <a:off x="910607" y="3508375"/>
            <a:ext cx="2844729" cy="377924"/>
          </a:xfrm>
          <a:prstGeom prst="rect">
            <a:avLst/>
          </a:prstGeom>
          <a:noFill/>
          <a:ln/>
        </p:spPr>
        <p:txBody>
          <a:bodyPr wrap="none" lIns="0" tIns="0" rIns="0" bIns="0" rtlCol="0" anchor="t"/>
          <a:lstStyle/>
          <a:p>
            <a:pPr marL="0" indent="0" algn="l">
              <a:lnSpc>
                <a:spcPct val="133000"/>
              </a:lnSpc>
              <a:buNone/>
            </a:pPr>
            <a:r>
              <a:rPr lang="en-US" sz="2400" b="1" dirty="0">
                <a:solidFill>
                  <a:srgbClr val="030303"/>
                </a:solidFill>
                <a:latin typeface="Aptos Display" panose="020B0004020202020204" pitchFamily="34" charset="0"/>
                <a:ea typeface="Instrument Sans" pitchFamily="34" charset="-122"/>
                <a:cs typeface="Instrument Sans" pitchFamily="34" charset="-120"/>
              </a:rPr>
              <a:t>Training Acc</a:t>
            </a:r>
            <a:r>
              <a:rPr lang="en-US" sz="2400" dirty="0">
                <a:solidFill>
                  <a:srgbClr val="030303"/>
                </a:solidFill>
                <a:latin typeface="Aptos Display" panose="020B0004020202020204" pitchFamily="34" charset="0"/>
                <a:ea typeface="Instrument Sans" pitchFamily="34" charset="-122"/>
                <a:cs typeface="Instrument Sans" pitchFamily="34" charset="-120"/>
              </a:rPr>
              <a:t>.</a:t>
            </a:r>
            <a:endParaRPr lang="en-US" sz="2400" dirty="0">
              <a:latin typeface="Aptos Display" panose="020B0004020202020204" pitchFamily="34" charset="0"/>
            </a:endParaRPr>
          </a:p>
        </p:txBody>
      </p:sp>
      <p:sp>
        <p:nvSpPr>
          <p:cNvPr id="16" name="Text 14"/>
          <p:cNvSpPr/>
          <p:nvPr/>
        </p:nvSpPr>
        <p:spPr>
          <a:xfrm>
            <a:off x="3624569" y="3508375"/>
            <a:ext cx="2568213"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ea typeface="Instrument Sans" pitchFamily="34" charset="-122"/>
                <a:cs typeface="Instrument Sans" pitchFamily="34" charset="-120"/>
              </a:rPr>
              <a:t>98.7%</a:t>
            </a:r>
            <a:endParaRPr lang="en-US" sz="2400" dirty="0">
              <a:latin typeface="Aptos Display" panose="020B0004020202020204" pitchFamily="34" charset="0"/>
            </a:endParaRPr>
          </a:p>
        </p:txBody>
      </p:sp>
      <p:sp>
        <p:nvSpPr>
          <p:cNvPr id="17" name="Text 15"/>
          <p:cNvSpPr/>
          <p:nvPr/>
        </p:nvSpPr>
        <p:spPr>
          <a:xfrm>
            <a:off x="6062015" y="3508375"/>
            <a:ext cx="2978175"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ea typeface="Instrument Sans" pitchFamily="34" charset="-122"/>
                <a:cs typeface="Instrument Sans" pitchFamily="34" charset="-120"/>
              </a:rPr>
              <a:t>96.67%</a:t>
            </a:r>
            <a:endParaRPr lang="en-US" sz="2400" dirty="0">
              <a:latin typeface="Aptos Display" panose="020B0004020202020204" pitchFamily="34" charset="0"/>
            </a:endParaRPr>
          </a:p>
        </p:txBody>
      </p:sp>
      <p:sp>
        <p:nvSpPr>
          <p:cNvPr id="18" name="Text 16"/>
          <p:cNvSpPr/>
          <p:nvPr/>
        </p:nvSpPr>
        <p:spPr>
          <a:xfrm>
            <a:off x="8909422" y="3508375"/>
            <a:ext cx="2981350"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ea typeface="Instrument Sans" pitchFamily="34" charset="-122"/>
                <a:cs typeface="Instrument Sans" pitchFamily="34" charset="-120"/>
              </a:rPr>
              <a:t>95.4%</a:t>
            </a:r>
            <a:endParaRPr lang="en-US" sz="2400" dirty="0">
              <a:latin typeface="Aptos Display" panose="020B0004020202020204" pitchFamily="34" charset="0"/>
            </a:endParaRPr>
          </a:p>
        </p:txBody>
      </p:sp>
      <p:sp>
        <p:nvSpPr>
          <p:cNvPr id="19" name="Shape 17"/>
          <p:cNvSpPr/>
          <p:nvPr/>
        </p:nvSpPr>
        <p:spPr>
          <a:xfrm>
            <a:off x="674274" y="4034334"/>
            <a:ext cx="10843147" cy="673993"/>
          </a:xfrm>
          <a:prstGeom prst="rect">
            <a:avLst/>
          </a:prstGeom>
          <a:solidFill>
            <a:srgbClr val="000000">
              <a:alpha val="4000"/>
            </a:srgbClr>
          </a:solidFill>
          <a:ln/>
        </p:spPr>
        <p:txBody>
          <a:bodyPr/>
          <a:lstStyle/>
          <a:p>
            <a:endParaRPr lang="en-US" sz="2400">
              <a:latin typeface="Aptos Display" panose="020B0004020202020204" pitchFamily="34" charset="0"/>
            </a:endParaRPr>
          </a:p>
        </p:txBody>
      </p:sp>
      <p:sp>
        <p:nvSpPr>
          <p:cNvPr id="20" name="Text 18"/>
          <p:cNvSpPr/>
          <p:nvPr/>
        </p:nvSpPr>
        <p:spPr>
          <a:xfrm>
            <a:off x="910607" y="4182368"/>
            <a:ext cx="2844729" cy="377924"/>
          </a:xfrm>
          <a:prstGeom prst="rect">
            <a:avLst/>
          </a:prstGeom>
          <a:noFill/>
          <a:ln/>
        </p:spPr>
        <p:txBody>
          <a:bodyPr wrap="none" lIns="0" tIns="0" rIns="0" bIns="0" rtlCol="0" anchor="t"/>
          <a:lstStyle/>
          <a:p>
            <a:pPr marL="0" indent="0" algn="l">
              <a:lnSpc>
                <a:spcPct val="133000"/>
              </a:lnSpc>
              <a:buNone/>
            </a:pPr>
            <a:r>
              <a:rPr lang="en-US" sz="2400" b="1" dirty="0">
                <a:solidFill>
                  <a:srgbClr val="030303"/>
                </a:solidFill>
                <a:latin typeface="Aptos Display" panose="020B0004020202020204" pitchFamily="34" charset="0"/>
                <a:ea typeface="Instrument Sans" pitchFamily="34" charset="-122"/>
                <a:cs typeface="Instrument Sans" pitchFamily="34" charset="-120"/>
              </a:rPr>
              <a:t>Training Loss</a:t>
            </a:r>
            <a:endParaRPr lang="en-US" sz="2400" dirty="0">
              <a:latin typeface="Aptos Display" panose="020B0004020202020204" pitchFamily="34" charset="0"/>
            </a:endParaRPr>
          </a:p>
        </p:txBody>
      </p:sp>
      <p:sp>
        <p:nvSpPr>
          <p:cNvPr id="21" name="Text 19"/>
          <p:cNvSpPr/>
          <p:nvPr/>
        </p:nvSpPr>
        <p:spPr>
          <a:xfrm>
            <a:off x="3624569" y="4182368"/>
            <a:ext cx="2568213"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cs typeface="Instrument Sans" pitchFamily="34" charset="-120"/>
              </a:rPr>
              <a:t>0.05</a:t>
            </a:r>
            <a:endParaRPr lang="en-US" sz="2400" dirty="0">
              <a:latin typeface="Aptos Display" panose="020B0004020202020204" pitchFamily="34" charset="0"/>
            </a:endParaRPr>
          </a:p>
        </p:txBody>
      </p:sp>
      <p:sp>
        <p:nvSpPr>
          <p:cNvPr id="22" name="Text 20"/>
          <p:cNvSpPr/>
          <p:nvPr/>
        </p:nvSpPr>
        <p:spPr>
          <a:xfrm>
            <a:off x="6062015" y="4182368"/>
            <a:ext cx="2978175"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cs typeface="Instrument Sans" pitchFamily="34" charset="-120"/>
              </a:rPr>
              <a:t>0.11</a:t>
            </a:r>
            <a:endParaRPr lang="en-US" sz="2400" dirty="0">
              <a:latin typeface="Aptos Display" panose="020B0004020202020204" pitchFamily="34" charset="0"/>
            </a:endParaRPr>
          </a:p>
        </p:txBody>
      </p:sp>
      <p:sp>
        <p:nvSpPr>
          <p:cNvPr id="23" name="Text 21"/>
          <p:cNvSpPr/>
          <p:nvPr/>
        </p:nvSpPr>
        <p:spPr>
          <a:xfrm>
            <a:off x="8909422" y="4182368"/>
            <a:ext cx="2981350"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cs typeface="Instrument Sans" pitchFamily="34" charset="-120"/>
              </a:rPr>
              <a:t>0.14</a:t>
            </a:r>
            <a:endParaRPr lang="en-US" sz="2400" dirty="0">
              <a:latin typeface="Aptos Display" panose="020B0004020202020204" pitchFamily="34" charset="0"/>
            </a:endParaRPr>
          </a:p>
        </p:txBody>
      </p:sp>
      <p:sp>
        <p:nvSpPr>
          <p:cNvPr id="24" name="Shape 22"/>
          <p:cNvSpPr/>
          <p:nvPr/>
        </p:nvSpPr>
        <p:spPr>
          <a:xfrm>
            <a:off x="674274" y="4708327"/>
            <a:ext cx="10843147" cy="673993"/>
          </a:xfrm>
          <a:prstGeom prst="rect">
            <a:avLst/>
          </a:prstGeom>
          <a:solidFill>
            <a:srgbClr val="FFFFFF">
              <a:alpha val="4000"/>
            </a:srgbClr>
          </a:solidFill>
          <a:ln/>
        </p:spPr>
        <p:txBody>
          <a:bodyPr/>
          <a:lstStyle/>
          <a:p>
            <a:endParaRPr lang="en-US" sz="2400">
              <a:latin typeface="Aptos Display" panose="020B0004020202020204" pitchFamily="34" charset="0"/>
            </a:endParaRPr>
          </a:p>
        </p:txBody>
      </p:sp>
      <p:sp>
        <p:nvSpPr>
          <p:cNvPr id="25" name="Text 23"/>
          <p:cNvSpPr/>
          <p:nvPr/>
        </p:nvSpPr>
        <p:spPr>
          <a:xfrm>
            <a:off x="910607" y="4856361"/>
            <a:ext cx="2844729" cy="377924"/>
          </a:xfrm>
          <a:prstGeom prst="rect">
            <a:avLst/>
          </a:prstGeom>
          <a:noFill/>
          <a:ln/>
        </p:spPr>
        <p:txBody>
          <a:bodyPr wrap="none" lIns="0" tIns="0" rIns="0" bIns="0" rtlCol="0" anchor="t"/>
          <a:lstStyle/>
          <a:p>
            <a:pPr marL="0" indent="0" algn="l">
              <a:lnSpc>
                <a:spcPct val="133000"/>
              </a:lnSpc>
              <a:buNone/>
            </a:pPr>
            <a:r>
              <a:rPr lang="en-US" sz="2400" b="1" dirty="0">
                <a:solidFill>
                  <a:srgbClr val="030303"/>
                </a:solidFill>
                <a:latin typeface="Aptos Display" panose="020B0004020202020204" pitchFamily="34" charset="0"/>
                <a:ea typeface="Instrument Sans" pitchFamily="34" charset="-122"/>
                <a:cs typeface="Instrument Sans" pitchFamily="34" charset="-120"/>
              </a:rPr>
              <a:t>Validation Acc</a:t>
            </a:r>
            <a:r>
              <a:rPr lang="en-US" sz="2400" dirty="0">
                <a:solidFill>
                  <a:srgbClr val="030303"/>
                </a:solidFill>
                <a:latin typeface="Aptos Display" panose="020B0004020202020204" pitchFamily="34" charset="0"/>
                <a:ea typeface="Instrument Sans" pitchFamily="34" charset="-122"/>
                <a:cs typeface="Instrument Sans" pitchFamily="34" charset="-120"/>
              </a:rPr>
              <a:t>.</a:t>
            </a:r>
            <a:endParaRPr lang="en-US" sz="2400" dirty="0">
              <a:latin typeface="Aptos Display" panose="020B0004020202020204" pitchFamily="34" charset="0"/>
            </a:endParaRPr>
          </a:p>
        </p:txBody>
      </p:sp>
      <p:sp>
        <p:nvSpPr>
          <p:cNvPr id="26" name="Text 24"/>
          <p:cNvSpPr/>
          <p:nvPr/>
        </p:nvSpPr>
        <p:spPr>
          <a:xfrm>
            <a:off x="3624569" y="4856361"/>
            <a:ext cx="2568213"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ea typeface="Instrument Sans" pitchFamily="34" charset="-122"/>
                <a:cs typeface="Instrument Sans" pitchFamily="34" charset="-120"/>
              </a:rPr>
              <a:t>98.6%</a:t>
            </a:r>
            <a:endParaRPr lang="en-US" sz="2400" dirty="0">
              <a:latin typeface="Aptos Display" panose="020B0004020202020204" pitchFamily="34" charset="0"/>
            </a:endParaRPr>
          </a:p>
        </p:txBody>
      </p:sp>
      <p:sp>
        <p:nvSpPr>
          <p:cNvPr id="27" name="Text 25"/>
          <p:cNvSpPr/>
          <p:nvPr/>
        </p:nvSpPr>
        <p:spPr>
          <a:xfrm>
            <a:off x="6062015" y="4856361"/>
            <a:ext cx="2978175"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ea typeface="Instrument Sans" pitchFamily="34" charset="-122"/>
                <a:cs typeface="Instrument Sans" pitchFamily="34" charset="-120"/>
              </a:rPr>
              <a:t>96.6%</a:t>
            </a:r>
            <a:endParaRPr lang="en-US" sz="2400" dirty="0">
              <a:latin typeface="Aptos Display" panose="020B0004020202020204" pitchFamily="34" charset="0"/>
            </a:endParaRPr>
          </a:p>
        </p:txBody>
      </p:sp>
      <p:sp>
        <p:nvSpPr>
          <p:cNvPr id="28" name="Text 26"/>
          <p:cNvSpPr/>
          <p:nvPr/>
        </p:nvSpPr>
        <p:spPr>
          <a:xfrm>
            <a:off x="8909422" y="4856361"/>
            <a:ext cx="2981350"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ea typeface="Instrument Sans" pitchFamily="34" charset="-122"/>
                <a:cs typeface="Instrument Sans" pitchFamily="34" charset="-120"/>
              </a:rPr>
              <a:t>95.25%</a:t>
            </a:r>
            <a:endParaRPr lang="en-US" sz="2400" dirty="0">
              <a:latin typeface="Aptos Display" panose="020B0004020202020204" pitchFamily="34" charset="0"/>
            </a:endParaRPr>
          </a:p>
        </p:txBody>
      </p:sp>
      <p:sp>
        <p:nvSpPr>
          <p:cNvPr id="29" name="Shape 27"/>
          <p:cNvSpPr/>
          <p:nvPr/>
        </p:nvSpPr>
        <p:spPr>
          <a:xfrm>
            <a:off x="674274" y="5382320"/>
            <a:ext cx="10843147" cy="673993"/>
          </a:xfrm>
          <a:prstGeom prst="rect">
            <a:avLst/>
          </a:prstGeom>
          <a:solidFill>
            <a:srgbClr val="000000">
              <a:alpha val="4000"/>
            </a:srgbClr>
          </a:solidFill>
          <a:ln/>
        </p:spPr>
        <p:txBody>
          <a:bodyPr/>
          <a:lstStyle/>
          <a:p>
            <a:endParaRPr lang="en-US" sz="2400">
              <a:latin typeface="Aptos Display" panose="020B0004020202020204" pitchFamily="34" charset="0"/>
            </a:endParaRPr>
          </a:p>
        </p:txBody>
      </p:sp>
      <p:sp>
        <p:nvSpPr>
          <p:cNvPr id="30" name="Text 28"/>
          <p:cNvSpPr/>
          <p:nvPr/>
        </p:nvSpPr>
        <p:spPr>
          <a:xfrm>
            <a:off x="910607" y="5530354"/>
            <a:ext cx="2844729" cy="377924"/>
          </a:xfrm>
          <a:prstGeom prst="rect">
            <a:avLst/>
          </a:prstGeom>
          <a:noFill/>
          <a:ln/>
        </p:spPr>
        <p:txBody>
          <a:bodyPr wrap="none" lIns="0" tIns="0" rIns="0" bIns="0" rtlCol="0" anchor="t"/>
          <a:lstStyle/>
          <a:p>
            <a:pPr marL="0" indent="0" algn="l">
              <a:lnSpc>
                <a:spcPct val="133000"/>
              </a:lnSpc>
              <a:buNone/>
            </a:pPr>
            <a:r>
              <a:rPr lang="en-US" sz="2400" b="1" dirty="0">
                <a:solidFill>
                  <a:srgbClr val="030303"/>
                </a:solidFill>
                <a:latin typeface="Aptos Display" panose="020B0004020202020204" pitchFamily="34" charset="0"/>
                <a:ea typeface="Instrument Sans" pitchFamily="34" charset="-122"/>
                <a:cs typeface="Instrument Sans" pitchFamily="34" charset="-120"/>
              </a:rPr>
              <a:t>Validation Loss</a:t>
            </a:r>
            <a:endParaRPr lang="en-US" sz="2400" dirty="0">
              <a:latin typeface="Aptos Display" panose="020B0004020202020204" pitchFamily="34" charset="0"/>
            </a:endParaRPr>
          </a:p>
        </p:txBody>
      </p:sp>
      <p:sp>
        <p:nvSpPr>
          <p:cNvPr id="31" name="Text 29"/>
          <p:cNvSpPr/>
          <p:nvPr/>
        </p:nvSpPr>
        <p:spPr>
          <a:xfrm>
            <a:off x="3624569" y="5530354"/>
            <a:ext cx="2568213"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cs typeface="Instrument Sans" pitchFamily="34" charset="-120"/>
              </a:rPr>
              <a:t>0.04</a:t>
            </a:r>
            <a:endParaRPr lang="en-US" sz="2400" dirty="0">
              <a:latin typeface="Aptos Display" panose="020B0004020202020204" pitchFamily="34" charset="0"/>
            </a:endParaRPr>
          </a:p>
        </p:txBody>
      </p:sp>
      <p:sp>
        <p:nvSpPr>
          <p:cNvPr id="32" name="Text 30"/>
          <p:cNvSpPr/>
          <p:nvPr/>
        </p:nvSpPr>
        <p:spPr>
          <a:xfrm>
            <a:off x="6062015" y="5530354"/>
            <a:ext cx="2978175"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cs typeface="Instrument Sans" pitchFamily="34" charset="-120"/>
              </a:rPr>
              <a:t>0.11</a:t>
            </a:r>
            <a:endParaRPr lang="en-US" sz="2400" dirty="0">
              <a:latin typeface="Aptos Display" panose="020B0004020202020204" pitchFamily="34" charset="0"/>
            </a:endParaRPr>
          </a:p>
        </p:txBody>
      </p:sp>
      <p:sp>
        <p:nvSpPr>
          <p:cNvPr id="33" name="Text 31"/>
          <p:cNvSpPr/>
          <p:nvPr/>
        </p:nvSpPr>
        <p:spPr>
          <a:xfrm>
            <a:off x="8909422" y="5530354"/>
            <a:ext cx="2981350" cy="377924"/>
          </a:xfrm>
          <a:prstGeom prst="rect">
            <a:avLst/>
          </a:prstGeom>
          <a:noFill/>
          <a:ln/>
        </p:spPr>
        <p:txBody>
          <a:bodyPr wrap="none" lIns="0" tIns="0" rIns="0" bIns="0" rtlCol="0" anchor="t"/>
          <a:lstStyle/>
          <a:p>
            <a:pPr marL="0" indent="0" algn="l">
              <a:lnSpc>
                <a:spcPct val="133000"/>
              </a:lnSpc>
              <a:buNone/>
            </a:pPr>
            <a:r>
              <a:rPr lang="en-US" sz="2400" dirty="0">
                <a:solidFill>
                  <a:srgbClr val="030303"/>
                </a:solidFill>
                <a:latin typeface="Aptos Display" panose="020B0004020202020204" pitchFamily="34" charset="0"/>
                <a:cs typeface="Instrument Sans" pitchFamily="34" charset="-120"/>
              </a:rPr>
              <a:t>0.14</a:t>
            </a:r>
            <a:endParaRPr lang="en-US" sz="2400" dirty="0">
              <a:latin typeface="Aptos Display" panose="020B00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61574" y="810716"/>
            <a:ext cx="6586670" cy="701477"/>
          </a:xfrm>
          <a:prstGeom prst="rect">
            <a:avLst/>
          </a:prstGeom>
          <a:noFill/>
          <a:ln/>
        </p:spPr>
        <p:txBody>
          <a:bodyPr wrap="none" lIns="0" tIns="0" rIns="0" bIns="0" rtlCol="0" anchor="t"/>
          <a:lstStyle/>
          <a:p>
            <a:pPr marL="0" indent="0" algn="l">
              <a:lnSpc>
                <a:spcPct val="104000"/>
              </a:lnSpc>
              <a:buNone/>
            </a:pPr>
            <a:r>
              <a:rPr lang="en-US" sz="4400" b="1" dirty="0">
                <a:solidFill>
                  <a:srgbClr val="265834"/>
                </a:solidFill>
                <a:latin typeface="Fraunces ExtraBold" pitchFamily="34" charset="0"/>
                <a:ea typeface="Fraunces ExtraBold" pitchFamily="34" charset="-122"/>
                <a:cs typeface="Fraunces ExtraBold" pitchFamily="34" charset="-120"/>
              </a:rPr>
              <a:t>Final Model Selection</a:t>
            </a:r>
            <a:endParaRPr lang="en-US" sz="4400" b="1" dirty="0"/>
          </a:p>
        </p:txBody>
      </p:sp>
      <p:sp>
        <p:nvSpPr>
          <p:cNvPr id="3" name="Text 1"/>
          <p:cNvSpPr/>
          <p:nvPr/>
        </p:nvSpPr>
        <p:spPr>
          <a:xfrm>
            <a:off x="661574" y="1597422"/>
            <a:ext cx="4213616" cy="350738"/>
          </a:xfrm>
          <a:prstGeom prst="rect">
            <a:avLst/>
          </a:prstGeom>
          <a:noFill/>
          <a:ln/>
        </p:spPr>
        <p:txBody>
          <a:bodyPr wrap="none" lIns="0" tIns="0" rIns="0" bIns="0" rtlCol="0" anchor="t"/>
          <a:lstStyle/>
          <a:p>
            <a:pPr marL="0" indent="0" algn="l">
              <a:lnSpc>
                <a:spcPct val="104000"/>
              </a:lnSpc>
              <a:buNone/>
            </a:pPr>
            <a:r>
              <a:rPr lang="en-US" sz="2200" b="1" dirty="0">
                <a:solidFill>
                  <a:srgbClr val="265834"/>
                </a:solidFill>
                <a:latin typeface="Fraunces ExtraBold" pitchFamily="34" charset="0"/>
                <a:ea typeface="Fraunces ExtraBold" pitchFamily="34" charset="-122"/>
                <a:cs typeface="Fraunces ExtraBold" pitchFamily="34" charset="-120"/>
              </a:rPr>
              <a:t>The Winner: MobileNetV2</a:t>
            </a:r>
            <a:endParaRPr lang="en-US" sz="2200" b="1" dirty="0"/>
          </a:p>
        </p:txBody>
      </p:sp>
      <p:sp>
        <p:nvSpPr>
          <p:cNvPr id="4" name="Text 2"/>
          <p:cNvSpPr/>
          <p:nvPr/>
        </p:nvSpPr>
        <p:spPr>
          <a:xfrm>
            <a:off x="661574" y="2267942"/>
            <a:ext cx="10868547" cy="792361"/>
          </a:xfrm>
          <a:prstGeom prst="rect">
            <a:avLst/>
          </a:prstGeom>
          <a:noFill/>
          <a:ln/>
        </p:spPr>
        <p:txBody>
          <a:bodyPr wrap="square" lIns="0" tIns="0" rIns="0" bIns="0" rtlCol="0" anchor="t">
            <a:normAutofit/>
          </a:bodyPr>
          <a:lstStyle/>
          <a:p>
            <a:pPr marL="0" indent="0" algn="l">
              <a:lnSpc>
                <a:spcPct val="130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While ResNet-50 achieved the highest accuracy (98.6%), we selected </a:t>
            </a:r>
            <a:r>
              <a:rPr lang="en-US" b="1" dirty="0">
                <a:solidFill>
                  <a:srgbClr val="030303"/>
                </a:solidFill>
                <a:latin typeface="Aptos Display" panose="020B0004020202020204" pitchFamily="34" charset="0"/>
                <a:ea typeface="Instrument Sans" pitchFamily="34" charset="-122"/>
                <a:cs typeface="Instrument Sans" pitchFamily="34" charset="-120"/>
              </a:rPr>
              <a:t>MobileNetV2</a:t>
            </a:r>
            <a:r>
              <a:rPr lang="en-US" dirty="0">
                <a:solidFill>
                  <a:srgbClr val="030303"/>
                </a:solidFill>
                <a:latin typeface="Aptos Display" panose="020B0004020202020204" pitchFamily="34" charset="0"/>
                <a:ea typeface="Instrument Sans" pitchFamily="34" charset="-122"/>
                <a:cs typeface="Instrument Sans" pitchFamily="34" charset="-120"/>
              </a:rPr>
              <a:t> </a:t>
            </a:r>
            <a:r>
              <a:rPr lang="en-US" b="1" dirty="0">
                <a:solidFill>
                  <a:srgbClr val="030303"/>
                </a:solidFill>
                <a:latin typeface="Aptos Display" panose="020B0004020202020204" pitchFamily="34" charset="0"/>
                <a:ea typeface="Instrument Sans" pitchFamily="34" charset="-122"/>
                <a:cs typeface="Instrument Sans" pitchFamily="34" charset="-120"/>
              </a:rPr>
              <a:t>(95.25%)</a:t>
            </a:r>
            <a:r>
              <a:rPr lang="en-US" dirty="0">
                <a:solidFill>
                  <a:srgbClr val="030303"/>
                </a:solidFill>
                <a:latin typeface="Aptos Display" panose="020B0004020202020204" pitchFamily="34" charset="0"/>
                <a:ea typeface="Instrument Sans" pitchFamily="34" charset="-122"/>
                <a:cs typeface="Instrument Sans" pitchFamily="34" charset="-120"/>
              </a:rPr>
              <a:t> as the production engine for </a:t>
            </a:r>
            <a:r>
              <a:rPr lang="en-US" dirty="0" err="1">
                <a:solidFill>
                  <a:srgbClr val="030303"/>
                </a:solidFill>
                <a:latin typeface="Aptos Display" panose="020B0004020202020204" pitchFamily="34" charset="0"/>
                <a:ea typeface="Instrument Sans" pitchFamily="34" charset="-122"/>
                <a:cs typeface="Instrument Sans" pitchFamily="34" charset="-120"/>
              </a:rPr>
              <a:t>FloraAI</a:t>
            </a:r>
            <a:r>
              <a:rPr lang="en-US" dirty="0">
                <a:solidFill>
                  <a:srgbClr val="030303"/>
                </a:solidFill>
                <a:latin typeface="Aptos Display" panose="020B0004020202020204" pitchFamily="34" charset="0"/>
                <a:ea typeface="Instrument Sans" pitchFamily="34" charset="-122"/>
                <a:cs typeface="Instrument Sans" pitchFamily="34" charset="-120"/>
              </a:rPr>
              <a:t>.</a:t>
            </a:r>
            <a:endParaRPr lang="en-US" dirty="0">
              <a:latin typeface="Aptos Display" panose="020B0004020202020204" pitchFamily="34" charset="0"/>
            </a:endParaRPr>
          </a:p>
        </p:txBody>
      </p:sp>
      <p:sp>
        <p:nvSpPr>
          <p:cNvPr id="5" name="Text 3"/>
          <p:cNvSpPr/>
          <p:nvPr/>
        </p:nvSpPr>
        <p:spPr>
          <a:xfrm>
            <a:off x="661574" y="3380085"/>
            <a:ext cx="10868547" cy="2667099"/>
          </a:xfrm>
          <a:prstGeom prst="rect">
            <a:avLst/>
          </a:prstGeom>
          <a:noFill/>
          <a:ln/>
        </p:spPr>
        <p:txBody>
          <a:bodyPr wrap="square" lIns="0" tIns="0" rIns="0" bIns="0" rtlCol="0" anchor="t">
            <a:normAutofit/>
          </a:bodyPr>
          <a:lstStyle/>
          <a:p>
            <a:pPr>
              <a:lnSpc>
                <a:spcPct val="130000"/>
              </a:lnSpc>
              <a:buSzPct val="100000"/>
            </a:pPr>
            <a:r>
              <a:rPr lang="en-US" b="1" dirty="0">
                <a:solidFill>
                  <a:srgbClr val="030303"/>
                </a:solidFill>
                <a:latin typeface="Aptos Display" panose="020B0004020202020204" pitchFamily="34" charset="0"/>
                <a:ea typeface="Instrument Sans" pitchFamily="34" charset="-122"/>
                <a:cs typeface="Instrument Sans" pitchFamily="34" charset="-120"/>
              </a:rPr>
              <a:t>Justification for Selection:</a:t>
            </a:r>
          </a:p>
          <a:p>
            <a:pPr marL="800100" lvl="1" indent="-342900">
              <a:lnSpc>
                <a:spcPct val="130000"/>
              </a:lnSpc>
              <a:buSzPct val="100000"/>
              <a:buFont typeface="+mj-lt"/>
              <a:buAutoNum type="arabicPeriod"/>
            </a:pPr>
            <a:r>
              <a:rPr lang="en-US" b="1" dirty="0">
                <a:solidFill>
                  <a:srgbClr val="030303"/>
                </a:solidFill>
                <a:latin typeface="Aptos Display" panose="020B0004020202020204" pitchFamily="34" charset="0"/>
                <a:ea typeface="Instrument Sans" pitchFamily="34" charset="-122"/>
                <a:cs typeface="Instrument Sans" pitchFamily="34" charset="-120"/>
              </a:rPr>
              <a:t>Reasoning Speed:</a:t>
            </a:r>
            <a:r>
              <a:rPr lang="en-US" dirty="0">
                <a:solidFill>
                  <a:srgbClr val="030303"/>
                </a:solidFill>
                <a:latin typeface="Aptos Display" panose="020B0004020202020204" pitchFamily="34" charset="0"/>
                <a:ea typeface="Instrument Sans" pitchFamily="34" charset="-122"/>
                <a:cs typeface="Instrument Sans" pitchFamily="34" charset="-120"/>
              </a:rPr>
              <a:t> MobileNetV2 offers </a:t>
            </a:r>
            <a:r>
              <a:rPr lang="en-US" b="1" dirty="0">
                <a:solidFill>
                  <a:srgbClr val="030303"/>
                </a:solidFill>
                <a:latin typeface="Aptos Display" panose="020B0004020202020204" pitchFamily="34" charset="0"/>
                <a:ea typeface="Instrument Sans" pitchFamily="34" charset="-122"/>
                <a:cs typeface="Instrument Sans" pitchFamily="34" charset="-120"/>
              </a:rPr>
              <a:t>faster</a:t>
            </a:r>
            <a:r>
              <a:rPr lang="en-US" dirty="0">
                <a:solidFill>
                  <a:srgbClr val="030303"/>
                </a:solidFill>
                <a:latin typeface="Aptos Display" panose="020B0004020202020204" pitchFamily="34" charset="0"/>
                <a:ea typeface="Instrument Sans" pitchFamily="34" charset="-122"/>
                <a:cs typeface="Instrument Sans" pitchFamily="34" charset="-120"/>
              </a:rPr>
              <a:t>  reasoning times than the other models, which is critical for real-time user feedback.</a:t>
            </a:r>
            <a:endParaRPr lang="en-US" dirty="0">
              <a:latin typeface="Aptos Display" panose="020B0004020202020204" pitchFamily="34" charset="0"/>
            </a:endParaRPr>
          </a:p>
          <a:p>
            <a:pPr marL="800100" lvl="1" indent="-342900">
              <a:lnSpc>
                <a:spcPct val="130000"/>
              </a:lnSpc>
              <a:buSzPct val="100000"/>
              <a:buFont typeface="+mj-lt"/>
              <a:buAutoNum type="arabicPeriod" startAt="2"/>
            </a:pPr>
            <a:r>
              <a:rPr lang="en-US" b="1" dirty="0">
                <a:solidFill>
                  <a:srgbClr val="030303"/>
                </a:solidFill>
                <a:latin typeface="Aptos Display" panose="020B0004020202020204" pitchFamily="34" charset="0"/>
                <a:ea typeface="Instrument Sans" pitchFamily="34" charset="-122"/>
                <a:cs typeface="Instrument Sans" pitchFamily="34" charset="-120"/>
              </a:rPr>
              <a:t>Model Size:</a:t>
            </a:r>
            <a:r>
              <a:rPr lang="en-US" dirty="0">
                <a:solidFill>
                  <a:srgbClr val="030303"/>
                </a:solidFill>
                <a:latin typeface="Aptos Display" panose="020B0004020202020204" pitchFamily="34" charset="0"/>
                <a:ea typeface="Instrument Sans" pitchFamily="34" charset="-122"/>
                <a:cs typeface="Instrument Sans" pitchFamily="34" charset="-120"/>
              </a:rPr>
              <a:t> Its "Inverted Residual" architecture creates a lightweight model (under</a:t>
            </a:r>
            <a:r>
              <a:rPr lang="en-US" b="1" dirty="0">
                <a:solidFill>
                  <a:srgbClr val="030303"/>
                </a:solidFill>
                <a:latin typeface="Aptos Display" panose="020B0004020202020204" pitchFamily="34" charset="0"/>
                <a:ea typeface="Instrument Sans" pitchFamily="34" charset="-122"/>
                <a:cs typeface="Instrument Sans" pitchFamily="34" charset="-120"/>
              </a:rPr>
              <a:t> 15MB</a:t>
            </a:r>
            <a:r>
              <a:rPr lang="en-US" dirty="0">
                <a:solidFill>
                  <a:srgbClr val="030303"/>
                </a:solidFill>
                <a:latin typeface="Aptos Display" panose="020B0004020202020204" pitchFamily="34" charset="0"/>
                <a:ea typeface="Instrument Sans" pitchFamily="34" charset="-122"/>
                <a:cs typeface="Instrument Sans" pitchFamily="34" charset="-120"/>
              </a:rPr>
              <a:t>) suitable for mobile storage.</a:t>
            </a:r>
            <a:endParaRPr lang="en-US" dirty="0">
              <a:latin typeface="Aptos Display" panose="020B0004020202020204" pitchFamily="34" charset="0"/>
            </a:endParaRPr>
          </a:p>
          <a:p>
            <a:pPr marL="800100" lvl="1" indent="-342900">
              <a:lnSpc>
                <a:spcPct val="130000"/>
              </a:lnSpc>
              <a:buSzPct val="100000"/>
              <a:buFont typeface="+mj-lt"/>
              <a:buAutoNum type="arabicPeriod" startAt="3"/>
            </a:pPr>
            <a:r>
              <a:rPr lang="en-US" b="1" dirty="0">
                <a:solidFill>
                  <a:srgbClr val="030303"/>
                </a:solidFill>
                <a:latin typeface="Aptos Display" panose="020B0004020202020204" pitchFamily="34" charset="0"/>
                <a:ea typeface="Instrument Sans" pitchFamily="34" charset="-122"/>
                <a:cs typeface="Instrument Sans" pitchFamily="34" charset="-120"/>
              </a:rPr>
              <a:t>The Trade-off:</a:t>
            </a:r>
            <a:r>
              <a:rPr lang="en-US" dirty="0">
                <a:solidFill>
                  <a:srgbClr val="030303"/>
                </a:solidFill>
                <a:latin typeface="Aptos Display" panose="020B0004020202020204" pitchFamily="34" charset="0"/>
                <a:ea typeface="Instrument Sans" pitchFamily="34" charset="-122"/>
                <a:cs typeface="Instrument Sans" pitchFamily="34" charset="-120"/>
              </a:rPr>
              <a:t> The </a:t>
            </a:r>
            <a:r>
              <a:rPr lang="en-US" b="1" dirty="0">
                <a:solidFill>
                  <a:srgbClr val="030303"/>
                </a:solidFill>
                <a:latin typeface="Aptos Display" panose="020B0004020202020204" pitchFamily="34" charset="0"/>
                <a:ea typeface="Instrument Sans" pitchFamily="34" charset="-122"/>
                <a:cs typeface="Instrument Sans" pitchFamily="34" charset="-120"/>
              </a:rPr>
              <a:t>3.3%</a:t>
            </a:r>
            <a:r>
              <a:rPr lang="en-US" dirty="0">
                <a:solidFill>
                  <a:srgbClr val="030303"/>
                </a:solidFill>
                <a:latin typeface="Aptos Display" panose="020B0004020202020204" pitchFamily="34" charset="0"/>
                <a:ea typeface="Instrument Sans" pitchFamily="34" charset="-122"/>
                <a:cs typeface="Instrument Sans" pitchFamily="34" charset="-120"/>
              </a:rPr>
              <a:t> drop in accuracy was deemed an acceptable trade-off for the ability to run </a:t>
            </a:r>
            <a:r>
              <a:rPr lang="en-US" b="1" dirty="0">
                <a:solidFill>
                  <a:srgbClr val="030303"/>
                </a:solidFill>
                <a:latin typeface="Aptos Display" panose="020B0004020202020204" pitchFamily="34" charset="0"/>
                <a:ea typeface="Instrument Sans" pitchFamily="34" charset="-122"/>
                <a:cs typeface="Instrument Sans" pitchFamily="34" charset="-120"/>
              </a:rPr>
              <a:t>offline</a:t>
            </a:r>
            <a:r>
              <a:rPr lang="en-US" dirty="0">
                <a:solidFill>
                  <a:srgbClr val="030303"/>
                </a:solidFill>
                <a:latin typeface="Aptos Display" panose="020B0004020202020204" pitchFamily="34" charset="0"/>
                <a:ea typeface="Instrument Sans" pitchFamily="34" charset="-122"/>
                <a:cs typeface="Instrument Sans" pitchFamily="34" charset="-120"/>
              </a:rPr>
              <a:t> and preserve the user's battery life.</a:t>
            </a:r>
            <a:endParaRPr lang="en-US" dirty="0">
              <a:latin typeface="Aptos Display" panose="020B00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61574" y="685502"/>
            <a:ext cx="6670111" cy="738287"/>
          </a:xfrm>
          <a:prstGeom prst="rect">
            <a:avLst/>
          </a:prstGeom>
          <a:noFill/>
          <a:ln/>
        </p:spPr>
        <p:txBody>
          <a:bodyPr wrap="none" lIns="0" tIns="0" rIns="0" bIns="0" rtlCol="0" anchor="t"/>
          <a:lstStyle/>
          <a:p>
            <a:pPr marL="0" indent="0" algn="l">
              <a:lnSpc>
                <a:spcPct val="104000"/>
              </a:lnSpc>
              <a:buNone/>
            </a:pPr>
            <a:r>
              <a:rPr lang="en-US" sz="4650" b="1" dirty="0">
                <a:solidFill>
                  <a:srgbClr val="265834"/>
                </a:solidFill>
                <a:latin typeface="Fraunces ExtraBold" pitchFamily="34" charset="0"/>
                <a:ea typeface="Fraunces ExtraBold" pitchFamily="34" charset="-122"/>
                <a:cs typeface="Fraunces ExtraBold" pitchFamily="34" charset="-120"/>
              </a:rPr>
              <a:t>Model Performance </a:t>
            </a:r>
            <a:endParaRPr lang="en-US" sz="4650" b="1" dirty="0"/>
          </a:p>
        </p:txBody>
      </p:sp>
      <p:sp>
        <p:nvSpPr>
          <p:cNvPr id="3" name="Text 1"/>
          <p:cNvSpPr/>
          <p:nvPr/>
        </p:nvSpPr>
        <p:spPr>
          <a:xfrm>
            <a:off x="661574" y="1707307"/>
            <a:ext cx="11478132" cy="377924"/>
          </a:xfrm>
          <a:prstGeom prst="rect">
            <a:avLst/>
          </a:prstGeom>
          <a:noFill/>
          <a:ln/>
        </p:spPr>
        <p:txBody>
          <a:bodyPr wrap="none" lIns="0" tIns="0" rIns="0" bIns="0" rtlCol="0" anchor="t"/>
          <a:lstStyle/>
          <a:p>
            <a:pPr marL="0" indent="0" algn="l">
              <a:lnSpc>
                <a:spcPct val="133000"/>
              </a:lnSpc>
              <a:buNone/>
            </a:pPr>
            <a:r>
              <a:rPr lang="en-US" sz="2000" b="1" dirty="0">
                <a:solidFill>
                  <a:srgbClr val="030303"/>
                </a:solidFill>
                <a:latin typeface="Aptos Display" panose="020B0004020202020204" pitchFamily="34" charset="0"/>
                <a:ea typeface="Instrument Sans" pitchFamily="34" charset="-122"/>
                <a:cs typeface="Instrument Sans" pitchFamily="34" charset="-120"/>
              </a:rPr>
              <a:t>Accuracy:</a:t>
            </a:r>
            <a:r>
              <a:rPr lang="en-US" sz="2000" dirty="0">
                <a:solidFill>
                  <a:srgbClr val="030303"/>
                </a:solidFill>
                <a:latin typeface="Aptos Display" panose="020B0004020202020204" pitchFamily="34" charset="0"/>
                <a:ea typeface="Instrument Sans" pitchFamily="34" charset="-122"/>
                <a:cs typeface="Instrument Sans" pitchFamily="34" charset="-120"/>
              </a:rPr>
              <a:t> the model achieved </a:t>
            </a:r>
            <a:r>
              <a:rPr lang="en-US" sz="2000" b="1" dirty="0">
                <a:solidFill>
                  <a:srgbClr val="030303"/>
                </a:solidFill>
                <a:latin typeface="Aptos Display" panose="020B0004020202020204" pitchFamily="34" charset="0"/>
                <a:ea typeface="Instrument Sans" pitchFamily="34" charset="-122"/>
                <a:cs typeface="Instrument Sans" pitchFamily="34" charset="-120"/>
              </a:rPr>
              <a:t>95.45% </a:t>
            </a:r>
            <a:r>
              <a:rPr lang="en-US" sz="2000" dirty="0">
                <a:solidFill>
                  <a:srgbClr val="030303"/>
                </a:solidFill>
                <a:latin typeface="Aptos Display" panose="020B0004020202020204" pitchFamily="34" charset="0"/>
                <a:ea typeface="Instrument Sans" pitchFamily="34" charset="-122"/>
                <a:cs typeface="Instrument Sans" pitchFamily="34" charset="-120"/>
              </a:rPr>
              <a:t>training Accuracy and </a:t>
            </a:r>
            <a:r>
              <a:rPr lang="en-US" sz="2000" b="1" dirty="0">
                <a:solidFill>
                  <a:srgbClr val="030303"/>
                </a:solidFill>
                <a:latin typeface="Aptos Display" panose="020B0004020202020204" pitchFamily="34" charset="0"/>
                <a:ea typeface="Instrument Sans" pitchFamily="34" charset="-122"/>
                <a:cs typeface="Instrument Sans" pitchFamily="34" charset="-120"/>
              </a:rPr>
              <a:t>95.25%</a:t>
            </a:r>
            <a:r>
              <a:rPr lang="en-US" sz="2000" dirty="0">
                <a:solidFill>
                  <a:srgbClr val="030303"/>
                </a:solidFill>
                <a:latin typeface="Aptos Display" panose="020B0004020202020204" pitchFamily="34" charset="0"/>
                <a:ea typeface="Instrument Sans" pitchFamily="34" charset="-122"/>
                <a:cs typeface="Instrument Sans" pitchFamily="34" charset="-120"/>
              </a:rPr>
              <a:t> validation accuracy</a:t>
            </a:r>
            <a:endParaRPr lang="en-US" sz="2000" dirty="0">
              <a:latin typeface="Aptos Display" panose="020B0004020202020204" pitchFamily="34" charset="0"/>
            </a:endParaRPr>
          </a:p>
        </p:txBody>
      </p:sp>
      <p:pic>
        <p:nvPicPr>
          <p:cNvPr id="4" name="Image 0" descr="preencoded.png"/>
          <p:cNvPicPr>
            <a:picLocks noChangeAspect="1"/>
          </p:cNvPicPr>
          <p:nvPr/>
        </p:nvPicPr>
        <p:blipFill>
          <a:blip r:embed="rId3"/>
          <a:srcRect b="2017"/>
          <a:stretch>
            <a:fillRect/>
          </a:stretch>
        </p:blipFill>
        <p:spPr>
          <a:xfrm>
            <a:off x="2262925" y="2540000"/>
            <a:ext cx="7665747" cy="355924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bg>
      <p:bgPr>
        <a:gradFill>
          <a:gsLst>
            <a:gs pos="16000">
              <a:srgbClr val="146A18"/>
            </a:gs>
            <a:gs pos="47000">
              <a:srgbClr val="0B9912">
                <a:alpha val="95000"/>
                <a:lumMod val="100000"/>
              </a:srgbClr>
            </a:gs>
            <a:gs pos="100000">
              <a:srgbClr val="146A18"/>
            </a:gs>
          </a:gsLst>
          <a:lin ang="13500000" scaled="1"/>
        </a:gradFill>
        <a:effectLst/>
      </p:bgPr>
    </p:bg>
    <p:spTree>
      <p:nvGrpSpPr>
        <p:cNvPr id="1" name=""/>
        <p:cNvGrpSpPr/>
        <p:nvPr/>
      </p:nvGrpSpPr>
      <p:grpSpPr>
        <a:xfrm>
          <a:off x="0" y="0"/>
          <a:ext cx="0" cy="0"/>
          <a:chOff x="0" y="0"/>
          <a:chExt cx="0" cy="0"/>
        </a:xfrm>
      </p:grpSpPr>
      <p:sp>
        <p:nvSpPr>
          <p:cNvPr id="2" name="Text 0"/>
          <p:cNvSpPr/>
          <p:nvPr/>
        </p:nvSpPr>
        <p:spPr>
          <a:xfrm>
            <a:off x="2837684" y="3059807"/>
            <a:ext cx="6516326" cy="738287"/>
          </a:xfrm>
          <a:prstGeom prst="rect">
            <a:avLst/>
          </a:prstGeom>
          <a:noFill/>
          <a:ln/>
        </p:spPr>
        <p:txBody>
          <a:bodyPr wrap="none" lIns="0" tIns="0" rIns="0" bIns="0" rtlCol="0" anchor="t"/>
          <a:lstStyle/>
          <a:p>
            <a:pPr marL="0" indent="0" algn="ctr">
              <a:lnSpc>
                <a:spcPct val="104000"/>
              </a:lnSpc>
              <a:buNone/>
            </a:pPr>
            <a:r>
              <a:rPr lang="en-US" sz="4650" b="1" dirty="0">
                <a:solidFill>
                  <a:srgbClr val="FFFFFF"/>
                </a:solidFill>
                <a:latin typeface="Fraunces ExtraBold" pitchFamily="34" charset="0"/>
                <a:ea typeface="Fraunces ExtraBold" pitchFamily="34" charset="-122"/>
                <a:cs typeface="Fraunces ExtraBold" pitchFamily="34" charset="-120"/>
              </a:rPr>
              <a:t>Backend</a:t>
            </a:r>
            <a:endParaRPr lang="en-US" sz="465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34081" y="437745"/>
            <a:ext cx="5134144" cy="6157607"/>
          </a:xfrm>
          <a:prstGeom prst="roundRect">
            <a:avLst>
              <a:gd name="adj" fmla="val 4970"/>
            </a:avLst>
          </a:prstGeom>
          <a:solidFill>
            <a:srgbClr val="DFEEE2"/>
          </a:solidFill>
          <a:ln/>
        </p:spPr>
        <p:txBody>
          <a:bodyPr/>
          <a:lstStyle/>
          <a:p>
            <a:endParaRPr lang="en-US"/>
          </a:p>
        </p:txBody>
      </p:sp>
      <p:sp>
        <p:nvSpPr>
          <p:cNvPr id="3" name="Text 1"/>
          <p:cNvSpPr/>
          <p:nvPr/>
        </p:nvSpPr>
        <p:spPr>
          <a:xfrm>
            <a:off x="711281" y="671209"/>
            <a:ext cx="5120254" cy="443012"/>
          </a:xfrm>
          <a:prstGeom prst="rect">
            <a:avLst/>
          </a:prstGeom>
          <a:noFill/>
          <a:ln/>
        </p:spPr>
        <p:txBody>
          <a:bodyPr wrap="none" lIns="0" tIns="0" rIns="0" bIns="0" rtlCol="0" anchor="t"/>
          <a:lstStyle/>
          <a:p>
            <a:pPr marL="0" indent="0" algn="l">
              <a:lnSpc>
                <a:spcPct val="104000"/>
              </a:lnSpc>
              <a:buNone/>
            </a:pPr>
            <a:r>
              <a:rPr lang="en-US" sz="2750" b="1" dirty="0">
                <a:solidFill>
                  <a:srgbClr val="265834"/>
                </a:solidFill>
                <a:latin typeface="Fraunces ExtraBold" pitchFamily="34" charset="0"/>
                <a:ea typeface="Fraunces ExtraBold" pitchFamily="34" charset="-122"/>
                <a:cs typeface="Fraunces ExtraBold" pitchFamily="34" charset="-120"/>
              </a:rPr>
              <a:t>Functional Requirements</a:t>
            </a:r>
            <a:endParaRPr lang="en-US" sz="2750" b="1" dirty="0"/>
          </a:p>
        </p:txBody>
      </p:sp>
      <p:sp>
        <p:nvSpPr>
          <p:cNvPr id="4" name="Text 2"/>
          <p:cNvSpPr/>
          <p:nvPr/>
        </p:nvSpPr>
        <p:spPr>
          <a:xfrm>
            <a:off x="711281" y="1244402"/>
            <a:ext cx="3696004" cy="332184"/>
          </a:xfrm>
          <a:prstGeom prst="rect">
            <a:avLst/>
          </a:prstGeom>
          <a:noFill/>
          <a:ln/>
        </p:spPr>
        <p:txBody>
          <a:bodyPr wrap="none" lIns="0" tIns="0" rIns="0" bIns="0" rtlCol="0" anchor="t"/>
          <a:lstStyle/>
          <a:p>
            <a:pPr marL="0" indent="0" algn="l">
              <a:lnSpc>
                <a:spcPct val="104000"/>
              </a:lnSpc>
              <a:buNone/>
            </a:pPr>
            <a:r>
              <a:rPr lang="en-US" sz="2050" b="1" dirty="0">
                <a:solidFill>
                  <a:srgbClr val="265834"/>
                </a:solidFill>
                <a:latin typeface="Fraunces ExtraBold" pitchFamily="34" charset="0"/>
                <a:ea typeface="Fraunces ExtraBold" pitchFamily="34" charset="-122"/>
                <a:cs typeface="Fraunces ExtraBold" pitchFamily="34" charset="-120"/>
              </a:rPr>
              <a:t>(What the system does)</a:t>
            </a:r>
            <a:endParaRPr lang="en-US" sz="2050" b="1" dirty="0"/>
          </a:p>
        </p:txBody>
      </p:sp>
      <p:sp>
        <p:nvSpPr>
          <p:cNvPr id="5" name="Text 3"/>
          <p:cNvSpPr/>
          <p:nvPr/>
        </p:nvSpPr>
        <p:spPr>
          <a:xfrm>
            <a:off x="711281" y="1706767"/>
            <a:ext cx="4779744" cy="4713488"/>
          </a:xfrm>
          <a:prstGeom prst="rect">
            <a:avLst/>
          </a:prstGeom>
          <a:noFill/>
          <a:ln/>
        </p:spPr>
        <p:txBody>
          <a:bodyPr wrap="square" lIns="0" tIns="0" rIns="0" bIns="0" rtlCol="0" anchor="t">
            <a:normAutofit fontScale="92500" lnSpcReduction="20000"/>
          </a:bodyPr>
          <a:lstStyle/>
          <a:p>
            <a:pPr marL="342900" indent="-342900" algn="l">
              <a:lnSpc>
                <a:spcPct val="117000"/>
              </a:lnSpc>
              <a:spcBef>
                <a:spcPts val="600"/>
              </a:spcBef>
              <a:spcAft>
                <a:spcPts val="600"/>
              </a:spcAft>
              <a:buSzPct val="100000"/>
              <a:buChar char="•"/>
            </a:pPr>
            <a:r>
              <a:rPr lang="en-US" b="1" dirty="0">
                <a:solidFill>
                  <a:srgbClr val="030303"/>
                </a:solidFill>
                <a:latin typeface="Aptos Display" panose="020B0004020202020204" pitchFamily="34" charset="0"/>
                <a:ea typeface="Instrument Sans" pitchFamily="34" charset="-122"/>
                <a:cs typeface="Instrument Sans" pitchFamily="34" charset="-120"/>
              </a:rPr>
              <a:t>Image Classification:</a:t>
            </a:r>
            <a:r>
              <a:rPr lang="en-US" dirty="0">
                <a:solidFill>
                  <a:srgbClr val="030303"/>
                </a:solidFill>
                <a:latin typeface="Aptos Display" panose="020B0004020202020204" pitchFamily="34" charset="0"/>
                <a:ea typeface="Instrument Sans" pitchFamily="34" charset="-122"/>
                <a:cs typeface="Instrument Sans" pitchFamily="34" charset="-120"/>
              </a:rPr>
              <a:t> The system must capture an image and classify it into one of five categories: Fungi, Bacteria, Virus, Pests, or Healthy.</a:t>
            </a:r>
            <a:endParaRPr lang="en-US" dirty="0">
              <a:latin typeface="Aptos Display" panose="020B0004020202020204" pitchFamily="34" charset="0"/>
            </a:endParaRPr>
          </a:p>
          <a:p>
            <a:pPr marL="342900" indent="-342900" algn="l">
              <a:lnSpc>
                <a:spcPct val="117000"/>
              </a:lnSpc>
              <a:spcBef>
                <a:spcPts val="600"/>
              </a:spcBef>
              <a:spcAft>
                <a:spcPts val="600"/>
              </a:spcAft>
              <a:buSzPct val="100000"/>
              <a:buChar char="•"/>
            </a:pPr>
            <a:r>
              <a:rPr lang="en-US" b="1" dirty="0">
                <a:solidFill>
                  <a:srgbClr val="030303"/>
                </a:solidFill>
                <a:latin typeface="Aptos Display" panose="020B0004020202020204" pitchFamily="34" charset="0"/>
                <a:ea typeface="Instrument Sans" pitchFamily="34" charset="-122"/>
                <a:cs typeface="Instrument Sans" pitchFamily="34" charset="-120"/>
              </a:rPr>
              <a:t>Care Scheduling:</a:t>
            </a:r>
            <a:r>
              <a:rPr lang="en-US" dirty="0">
                <a:solidFill>
                  <a:srgbClr val="030303"/>
                </a:solidFill>
                <a:latin typeface="Aptos Display" panose="020B0004020202020204" pitchFamily="34" charset="0"/>
                <a:ea typeface="Instrument Sans" pitchFamily="34" charset="-122"/>
                <a:cs typeface="Instrument Sans" pitchFamily="34" charset="-120"/>
              </a:rPr>
              <a:t> The system shall give users reminders for watering and fertilization frequencies for each added plant.</a:t>
            </a:r>
            <a:endParaRPr lang="en-US" dirty="0">
              <a:latin typeface="Aptos Display" panose="020B0004020202020204" pitchFamily="34" charset="0"/>
            </a:endParaRPr>
          </a:p>
          <a:p>
            <a:pPr marL="342900" indent="-342900" algn="l">
              <a:lnSpc>
                <a:spcPct val="117000"/>
              </a:lnSpc>
              <a:spcBef>
                <a:spcPts val="600"/>
              </a:spcBef>
              <a:spcAft>
                <a:spcPts val="600"/>
              </a:spcAft>
              <a:buSzPct val="100000"/>
              <a:buChar char="•"/>
            </a:pPr>
            <a:r>
              <a:rPr lang="en-US" b="1" dirty="0">
                <a:solidFill>
                  <a:srgbClr val="030303"/>
                </a:solidFill>
                <a:latin typeface="Aptos Display" panose="020B0004020202020204" pitchFamily="34" charset="0"/>
                <a:ea typeface="Instrument Sans" pitchFamily="34" charset="-122"/>
                <a:cs typeface="Instrument Sans" pitchFamily="34" charset="-120"/>
              </a:rPr>
              <a:t>Offline Inference:</a:t>
            </a:r>
            <a:r>
              <a:rPr lang="en-US" dirty="0">
                <a:solidFill>
                  <a:srgbClr val="030303"/>
                </a:solidFill>
                <a:latin typeface="Aptos Display" panose="020B0004020202020204" pitchFamily="34" charset="0"/>
                <a:ea typeface="Instrument Sans" pitchFamily="34" charset="-122"/>
                <a:cs typeface="Instrument Sans" pitchFamily="34" charset="-120"/>
              </a:rPr>
              <a:t> The system must perform disease diagnosis directly on the mobile device using TensorFlow Lite without requiring an internet connection.</a:t>
            </a:r>
            <a:endParaRPr lang="en-US" dirty="0">
              <a:latin typeface="Aptos Display" panose="020B0004020202020204" pitchFamily="34" charset="0"/>
            </a:endParaRPr>
          </a:p>
          <a:p>
            <a:pPr marL="342900" indent="-342900" algn="l">
              <a:lnSpc>
                <a:spcPct val="117000"/>
              </a:lnSpc>
              <a:spcBef>
                <a:spcPts val="600"/>
              </a:spcBef>
              <a:spcAft>
                <a:spcPts val="600"/>
              </a:spcAft>
              <a:buSzPct val="100000"/>
              <a:buChar char="•"/>
            </a:pPr>
            <a:r>
              <a:rPr lang="en-US" b="1" dirty="0">
                <a:solidFill>
                  <a:srgbClr val="030303"/>
                </a:solidFill>
                <a:latin typeface="Aptos Display" panose="020B0004020202020204" pitchFamily="34" charset="0"/>
                <a:ea typeface="Instrument Sans" pitchFamily="34" charset="-122"/>
                <a:cs typeface="Instrument Sans" pitchFamily="34" charset="-120"/>
              </a:rPr>
              <a:t>User Account Management:</a:t>
            </a:r>
            <a:r>
              <a:rPr lang="en-US" dirty="0">
                <a:solidFill>
                  <a:srgbClr val="030303"/>
                </a:solidFill>
                <a:latin typeface="Aptos Display" panose="020B0004020202020204" pitchFamily="34" charset="0"/>
                <a:ea typeface="Instrument Sans" pitchFamily="34" charset="-122"/>
                <a:cs typeface="Instrument Sans" pitchFamily="34" charset="-120"/>
              </a:rPr>
              <a:t> The system must handle user authentication and profile management via the backend.</a:t>
            </a:r>
            <a:endParaRPr lang="en-US" dirty="0">
              <a:latin typeface="Aptos Display" panose="020B0004020202020204" pitchFamily="34" charset="0"/>
            </a:endParaRPr>
          </a:p>
          <a:p>
            <a:pPr marL="342900" indent="-342900" algn="l">
              <a:lnSpc>
                <a:spcPct val="117000"/>
              </a:lnSpc>
              <a:spcBef>
                <a:spcPts val="600"/>
              </a:spcBef>
              <a:spcAft>
                <a:spcPts val="600"/>
              </a:spcAft>
              <a:buSzPct val="100000"/>
              <a:buChar char="•"/>
            </a:pPr>
            <a:r>
              <a:rPr lang="en-US" b="1" dirty="0">
                <a:solidFill>
                  <a:srgbClr val="030303"/>
                </a:solidFill>
                <a:latin typeface="Aptos Display" panose="020B0004020202020204" pitchFamily="34" charset="0"/>
                <a:ea typeface="Instrument Sans" pitchFamily="34" charset="-122"/>
                <a:cs typeface="Instrument Sans" pitchFamily="34" charset="-120"/>
              </a:rPr>
              <a:t>Data Synchronization:</a:t>
            </a:r>
            <a:r>
              <a:rPr lang="en-US" dirty="0">
                <a:solidFill>
                  <a:srgbClr val="030303"/>
                </a:solidFill>
                <a:latin typeface="Aptos Display" panose="020B0004020202020204" pitchFamily="34" charset="0"/>
                <a:ea typeface="Instrument Sans" pitchFamily="34" charset="-122"/>
                <a:cs typeface="Instrument Sans" pitchFamily="34" charset="-120"/>
              </a:rPr>
              <a:t> The system must sync user data and diagnosis history to the cloud when an internet connection is available.</a:t>
            </a:r>
            <a:endParaRPr lang="en-US" dirty="0">
              <a:latin typeface="Aptos Display" panose="020B0004020202020204" pitchFamily="34" charset="0"/>
            </a:endParaRPr>
          </a:p>
        </p:txBody>
      </p:sp>
      <p:sp>
        <p:nvSpPr>
          <p:cNvPr id="6" name="Shape 4"/>
          <p:cNvSpPr/>
          <p:nvPr/>
        </p:nvSpPr>
        <p:spPr>
          <a:xfrm>
            <a:off x="5831535" y="437744"/>
            <a:ext cx="5812188" cy="6157607"/>
          </a:xfrm>
          <a:prstGeom prst="roundRect">
            <a:avLst>
              <a:gd name="adj" fmla="val 4819"/>
            </a:avLst>
          </a:prstGeom>
          <a:solidFill>
            <a:srgbClr val="DFEEE2"/>
          </a:solidFill>
          <a:ln/>
        </p:spPr>
        <p:txBody>
          <a:bodyPr/>
          <a:lstStyle/>
          <a:p>
            <a:endParaRPr lang="en-US"/>
          </a:p>
        </p:txBody>
      </p:sp>
      <p:sp>
        <p:nvSpPr>
          <p:cNvPr id="7" name="Text 5"/>
          <p:cNvSpPr/>
          <p:nvPr/>
        </p:nvSpPr>
        <p:spPr>
          <a:xfrm>
            <a:off x="6028976" y="671209"/>
            <a:ext cx="5987206" cy="443012"/>
          </a:xfrm>
          <a:prstGeom prst="rect">
            <a:avLst/>
          </a:prstGeom>
          <a:noFill/>
          <a:ln/>
        </p:spPr>
        <p:txBody>
          <a:bodyPr wrap="none" lIns="0" tIns="0" rIns="0" bIns="0" rtlCol="0" anchor="t"/>
          <a:lstStyle/>
          <a:p>
            <a:pPr marL="0" indent="0" algn="l">
              <a:lnSpc>
                <a:spcPct val="104000"/>
              </a:lnSpc>
              <a:buNone/>
            </a:pPr>
            <a:r>
              <a:rPr lang="en-US" sz="2750" b="1" dirty="0">
                <a:solidFill>
                  <a:srgbClr val="265834"/>
                </a:solidFill>
                <a:latin typeface="Fraunces ExtraBold" pitchFamily="34" charset="0"/>
                <a:ea typeface="Fraunces ExtraBold" pitchFamily="34" charset="-122"/>
                <a:cs typeface="Fraunces ExtraBold" pitchFamily="34" charset="-120"/>
              </a:rPr>
              <a:t>Non-Functional Requirements</a:t>
            </a:r>
            <a:endParaRPr lang="en-US" sz="2750" b="1" dirty="0"/>
          </a:p>
        </p:txBody>
      </p:sp>
      <p:sp>
        <p:nvSpPr>
          <p:cNvPr id="8" name="Text 6"/>
          <p:cNvSpPr/>
          <p:nvPr/>
        </p:nvSpPr>
        <p:spPr>
          <a:xfrm>
            <a:off x="6028976" y="1244402"/>
            <a:ext cx="3871220" cy="332184"/>
          </a:xfrm>
          <a:prstGeom prst="rect">
            <a:avLst/>
          </a:prstGeom>
          <a:noFill/>
          <a:ln/>
        </p:spPr>
        <p:txBody>
          <a:bodyPr wrap="none" lIns="0" tIns="0" rIns="0" bIns="0" rtlCol="0" anchor="t"/>
          <a:lstStyle/>
          <a:p>
            <a:pPr marL="0" indent="0" algn="l">
              <a:lnSpc>
                <a:spcPct val="104000"/>
              </a:lnSpc>
              <a:buNone/>
            </a:pPr>
            <a:r>
              <a:rPr lang="en-US" sz="2050" b="1" dirty="0">
                <a:solidFill>
                  <a:srgbClr val="265834"/>
                </a:solidFill>
                <a:latin typeface="Fraunces ExtraBold" pitchFamily="34" charset="0"/>
                <a:ea typeface="Fraunces ExtraBold" pitchFamily="34" charset="-122"/>
                <a:cs typeface="Fraunces ExtraBold" pitchFamily="34" charset="-120"/>
              </a:rPr>
              <a:t>(Performance &amp; Quality)</a:t>
            </a:r>
            <a:endParaRPr lang="en-US" sz="2050" b="1" dirty="0"/>
          </a:p>
        </p:txBody>
      </p:sp>
      <p:sp>
        <p:nvSpPr>
          <p:cNvPr id="9" name="Text 7"/>
          <p:cNvSpPr/>
          <p:nvPr/>
        </p:nvSpPr>
        <p:spPr>
          <a:xfrm>
            <a:off x="6028976" y="1706768"/>
            <a:ext cx="5457788" cy="4480024"/>
          </a:xfrm>
          <a:prstGeom prst="rect">
            <a:avLst/>
          </a:prstGeom>
          <a:noFill/>
          <a:ln/>
        </p:spPr>
        <p:txBody>
          <a:bodyPr wrap="square" lIns="0" tIns="0" rIns="0" bIns="0" rtlCol="0" anchor="t">
            <a:normAutofit/>
          </a:bodyPr>
          <a:lstStyle/>
          <a:p>
            <a:pPr marL="342900" indent="-342900" algn="l">
              <a:lnSpc>
                <a:spcPct val="117000"/>
              </a:lnSpc>
              <a:spcBef>
                <a:spcPts val="600"/>
              </a:spcBef>
              <a:spcAft>
                <a:spcPts val="600"/>
              </a:spcAft>
              <a:buSzPct val="100000"/>
              <a:buChar char="•"/>
            </a:pPr>
            <a:r>
              <a:rPr lang="en-US" sz="1700" b="1" dirty="0">
                <a:solidFill>
                  <a:srgbClr val="030303"/>
                </a:solidFill>
                <a:latin typeface="Aptos Display" panose="020B0004020202020204" pitchFamily="34" charset="0"/>
                <a:ea typeface="Instrument Sans" pitchFamily="34" charset="-122"/>
                <a:cs typeface="Instrument Sans" pitchFamily="34" charset="-120"/>
              </a:rPr>
              <a:t>Accuracy:</a:t>
            </a:r>
            <a:r>
              <a:rPr lang="en-US" sz="1700" dirty="0">
                <a:solidFill>
                  <a:srgbClr val="030303"/>
                </a:solidFill>
                <a:latin typeface="Aptos Display" panose="020B0004020202020204" pitchFamily="34" charset="0"/>
                <a:ea typeface="Instrument Sans" pitchFamily="34" charset="-122"/>
                <a:cs typeface="Instrument Sans" pitchFamily="34" charset="-120"/>
              </a:rPr>
              <a:t> The system aims for a validation accuracy above 90% on diverse leaf images.</a:t>
            </a:r>
            <a:endParaRPr lang="en-US" sz="1700" dirty="0">
              <a:latin typeface="Aptos Display" panose="020B0004020202020204" pitchFamily="34" charset="0"/>
            </a:endParaRPr>
          </a:p>
          <a:p>
            <a:pPr marL="342900" indent="-342900" algn="l">
              <a:lnSpc>
                <a:spcPct val="117000"/>
              </a:lnSpc>
              <a:spcBef>
                <a:spcPts val="600"/>
              </a:spcBef>
              <a:spcAft>
                <a:spcPts val="600"/>
              </a:spcAft>
              <a:buSzPct val="100000"/>
              <a:buChar char="•"/>
            </a:pPr>
            <a:r>
              <a:rPr lang="en-US" sz="1700" b="1" dirty="0">
                <a:solidFill>
                  <a:srgbClr val="030303"/>
                </a:solidFill>
                <a:latin typeface="Aptos Display" panose="020B0004020202020204" pitchFamily="34" charset="0"/>
                <a:ea typeface="Instrument Sans" pitchFamily="34" charset="-122"/>
                <a:cs typeface="Instrument Sans" pitchFamily="34" charset="-120"/>
              </a:rPr>
              <a:t>Latency (Speed):</a:t>
            </a:r>
            <a:r>
              <a:rPr lang="en-US" sz="1700" dirty="0">
                <a:solidFill>
                  <a:srgbClr val="030303"/>
                </a:solidFill>
                <a:latin typeface="Aptos Display" panose="020B0004020202020204" pitchFamily="34" charset="0"/>
                <a:ea typeface="Instrument Sans" pitchFamily="34" charset="-122"/>
                <a:cs typeface="Instrument Sans" pitchFamily="34" charset="-120"/>
              </a:rPr>
              <a:t> Diagnosis should be instant , and API response times for the backend must be under 200ms.</a:t>
            </a:r>
            <a:endParaRPr lang="en-US" sz="1700" dirty="0">
              <a:latin typeface="Aptos Display" panose="020B0004020202020204" pitchFamily="34" charset="0"/>
            </a:endParaRPr>
          </a:p>
          <a:p>
            <a:pPr marL="342900" indent="-342900" algn="l">
              <a:lnSpc>
                <a:spcPct val="117000"/>
              </a:lnSpc>
              <a:spcBef>
                <a:spcPts val="600"/>
              </a:spcBef>
              <a:spcAft>
                <a:spcPts val="600"/>
              </a:spcAft>
              <a:buSzPct val="100000"/>
              <a:buChar char="•"/>
            </a:pPr>
            <a:r>
              <a:rPr lang="en-US" sz="1700" b="1" dirty="0">
                <a:solidFill>
                  <a:srgbClr val="030303"/>
                </a:solidFill>
                <a:latin typeface="Aptos Display" panose="020B0004020202020204" pitchFamily="34" charset="0"/>
                <a:ea typeface="Instrument Sans" pitchFamily="34" charset="-122"/>
                <a:cs typeface="Instrument Sans" pitchFamily="34" charset="-120"/>
              </a:rPr>
              <a:t>Model Efficiency:</a:t>
            </a:r>
            <a:r>
              <a:rPr lang="en-US" sz="1700" dirty="0">
                <a:solidFill>
                  <a:srgbClr val="030303"/>
                </a:solidFill>
                <a:latin typeface="Aptos Display" panose="020B0004020202020204" pitchFamily="34" charset="0"/>
                <a:ea typeface="Instrument Sans" pitchFamily="34" charset="-122"/>
                <a:cs typeface="Instrument Sans" pitchFamily="34" charset="-120"/>
              </a:rPr>
              <a:t> The mobile model must be lightweight (under 15MB) to save space and battery.</a:t>
            </a:r>
            <a:endParaRPr lang="en-US" sz="1700" dirty="0">
              <a:latin typeface="Aptos Display" panose="020B0004020202020204" pitchFamily="34" charset="0"/>
            </a:endParaRPr>
          </a:p>
          <a:p>
            <a:pPr marL="342900" indent="-342900" algn="l">
              <a:lnSpc>
                <a:spcPct val="117000"/>
              </a:lnSpc>
              <a:spcBef>
                <a:spcPts val="600"/>
              </a:spcBef>
              <a:spcAft>
                <a:spcPts val="600"/>
              </a:spcAft>
              <a:buSzPct val="100000"/>
              <a:buChar char="•"/>
            </a:pPr>
            <a:r>
              <a:rPr lang="en-US" sz="1700" b="1" dirty="0">
                <a:solidFill>
                  <a:srgbClr val="030303"/>
                </a:solidFill>
                <a:latin typeface="Aptos Display" panose="020B0004020202020204" pitchFamily="34" charset="0"/>
                <a:ea typeface="Instrument Sans" pitchFamily="34" charset="-122"/>
                <a:cs typeface="Instrument Sans" pitchFamily="34" charset="-120"/>
              </a:rPr>
              <a:t>Reliability:</a:t>
            </a:r>
            <a:r>
              <a:rPr lang="en-US" sz="1700" dirty="0">
                <a:solidFill>
                  <a:srgbClr val="030303"/>
                </a:solidFill>
                <a:latin typeface="Aptos Display" panose="020B0004020202020204" pitchFamily="34" charset="0"/>
                <a:ea typeface="Instrument Sans" pitchFamily="34" charset="-122"/>
                <a:cs typeface="Instrument Sans" pitchFamily="34" charset="-120"/>
              </a:rPr>
              <a:t> The backend system must maintain an Internal Server Error rate below 1%.</a:t>
            </a:r>
            <a:endParaRPr lang="en-US" sz="1700" dirty="0">
              <a:latin typeface="Aptos Display" panose="020B0004020202020204" pitchFamily="34" charset="0"/>
            </a:endParaRPr>
          </a:p>
          <a:p>
            <a:pPr marL="342900" indent="-342900" algn="l">
              <a:lnSpc>
                <a:spcPct val="117000"/>
              </a:lnSpc>
              <a:spcBef>
                <a:spcPts val="600"/>
              </a:spcBef>
              <a:spcAft>
                <a:spcPts val="600"/>
              </a:spcAft>
              <a:buSzPct val="100000"/>
              <a:buChar char="•"/>
            </a:pPr>
            <a:r>
              <a:rPr lang="en-US" sz="1700" b="1" dirty="0">
                <a:solidFill>
                  <a:srgbClr val="030303"/>
                </a:solidFill>
                <a:latin typeface="Aptos Display" panose="020B0004020202020204" pitchFamily="34" charset="0"/>
                <a:ea typeface="Instrument Sans" pitchFamily="34" charset="-122"/>
                <a:cs typeface="Instrument Sans" pitchFamily="34" charset="-120"/>
              </a:rPr>
              <a:t>Scalability:</a:t>
            </a:r>
            <a:r>
              <a:rPr lang="en-US" sz="1700" dirty="0">
                <a:solidFill>
                  <a:srgbClr val="030303"/>
                </a:solidFill>
                <a:latin typeface="Aptos Display" panose="020B0004020202020204" pitchFamily="34" charset="0"/>
                <a:ea typeface="Instrument Sans" pitchFamily="34" charset="-122"/>
                <a:cs typeface="Instrument Sans" pitchFamily="34" charset="-120"/>
              </a:rPr>
              <a:t> The system uses a client-server architecture that separates the frontend from the backend to handle a growing user base.</a:t>
            </a:r>
            <a:endParaRPr lang="en-US" sz="1700" dirty="0">
              <a:latin typeface="Aptos Display" panose="020B00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61574" y="760016"/>
            <a:ext cx="6536963" cy="664468"/>
          </a:xfrm>
          <a:prstGeom prst="rect">
            <a:avLst/>
          </a:prstGeom>
          <a:noFill/>
          <a:ln/>
        </p:spPr>
        <p:txBody>
          <a:bodyPr wrap="none" lIns="0" tIns="0" rIns="0" bIns="0" rtlCol="0" anchor="t"/>
          <a:lstStyle/>
          <a:p>
            <a:pPr marL="0" indent="0" algn="l">
              <a:lnSpc>
                <a:spcPct val="104000"/>
              </a:lnSpc>
              <a:buNone/>
            </a:pPr>
            <a:r>
              <a:rPr lang="en-US" sz="4150" b="1" dirty="0">
                <a:solidFill>
                  <a:srgbClr val="265834"/>
                </a:solidFill>
                <a:latin typeface="Fraunces ExtraBold" pitchFamily="34" charset="0"/>
                <a:ea typeface="Fraunces ExtraBold" pitchFamily="34" charset="-122"/>
                <a:cs typeface="Fraunces ExtraBold" pitchFamily="34" charset="-120"/>
              </a:rPr>
              <a:t>Back-End Roadmap</a:t>
            </a:r>
            <a:endParaRPr lang="en-US" sz="4150" b="1" dirty="0"/>
          </a:p>
        </p:txBody>
      </p:sp>
      <p:pic>
        <p:nvPicPr>
          <p:cNvPr id="3" name="Image 0" descr="preencoded.png"/>
          <p:cNvPicPr>
            <a:picLocks noChangeAspect="1"/>
          </p:cNvPicPr>
          <p:nvPr/>
        </p:nvPicPr>
        <p:blipFill>
          <a:blip r:embed="rId3"/>
          <a:stretch>
            <a:fillRect/>
          </a:stretch>
        </p:blipFill>
        <p:spPr>
          <a:xfrm>
            <a:off x="1204982" y="1807170"/>
            <a:ext cx="9781633" cy="4290814"/>
          </a:xfrm>
          <a:prstGeom prst="rect">
            <a:avLst/>
          </a:prstGeom>
        </p:spPr>
      </p:pic>
      <p:sp>
        <p:nvSpPr>
          <p:cNvPr id="4" name="Text 1"/>
          <p:cNvSpPr/>
          <p:nvPr/>
        </p:nvSpPr>
        <p:spPr>
          <a:xfrm>
            <a:off x="4169384" y="4504582"/>
            <a:ext cx="1478346" cy="529412"/>
          </a:xfrm>
          <a:prstGeom prst="rect">
            <a:avLst/>
          </a:prstGeom>
          <a:noFill/>
          <a:ln/>
        </p:spPr>
        <p:txBody>
          <a:bodyPr wrap="square" lIns="0" tIns="0" rIns="0" bIns="0" rtlCol="0" anchor="t">
            <a:normAutofit/>
          </a:bodyPr>
          <a:lstStyle/>
          <a:p>
            <a:pPr marL="0" indent="0" algn="ctr">
              <a:lnSpc>
                <a:spcPct val="104000"/>
              </a:lnSpc>
              <a:buNone/>
            </a:pPr>
            <a:r>
              <a:rPr lang="en-US" sz="1650" b="1" dirty="0">
                <a:solidFill>
                  <a:srgbClr val="265834"/>
                </a:solidFill>
                <a:latin typeface="Fraunces ExtraBold" pitchFamily="34" charset="0"/>
                <a:ea typeface="Fraunces ExtraBold" pitchFamily="34" charset="-122"/>
                <a:cs typeface="Fraunces ExtraBold" pitchFamily="34" charset="-120"/>
              </a:rPr>
              <a:t>Phase 2 Intelligence</a:t>
            </a:r>
            <a:endParaRPr lang="en-US" sz="1650" b="1" dirty="0"/>
          </a:p>
        </p:txBody>
      </p:sp>
      <p:sp>
        <p:nvSpPr>
          <p:cNvPr id="5" name="Text 2"/>
          <p:cNvSpPr/>
          <p:nvPr/>
        </p:nvSpPr>
        <p:spPr>
          <a:xfrm>
            <a:off x="4169384" y="5109288"/>
            <a:ext cx="1478346" cy="603529"/>
          </a:xfrm>
          <a:prstGeom prst="rect">
            <a:avLst/>
          </a:prstGeom>
          <a:noFill/>
          <a:ln/>
        </p:spPr>
        <p:txBody>
          <a:bodyPr wrap="square" lIns="0" tIns="0" rIns="0" bIns="0" rtlCol="0" anchor="t">
            <a:normAutofit/>
          </a:bodyPr>
          <a:lstStyle/>
          <a:p>
            <a:pPr marL="0" indent="0" algn="ctr">
              <a:lnSpc>
                <a:spcPct val="99000"/>
              </a:lnSpc>
              <a:buNone/>
            </a:pPr>
            <a:r>
              <a:rPr lang="en-US" sz="1300" dirty="0">
                <a:solidFill>
                  <a:srgbClr val="030303"/>
                </a:solidFill>
                <a:latin typeface="Instrument Sans" pitchFamily="34" charset="0"/>
                <a:ea typeface="Instrument Sans" pitchFamily="34" charset="-122"/>
                <a:cs typeface="Instrument Sans" pitchFamily="34" charset="-120"/>
              </a:rPr>
              <a:t>Gemini AI Integration &amp; Prompt Tuning</a:t>
            </a:r>
            <a:endParaRPr lang="en-US" sz="1300" dirty="0"/>
          </a:p>
        </p:txBody>
      </p:sp>
      <p:sp>
        <p:nvSpPr>
          <p:cNvPr id="6" name="Text 3"/>
          <p:cNvSpPr/>
          <p:nvPr/>
        </p:nvSpPr>
        <p:spPr>
          <a:xfrm>
            <a:off x="8865738" y="4429288"/>
            <a:ext cx="1478346" cy="264706"/>
          </a:xfrm>
          <a:prstGeom prst="rect">
            <a:avLst/>
          </a:prstGeom>
          <a:noFill/>
          <a:ln/>
        </p:spPr>
        <p:txBody>
          <a:bodyPr wrap="none" lIns="0" tIns="0" rIns="0" bIns="0" rtlCol="0" anchor="t"/>
          <a:lstStyle/>
          <a:p>
            <a:pPr marL="0" indent="0" algn="ctr">
              <a:lnSpc>
                <a:spcPct val="104000"/>
              </a:lnSpc>
              <a:buNone/>
            </a:pPr>
            <a:r>
              <a:rPr lang="en-US" sz="1650" b="1" dirty="0">
                <a:solidFill>
                  <a:srgbClr val="265834"/>
                </a:solidFill>
                <a:latin typeface="Fraunces ExtraBold" pitchFamily="34" charset="0"/>
                <a:ea typeface="Fraunces ExtraBold" pitchFamily="34" charset="-122"/>
                <a:cs typeface="Fraunces ExtraBold" pitchFamily="34" charset="-120"/>
              </a:rPr>
              <a:t>Phase 4</a:t>
            </a:r>
            <a:endParaRPr lang="en-US" sz="1650" b="1" dirty="0"/>
          </a:p>
        </p:txBody>
      </p:sp>
      <p:sp>
        <p:nvSpPr>
          <p:cNvPr id="7" name="Text 4"/>
          <p:cNvSpPr/>
          <p:nvPr/>
        </p:nvSpPr>
        <p:spPr>
          <a:xfrm>
            <a:off x="8865738" y="4769288"/>
            <a:ext cx="1478346" cy="264706"/>
          </a:xfrm>
          <a:prstGeom prst="rect">
            <a:avLst/>
          </a:prstGeom>
          <a:noFill/>
          <a:ln/>
        </p:spPr>
        <p:txBody>
          <a:bodyPr wrap="none" lIns="0" tIns="0" rIns="0" bIns="0" rtlCol="0" anchor="t"/>
          <a:lstStyle/>
          <a:p>
            <a:pPr marL="0" indent="0" algn="ctr">
              <a:lnSpc>
                <a:spcPct val="104000"/>
              </a:lnSpc>
              <a:buNone/>
            </a:pPr>
            <a:r>
              <a:rPr lang="en-US" sz="1650" b="1" dirty="0">
                <a:solidFill>
                  <a:srgbClr val="265834"/>
                </a:solidFill>
                <a:latin typeface="Fraunces ExtraBold" pitchFamily="34" charset="0"/>
                <a:ea typeface="Fraunces ExtraBold" pitchFamily="34" charset="-122"/>
                <a:cs typeface="Fraunces ExtraBold" pitchFamily="34" charset="-120"/>
              </a:rPr>
              <a:t>QA</a:t>
            </a:r>
            <a:endParaRPr lang="en-US" sz="1650" b="1" dirty="0"/>
          </a:p>
        </p:txBody>
      </p:sp>
      <p:sp>
        <p:nvSpPr>
          <p:cNvPr id="8" name="Text 5"/>
          <p:cNvSpPr/>
          <p:nvPr/>
        </p:nvSpPr>
        <p:spPr>
          <a:xfrm>
            <a:off x="8865738" y="5109288"/>
            <a:ext cx="1478346" cy="603529"/>
          </a:xfrm>
          <a:prstGeom prst="rect">
            <a:avLst/>
          </a:prstGeom>
          <a:noFill/>
          <a:ln/>
        </p:spPr>
        <p:txBody>
          <a:bodyPr wrap="square" lIns="0" tIns="0" rIns="0" bIns="0" rtlCol="0" anchor="t">
            <a:normAutofit/>
          </a:bodyPr>
          <a:lstStyle/>
          <a:p>
            <a:pPr marL="0" indent="0" algn="ctr">
              <a:lnSpc>
                <a:spcPct val="99000"/>
              </a:lnSpc>
              <a:buNone/>
            </a:pPr>
            <a:r>
              <a:rPr lang="en-US" sz="1300" dirty="0">
                <a:solidFill>
                  <a:srgbClr val="030303"/>
                </a:solidFill>
                <a:latin typeface="Instrument Sans" pitchFamily="34" charset="0"/>
                <a:ea typeface="Instrument Sans" pitchFamily="34" charset="-122"/>
                <a:cs typeface="Instrument Sans" pitchFamily="34" charset="-120"/>
              </a:rPr>
              <a:t>Unit Testing &amp; Multi-Level Security</a:t>
            </a:r>
            <a:endParaRPr lang="en-US" sz="1300" dirty="0"/>
          </a:p>
        </p:txBody>
      </p:sp>
      <p:sp>
        <p:nvSpPr>
          <p:cNvPr id="9" name="Text 6"/>
          <p:cNvSpPr/>
          <p:nvPr/>
        </p:nvSpPr>
        <p:spPr>
          <a:xfrm>
            <a:off x="1872970" y="2192817"/>
            <a:ext cx="1478346" cy="264706"/>
          </a:xfrm>
          <a:prstGeom prst="rect">
            <a:avLst/>
          </a:prstGeom>
          <a:noFill/>
          <a:ln/>
        </p:spPr>
        <p:txBody>
          <a:bodyPr wrap="none" lIns="0" tIns="0" rIns="0" bIns="0" rtlCol="0" anchor="t"/>
          <a:lstStyle/>
          <a:p>
            <a:pPr marL="0" indent="0" algn="ctr">
              <a:lnSpc>
                <a:spcPct val="104000"/>
              </a:lnSpc>
              <a:buNone/>
            </a:pPr>
            <a:r>
              <a:rPr lang="en-US" sz="1650" b="1" dirty="0">
                <a:solidFill>
                  <a:srgbClr val="265834"/>
                </a:solidFill>
                <a:latin typeface="Fraunces ExtraBold" pitchFamily="34" charset="0"/>
                <a:ea typeface="Fraunces ExtraBold" pitchFamily="34" charset="-122"/>
                <a:cs typeface="Fraunces ExtraBold" pitchFamily="34" charset="-120"/>
              </a:rPr>
              <a:t>Phase 1</a:t>
            </a:r>
            <a:endParaRPr lang="en-US" sz="1650" b="1" dirty="0"/>
          </a:p>
        </p:txBody>
      </p:sp>
      <p:sp>
        <p:nvSpPr>
          <p:cNvPr id="10" name="Text 7"/>
          <p:cNvSpPr/>
          <p:nvPr/>
        </p:nvSpPr>
        <p:spPr>
          <a:xfrm>
            <a:off x="1872970" y="2532817"/>
            <a:ext cx="1478346" cy="264706"/>
          </a:xfrm>
          <a:prstGeom prst="rect">
            <a:avLst/>
          </a:prstGeom>
          <a:noFill/>
          <a:ln/>
        </p:spPr>
        <p:txBody>
          <a:bodyPr wrap="none" lIns="0" tIns="0" rIns="0" bIns="0" rtlCol="0" anchor="t"/>
          <a:lstStyle/>
          <a:p>
            <a:pPr marL="0" indent="0" algn="ctr">
              <a:lnSpc>
                <a:spcPct val="104000"/>
              </a:lnSpc>
              <a:buNone/>
            </a:pPr>
            <a:r>
              <a:rPr lang="en-US" sz="1650" b="1" dirty="0">
                <a:solidFill>
                  <a:srgbClr val="265834"/>
                </a:solidFill>
                <a:latin typeface="Fraunces ExtraBold" pitchFamily="34" charset="0"/>
                <a:ea typeface="Fraunces ExtraBold" pitchFamily="34" charset="-122"/>
                <a:cs typeface="Fraunces ExtraBold" pitchFamily="34" charset="-120"/>
              </a:rPr>
              <a:t>Logic</a:t>
            </a:r>
            <a:endParaRPr lang="en-US" sz="1650" b="1" dirty="0"/>
          </a:p>
        </p:txBody>
      </p:sp>
      <p:sp>
        <p:nvSpPr>
          <p:cNvPr id="11" name="Text 8"/>
          <p:cNvSpPr/>
          <p:nvPr/>
        </p:nvSpPr>
        <p:spPr>
          <a:xfrm>
            <a:off x="1872970" y="2872817"/>
            <a:ext cx="1478346" cy="402353"/>
          </a:xfrm>
          <a:prstGeom prst="rect">
            <a:avLst/>
          </a:prstGeom>
          <a:noFill/>
          <a:ln/>
        </p:spPr>
        <p:txBody>
          <a:bodyPr wrap="square" lIns="0" tIns="0" rIns="0" bIns="0" rtlCol="0" anchor="t">
            <a:normAutofit/>
          </a:bodyPr>
          <a:lstStyle/>
          <a:p>
            <a:pPr marL="0" indent="0" algn="ctr">
              <a:lnSpc>
                <a:spcPct val="99000"/>
              </a:lnSpc>
              <a:buNone/>
            </a:pPr>
            <a:r>
              <a:rPr lang="en-US" sz="1300" dirty="0">
                <a:solidFill>
                  <a:srgbClr val="030303"/>
                </a:solidFill>
                <a:latin typeface="Instrument Sans" pitchFamily="34" charset="0"/>
                <a:ea typeface="Instrument Sans" pitchFamily="34" charset="-122"/>
                <a:cs typeface="Instrument Sans" pitchFamily="34" charset="-120"/>
              </a:rPr>
              <a:t>Core .NET API &amp; Domain Modeling</a:t>
            </a:r>
            <a:endParaRPr lang="en-US" sz="1300" dirty="0"/>
          </a:p>
        </p:txBody>
      </p:sp>
      <p:sp>
        <p:nvSpPr>
          <p:cNvPr id="12" name="Text 9"/>
          <p:cNvSpPr/>
          <p:nvPr/>
        </p:nvSpPr>
        <p:spPr>
          <a:xfrm>
            <a:off x="6550501" y="2192817"/>
            <a:ext cx="1478345" cy="529412"/>
          </a:xfrm>
          <a:prstGeom prst="rect">
            <a:avLst/>
          </a:prstGeom>
          <a:noFill/>
          <a:ln/>
        </p:spPr>
        <p:txBody>
          <a:bodyPr wrap="square" lIns="0" tIns="0" rIns="0" bIns="0" rtlCol="0" anchor="t">
            <a:normAutofit/>
          </a:bodyPr>
          <a:lstStyle/>
          <a:p>
            <a:pPr marL="0" indent="0" algn="ctr">
              <a:lnSpc>
                <a:spcPct val="104000"/>
              </a:lnSpc>
              <a:buNone/>
            </a:pPr>
            <a:r>
              <a:rPr lang="en-US" sz="1650" b="1" dirty="0">
                <a:solidFill>
                  <a:srgbClr val="265834"/>
                </a:solidFill>
                <a:latin typeface="Fraunces ExtraBold" pitchFamily="34" charset="0"/>
                <a:ea typeface="Fraunces ExtraBold" pitchFamily="34" charset="-122"/>
                <a:cs typeface="Fraunces ExtraBold" pitchFamily="34" charset="-120"/>
              </a:rPr>
              <a:t>Phase 3 Deployment</a:t>
            </a:r>
            <a:endParaRPr lang="en-US" sz="1650" b="1" dirty="0"/>
          </a:p>
        </p:txBody>
      </p:sp>
      <p:sp>
        <p:nvSpPr>
          <p:cNvPr id="13" name="Text 10"/>
          <p:cNvSpPr/>
          <p:nvPr/>
        </p:nvSpPr>
        <p:spPr>
          <a:xfrm>
            <a:off x="6550501" y="2797523"/>
            <a:ext cx="1478345" cy="402353"/>
          </a:xfrm>
          <a:prstGeom prst="rect">
            <a:avLst/>
          </a:prstGeom>
          <a:noFill/>
          <a:ln/>
        </p:spPr>
        <p:txBody>
          <a:bodyPr wrap="square" lIns="0" tIns="0" rIns="0" bIns="0" rtlCol="0" anchor="t">
            <a:normAutofit/>
          </a:bodyPr>
          <a:lstStyle/>
          <a:p>
            <a:pPr marL="0" indent="0" algn="ctr">
              <a:lnSpc>
                <a:spcPct val="99000"/>
              </a:lnSpc>
              <a:buNone/>
            </a:pPr>
            <a:r>
              <a:rPr lang="en-US" sz="1300" dirty="0">
                <a:solidFill>
                  <a:srgbClr val="030303"/>
                </a:solidFill>
                <a:latin typeface="Instrument Sans" pitchFamily="34" charset="0"/>
                <a:ea typeface="Instrument Sans" pitchFamily="34" charset="-122"/>
                <a:cs typeface="Instrument Sans" pitchFamily="34" charset="-120"/>
              </a:rPr>
              <a:t>Postgres Migration &amp; Railway Launch</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61574" y="1264624"/>
            <a:ext cx="10549269" cy="664468"/>
          </a:xfrm>
          <a:prstGeom prst="rect">
            <a:avLst/>
          </a:prstGeom>
          <a:noFill/>
          <a:ln/>
        </p:spPr>
        <p:txBody>
          <a:bodyPr wrap="none" lIns="0" tIns="0" rIns="0" bIns="0" rtlCol="0" anchor="t"/>
          <a:lstStyle/>
          <a:p>
            <a:pPr marL="0" indent="0" algn="l">
              <a:lnSpc>
                <a:spcPct val="104000"/>
              </a:lnSpc>
              <a:buNone/>
            </a:pPr>
            <a:r>
              <a:rPr lang="en-US" sz="4150" b="1" dirty="0">
                <a:solidFill>
                  <a:srgbClr val="265834"/>
                </a:solidFill>
                <a:latin typeface="Fraunces ExtraBold" pitchFamily="34" charset="0"/>
                <a:ea typeface="Fraunces ExtraBold" pitchFamily="34" charset="-122"/>
                <a:cs typeface="Fraunces ExtraBold" pitchFamily="34" charset="-120"/>
              </a:rPr>
              <a:t>Backend Orchestration &amp; AI Services</a:t>
            </a:r>
            <a:endParaRPr lang="en-US" sz="4150" b="1" dirty="0"/>
          </a:p>
        </p:txBody>
      </p:sp>
      <p:sp>
        <p:nvSpPr>
          <p:cNvPr id="3" name="Text 1"/>
          <p:cNvSpPr/>
          <p:nvPr/>
        </p:nvSpPr>
        <p:spPr>
          <a:xfrm>
            <a:off x="661574" y="2005590"/>
            <a:ext cx="5168374" cy="398661"/>
          </a:xfrm>
          <a:prstGeom prst="rect">
            <a:avLst/>
          </a:prstGeom>
          <a:noFill/>
          <a:ln/>
        </p:spPr>
        <p:txBody>
          <a:bodyPr wrap="none" lIns="0" tIns="0" rIns="0" bIns="0" rtlCol="0" anchor="t"/>
          <a:lstStyle/>
          <a:p>
            <a:pPr marL="0" indent="0" algn="l">
              <a:lnSpc>
                <a:spcPct val="104000"/>
              </a:lnSpc>
              <a:buNone/>
            </a:pPr>
            <a:r>
              <a:rPr lang="en-US" sz="2500" b="1" dirty="0">
                <a:solidFill>
                  <a:srgbClr val="265834"/>
                </a:solidFill>
                <a:latin typeface="Fraunces ExtraBold" pitchFamily="34" charset="0"/>
                <a:ea typeface="Fraunces ExtraBold" pitchFamily="34" charset="-122"/>
                <a:cs typeface="Fraunces ExtraBold" pitchFamily="34" charset="-120"/>
              </a:rPr>
              <a:t>Intelligent Caching Strategy</a:t>
            </a:r>
            <a:endParaRPr lang="en-US" sz="2500" b="1" dirty="0"/>
          </a:p>
        </p:txBody>
      </p:sp>
      <p:sp>
        <p:nvSpPr>
          <p:cNvPr id="4" name="Text 2"/>
          <p:cNvSpPr/>
          <p:nvPr/>
        </p:nvSpPr>
        <p:spPr>
          <a:xfrm>
            <a:off x="661726" y="2907190"/>
            <a:ext cx="10868547" cy="2101453"/>
          </a:xfrm>
          <a:prstGeom prst="rect">
            <a:avLst/>
          </a:prstGeom>
          <a:noFill/>
          <a:ln/>
        </p:spPr>
        <p:txBody>
          <a:bodyPr wrap="square" lIns="0" tIns="0" rIns="0" bIns="0" rtlCol="0" anchor="t">
            <a:noAutofit/>
          </a:bodyPr>
          <a:lstStyle/>
          <a:p>
            <a:pPr marL="342900" indent="-342900" algn="l">
              <a:lnSpc>
                <a:spcPct val="127000"/>
              </a:lnSpc>
              <a:buSzPct val="100000"/>
              <a:buChar char="•"/>
            </a:pPr>
            <a:r>
              <a:rPr lang="en-US" sz="2400" b="1" dirty="0" err="1">
                <a:solidFill>
                  <a:srgbClr val="030303"/>
                </a:solidFill>
                <a:latin typeface="Aptos Display" panose="020B0004020202020204" pitchFamily="34" charset="0"/>
                <a:ea typeface="Instrument Sans" pitchFamily="34" charset="-122"/>
                <a:cs typeface="Instrument Sans" pitchFamily="34" charset="-120"/>
              </a:rPr>
              <a:t>ConditionsDictionary</a:t>
            </a:r>
            <a:r>
              <a:rPr lang="en-US" sz="2400" b="1" dirty="0">
                <a:solidFill>
                  <a:srgbClr val="030303"/>
                </a:solidFill>
                <a:latin typeface="Aptos Display" panose="020B0004020202020204" pitchFamily="34" charset="0"/>
                <a:ea typeface="Instrument Sans" pitchFamily="34" charset="-122"/>
                <a:cs typeface="Instrument Sans" pitchFamily="34" charset="-120"/>
              </a:rPr>
              <a:t> Table</a:t>
            </a:r>
            <a:r>
              <a:rPr lang="en-US" sz="2400" dirty="0">
                <a:solidFill>
                  <a:srgbClr val="030303"/>
                </a:solidFill>
                <a:latin typeface="Aptos Display" panose="020B0004020202020204" pitchFamily="34" charset="0"/>
                <a:ea typeface="Instrument Sans" pitchFamily="34" charset="-122"/>
                <a:cs typeface="Instrument Sans" pitchFamily="34" charset="-120"/>
              </a:rPr>
              <a:t>: Global knowledge base storing expensive LLM outputs</a:t>
            </a:r>
            <a:endParaRPr lang="en-US" sz="2400" dirty="0">
              <a:latin typeface="Aptos Display" panose="020B0004020202020204" pitchFamily="34" charset="0"/>
            </a:endParaRPr>
          </a:p>
          <a:p>
            <a:pPr marL="342900" indent="-342900" algn="l">
              <a:lnSpc>
                <a:spcPct val="127000"/>
              </a:lnSpc>
              <a:buSzPct val="100000"/>
              <a:buChar char="•"/>
            </a:pPr>
            <a:r>
              <a:rPr lang="en-US" sz="2400" b="1" dirty="0">
                <a:solidFill>
                  <a:srgbClr val="030303"/>
                </a:solidFill>
                <a:latin typeface="Aptos Display" panose="020B0004020202020204" pitchFamily="34" charset="0"/>
                <a:ea typeface="Instrument Sans" pitchFamily="34" charset="-122"/>
                <a:cs typeface="Instrument Sans" pitchFamily="34" charset="-120"/>
              </a:rPr>
              <a:t>Cache Hit Rate</a:t>
            </a:r>
            <a:r>
              <a:rPr lang="en-US" sz="2400" dirty="0">
                <a:solidFill>
                  <a:srgbClr val="030303"/>
                </a:solidFill>
                <a:latin typeface="Aptos Display" panose="020B0004020202020204" pitchFamily="34" charset="0"/>
                <a:ea typeface="Instrument Sans" pitchFamily="34" charset="-122"/>
                <a:cs typeface="Instrument Sans" pitchFamily="34" charset="-120"/>
              </a:rPr>
              <a:t>: 85–90% after initial knowledge base population</a:t>
            </a:r>
            <a:endParaRPr lang="en-US" sz="2400" dirty="0">
              <a:latin typeface="Aptos Display" panose="020B0004020202020204" pitchFamily="34" charset="0"/>
            </a:endParaRPr>
          </a:p>
          <a:p>
            <a:pPr marL="342900" indent="-342900" algn="l">
              <a:lnSpc>
                <a:spcPct val="127000"/>
              </a:lnSpc>
              <a:buSzPct val="100000"/>
              <a:buChar char="•"/>
            </a:pPr>
            <a:r>
              <a:rPr lang="en-US" sz="2400" b="1" dirty="0">
                <a:solidFill>
                  <a:srgbClr val="030303"/>
                </a:solidFill>
                <a:latin typeface="Aptos Display" panose="020B0004020202020204" pitchFamily="34" charset="0"/>
                <a:ea typeface="Instrument Sans" pitchFamily="34" charset="-122"/>
                <a:cs typeface="Instrument Sans" pitchFamily="34" charset="-120"/>
              </a:rPr>
              <a:t>Response Time Reduction</a:t>
            </a:r>
            <a:r>
              <a:rPr lang="en-US" sz="2400" dirty="0">
                <a:solidFill>
                  <a:srgbClr val="030303"/>
                </a:solidFill>
                <a:latin typeface="Aptos Display" panose="020B0004020202020204" pitchFamily="34" charset="0"/>
                <a:ea typeface="Instrument Sans" pitchFamily="34" charset="-122"/>
                <a:cs typeface="Instrument Sans" pitchFamily="34" charset="-120"/>
              </a:rPr>
              <a:t>: 3.5–5.0 seconds → &lt;50 milliseconds</a:t>
            </a:r>
            <a:endParaRPr lang="en-US" sz="2400" dirty="0">
              <a:latin typeface="Aptos Display" panose="020B0004020202020204" pitchFamily="34" charset="0"/>
            </a:endParaRPr>
          </a:p>
          <a:p>
            <a:pPr marL="342900" indent="-342900" algn="l">
              <a:lnSpc>
                <a:spcPct val="127000"/>
              </a:lnSpc>
              <a:buSzPct val="100000"/>
              <a:buChar char="•"/>
            </a:pPr>
            <a:r>
              <a:rPr lang="en-US" sz="2400" b="1" dirty="0">
                <a:solidFill>
                  <a:srgbClr val="030303"/>
                </a:solidFill>
                <a:latin typeface="Aptos Display" panose="020B0004020202020204" pitchFamily="34" charset="0"/>
                <a:ea typeface="Instrument Sans" pitchFamily="34" charset="-122"/>
                <a:cs typeface="Instrument Sans" pitchFamily="34" charset="-120"/>
              </a:rPr>
              <a:t>Cost Optimization</a:t>
            </a:r>
            <a:r>
              <a:rPr lang="en-US" sz="2400" dirty="0">
                <a:solidFill>
                  <a:srgbClr val="030303"/>
                </a:solidFill>
                <a:latin typeface="Aptos Display" panose="020B0004020202020204" pitchFamily="34" charset="0"/>
                <a:ea typeface="Instrument Sans" pitchFamily="34" charset="-122"/>
                <a:cs typeface="Instrument Sans" pitchFamily="34" charset="-120"/>
              </a:rPr>
              <a:t>: Proportional reduction in Gemini API calls as user base expands</a:t>
            </a:r>
            <a:endParaRPr lang="en-US" sz="2400" dirty="0">
              <a:latin typeface="Aptos Display" panose="020B00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61574" y="672604"/>
            <a:ext cx="10305495" cy="664468"/>
          </a:xfrm>
          <a:prstGeom prst="rect">
            <a:avLst/>
          </a:prstGeom>
          <a:noFill/>
          <a:ln/>
        </p:spPr>
        <p:txBody>
          <a:bodyPr wrap="none" lIns="0" tIns="0" rIns="0" bIns="0" rtlCol="0" anchor="t"/>
          <a:lstStyle/>
          <a:p>
            <a:pPr marL="0" indent="0" algn="l">
              <a:lnSpc>
                <a:spcPct val="104000"/>
              </a:lnSpc>
              <a:buNone/>
            </a:pPr>
            <a:r>
              <a:rPr lang="en-US" sz="4150" b="1" dirty="0">
                <a:solidFill>
                  <a:srgbClr val="265834"/>
                </a:solidFill>
                <a:latin typeface="Fraunces ExtraBold" pitchFamily="34" charset="0"/>
                <a:ea typeface="Fraunces ExtraBold" pitchFamily="34" charset="-122"/>
                <a:cs typeface="Fraunces ExtraBold" pitchFamily="34" charset="-120"/>
              </a:rPr>
              <a:t>Cloud Deployment &amp; CI/CD Pipeline</a:t>
            </a:r>
            <a:endParaRPr lang="en-US" sz="4150" b="1" dirty="0"/>
          </a:p>
        </p:txBody>
      </p:sp>
      <p:sp>
        <p:nvSpPr>
          <p:cNvPr id="3" name="Text 1"/>
          <p:cNvSpPr/>
          <p:nvPr/>
        </p:nvSpPr>
        <p:spPr>
          <a:xfrm>
            <a:off x="661574" y="1413570"/>
            <a:ext cx="8307080" cy="398661"/>
          </a:xfrm>
          <a:prstGeom prst="rect">
            <a:avLst/>
          </a:prstGeom>
          <a:noFill/>
          <a:ln/>
        </p:spPr>
        <p:txBody>
          <a:bodyPr wrap="none" lIns="0" tIns="0" rIns="0" bIns="0" rtlCol="0" anchor="t"/>
          <a:lstStyle/>
          <a:p>
            <a:pPr marL="0" indent="0" algn="l">
              <a:lnSpc>
                <a:spcPct val="104000"/>
              </a:lnSpc>
              <a:buNone/>
            </a:pPr>
            <a:r>
              <a:rPr lang="en-US" sz="2500" b="1" dirty="0">
                <a:solidFill>
                  <a:srgbClr val="265834"/>
                </a:solidFill>
                <a:latin typeface="Fraunces ExtraBold" pitchFamily="34" charset="0"/>
                <a:ea typeface="Fraunces ExtraBold" pitchFamily="34" charset="-122"/>
                <a:cs typeface="Fraunces ExtraBold" pitchFamily="34" charset="-120"/>
              </a:rPr>
              <a:t>Zero-Touch Deployment &amp; Secrets Management</a:t>
            </a:r>
            <a:endParaRPr lang="en-US" sz="2500" b="1" dirty="0"/>
          </a:p>
        </p:txBody>
      </p:sp>
      <p:sp>
        <p:nvSpPr>
          <p:cNvPr id="4" name="Shape 2"/>
          <p:cNvSpPr/>
          <p:nvPr/>
        </p:nvSpPr>
        <p:spPr>
          <a:xfrm>
            <a:off x="6083148" y="2099270"/>
            <a:ext cx="25399" cy="4086027"/>
          </a:xfrm>
          <a:prstGeom prst="roundRect">
            <a:avLst>
              <a:gd name="adj" fmla="val 753500"/>
            </a:avLst>
          </a:prstGeom>
          <a:solidFill>
            <a:srgbClr val="CED9CE"/>
          </a:solidFill>
          <a:ln/>
        </p:spPr>
        <p:txBody>
          <a:bodyPr/>
          <a:lstStyle/>
          <a:p>
            <a:endParaRPr lang="en-US"/>
          </a:p>
        </p:txBody>
      </p:sp>
      <p:sp>
        <p:nvSpPr>
          <p:cNvPr id="5" name="Shape 3"/>
          <p:cNvSpPr/>
          <p:nvPr/>
        </p:nvSpPr>
        <p:spPr>
          <a:xfrm>
            <a:off x="5696006" y="2325787"/>
            <a:ext cx="425241" cy="25400"/>
          </a:xfrm>
          <a:prstGeom prst="roundRect">
            <a:avLst>
              <a:gd name="adj" fmla="val 753470"/>
            </a:avLst>
          </a:prstGeom>
          <a:solidFill>
            <a:srgbClr val="CED9CE"/>
          </a:solidFill>
          <a:ln/>
        </p:spPr>
        <p:txBody>
          <a:bodyPr/>
          <a:lstStyle/>
          <a:p>
            <a:endParaRPr lang="en-US"/>
          </a:p>
        </p:txBody>
      </p:sp>
      <p:sp>
        <p:nvSpPr>
          <p:cNvPr id="6" name="Shape 4"/>
          <p:cNvSpPr/>
          <p:nvPr/>
        </p:nvSpPr>
        <p:spPr>
          <a:xfrm>
            <a:off x="6016127" y="2258764"/>
            <a:ext cx="159441" cy="159445"/>
          </a:xfrm>
          <a:prstGeom prst="roundRect">
            <a:avLst>
              <a:gd name="adj" fmla="val 238954"/>
            </a:avLst>
          </a:prstGeom>
          <a:solidFill>
            <a:srgbClr val="438951"/>
          </a:solidFill>
          <a:ln/>
        </p:spPr>
        <p:txBody>
          <a:bodyPr/>
          <a:lstStyle/>
          <a:p>
            <a:endParaRPr lang="en-US"/>
          </a:p>
        </p:txBody>
      </p:sp>
      <p:sp>
        <p:nvSpPr>
          <p:cNvPr id="7" name="Text 5"/>
          <p:cNvSpPr/>
          <p:nvPr/>
        </p:nvSpPr>
        <p:spPr>
          <a:xfrm>
            <a:off x="2161526" y="2172295"/>
            <a:ext cx="3083741" cy="332184"/>
          </a:xfrm>
          <a:prstGeom prst="rect">
            <a:avLst/>
          </a:prstGeom>
          <a:noFill/>
          <a:ln/>
        </p:spPr>
        <p:txBody>
          <a:bodyPr wrap="none" lIns="0" tIns="0" rIns="0" bIns="0" rtlCol="0" anchor="t"/>
          <a:lstStyle/>
          <a:p>
            <a:pPr marL="0" indent="0" algn="r">
              <a:lnSpc>
                <a:spcPct val="104000"/>
              </a:lnSpc>
              <a:buNone/>
            </a:pPr>
            <a:r>
              <a:rPr lang="en-US" sz="2050" b="1" dirty="0">
                <a:solidFill>
                  <a:srgbClr val="030303"/>
                </a:solidFill>
                <a:latin typeface="Fraunces ExtraBold" pitchFamily="34" charset="0"/>
                <a:ea typeface="Fraunces ExtraBold" pitchFamily="34" charset="-122"/>
                <a:cs typeface="Fraunces ExtraBold" pitchFamily="34" charset="-120"/>
              </a:rPr>
              <a:t>Railway Cloud Hosting</a:t>
            </a:r>
            <a:endParaRPr lang="en-US" sz="2050" b="1" dirty="0"/>
          </a:p>
        </p:txBody>
      </p:sp>
      <p:sp>
        <p:nvSpPr>
          <p:cNvPr id="8" name="Text 6"/>
          <p:cNvSpPr/>
          <p:nvPr/>
        </p:nvSpPr>
        <p:spPr>
          <a:xfrm>
            <a:off x="981695" y="2619276"/>
            <a:ext cx="4583692" cy="969466"/>
          </a:xfrm>
          <a:prstGeom prst="rect">
            <a:avLst/>
          </a:prstGeom>
          <a:noFill/>
          <a:ln/>
        </p:spPr>
        <p:txBody>
          <a:bodyPr wrap="square" lIns="0" tIns="0" rIns="0" bIns="0" rtlCol="0" anchor="t">
            <a:normAutofit/>
          </a:bodyPr>
          <a:lstStyle/>
          <a:p>
            <a:pPr marL="0" indent="0" algn="ctr">
              <a:lnSpc>
                <a:spcPct val="12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Fully managed container orchestration ensuring isolated environments and high availability.</a:t>
            </a:r>
            <a:endParaRPr lang="en-US" dirty="0">
              <a:latin typeface="Aptos Display" panose="020B0004020202020204" pitchFamily="34" charset="0"/>
            </a:endParaRPr>
          </a:p>
        </p:txBody>
      </p:sp>
      <p:sp>
        <p:nvSpPr>
          <p:cNvPr id="9" name="Shape 7"/>
          <p:cNvSpPr/>
          <p:nvPr/>
        </p:nvSpPr>
        <p:spPr>
          <a:xfrm>
            <a:off x="6070448" y="3559076"/>
            <a:ext cx="425241" cy="25400"/>
          </a:xfrm>
          <a:prstGeom prst="roundRect">
            <a:avLst>
              <a:gd name="adj" fmla="val 753470"/>
            </a:avLst>
          </a:prstGeom>
          <a:solidFill>
            <a:srgbClr val="CED9CE"/>
          </a:solidFill>
          <a:ln/>
        </p:spPr>
        <p:txBody>
          <a:bodyPr/>
          <a:lstStyle/>
          <a:p>
            <a:endParaRPr lang="en-US"/>
          </a:p>
        </p:txBody>
      </p:sp>
      <p:sp>
        <p:nvSpPr>
          <p:cNvPr id="10" name="Shape 8"/>
          <p:cNvSpPr/>
          <p:nvPr/>
        </p:nvSpPr>
        <p:spPr>
          <a:xfrm>
            <a:off x="6016127" y="3492054"/>
            <a:ext cx="159441" cy="159445"/>
          </a:xfrm>
          <a:prstGeom prst="roundRect">
            <a:avLst>
              <a:gd name="adj" fmla="val 238954"/>
            </a:avLst>
          </a:prstGeom>
          <a:solidFill>
            <a:srgbClr val="438951"/>
          </a:solidFill>
          <a:ln/>
        </p:spPr>
        <p:txBody>
          <a:bodyPr/>
          <a:lstStyle/>
          <a:p>
            <a:endParaRPr lang="en-US"/>
          </a:p>
        </p:txBody>
      </p:sp>
      <p:sp>
        <p:nvSpPr>
          <p:cNvPr id="11" name="Text 9"/>
          <p:cNvSpPr/>
          <p:nvPr/>
        </p:nvSpPr>
        <p:spPr>
          <a:xfrm>
            <a:off x="6946429" y="3405584"/>
            <a:ext cx="2658004" cy="332184"/>
          </a:xfrm>
          <a:prstGeom prst="rect">
            <a:avLst/>
          </a:prstGeom>
          <a:noFill/>
          <a:ln/>
        </p:spPr>
        <p:txBody>
          <a:bodyPr wrap="none" lIns="0" tIns="0" rIns="0" bIns="0" rtlCol="0" anchor="t"/>
          <a:lstStyle/>
          <a:p>
            <a:pPr marL="0" indent="0" algn="l">
              <a:lnSpc>
                <a:spcPct val="104000"/>
              </a:lnSpc>
              <a:buNone/>
            </a:pPr>
            <a:r>
              <a:rPr lang="en-US" sz="2050" b="1" dirty="0">
                <a:solidFill>
                  <a:srgbClr val="030303"/>
                </a:solidFill>
                <a:latin typeface="Fraunces ExtraBold" pitchFamily="34" charset="0"/>
                <a:ea typeface="Fraunces ExtraBold" pitchFamily="34" charset="-122"/>
                <a:cs typeface="Fraunces ExtraBold" pitchFamily="34" charset="-120"/>
              </a:rPr>
              <a:t>Git-Driven CI/CD</a:t>
            </a:r>
            <a:endParaRPr lang="en-US" sz="2050" b="1" dirty="0"/>
          </a:p>
        </p:txBody>
      </p:sp>
      <p:sp>
        <p:nvSpPr>
          <p:cNvPr id="12" name="Text 10"/>
          <p:cNvSpPr/>
          <p:nvPr/>
        </p:nvSpPr>
        <p:spPr>
          <a:xfrm>
            <a:off x="6676808" y="3852565"/>
            <a:ext cx="4583692" cy="969466"/>
          </a:xfrm>
          <a:prstGeom prst="rect">
            <a:avLst/>
          </a:prstGeom>
          <a:noFill/>
          <a:ln/>
        </p:spPr>
        <p:txBody>
          <a:bodyPr wrap="square" lIns="0" tIns="0" rIns="0" bIns="0" rtlCol="0" anchor="t">
            <a:normAutofit/>
          </a:bodyPr>
          <a:lstStyle/>
          <a:p>
            <a:pPr marL="0" indent="0" algn="ctr">
              <a:lnSpc>
                <a:spcPct val="12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Automated .NET 10 builds, testing, and Docker image assembly triggered instantly upon git push.</a:t>
            </a:r>
            <a:endParaRPr lang="en-US" dirty="0">
              <a:latin typeface="Aptos Display" panose="020B0004020202020204" pitchFamily="34" charset="0"/>
            </a:endParaRPr>
          </a:p>
        </p:txBody>
      </p:sp>
      <p:sp>
        <p:nvSpPr>
          <p:cNvPr id="13" name="Shape 11"/>
          <p:cNvSpPr/>
          <p:nvPr/>
        </p:nvSpPr>
        <p:spPr>
          <a:xfrm>
            <a:off x="5696006" y="4637484"/>
            <a:ext cx="425241" cy="25400"/>
          </a:xfrm>
          <a:prstGeom prst="roundRect">
            <a:avLst>
              <a:gd name="adj" fmla="val 753470"/>
            </a:avLst>
          </a:prstGeom>
          <a:solidFill>
            <a:srgbClr val="CED9CE"/>
          </a:solidFill>
          <a:ln/>
        </p:spPr>
        <p:txBody>
          <a:bodyPr/>
          <a:lstStyle/>
          <a:p>
            <a:endParaRPr lang="en-US"/>
          </a:p>
        </p:txBody>
      </p:sp>
      <p:sp>
        <p:nvSpPr>
          <p:cNvPr id="14" name="Shape 12"/>
          <p:cNvSpPr/>
          <p:nvPr/>
        </p:nvSpPr>
        <p:spPr>
          <a:xfrm>
            <a:off x="6016127" y="4570462"/>
            <a:ext cx="159441" cy="159445"/>
          </a:xfrm>
          <a:prstGeom prst="roundRect">
            <a:avLst>
              <a:gd name="adj" fmla="val 238954"/>
            </a:avLst>
          </a:prstGeom>
          <a:solidFill>
            <a:srgbClr val="438951"/>
          </a:solidFill>
          <a:ln/>
        </p:spPr>
        <p:txBody>
          <a:bodyPr/>
          <a:lstStyle/>
          <a:p>
            <a:endParaRPr lang="en-US"/>
          </a:p>
        </p:txBody>
      </p:sp>
      <p:sp>
        <p:nvSpPr>
          <p:cNvPr id="15" name="Text 13"/>
          <p:cNvSpPr/>
          <p:nvPr/>
        </p:nvSpPr>
        <p:spPr>
          <a:xfrm>
            <a:off x="1950989" y="4483993"/>
            <a:ext cx="3294278" cy="332184"/>
          </a:xfrm>
          <a:prstGeom prst="rect">
            <a:avLst/>
          </a:prstGeom>
          <a:noFill/>
          <a:ln/>
        </p:spPr>
        <p:txBody>
          <a:bodyPr wrap="none" lIns="0" tIns="0" rIns="0" bIns="0" rtlCol="0" anchor="t"/>
          <a:lstStyle/>
          <a:p>
            <a:pPr marL="0" indent="0" algn="r">
              <a:lnSpc>
                <a:spcPct val="104000"/>
              </a:lnSpc>
              <a:buNone/>
            </a:pPr>
            <a:r>
              <a:rPr lang="en-US" sz="2050" b="1" dirty="0">
                <a:solidFill>
                  <a:srgbClr val="030303"/>
                </a:solidFill>
                <a:latin typeface="Fraunces ExtraBold" pitchFamily="34" charset="0"/>
                <a:ea typeface="Fraunces ExtraBold" pitchFamily="34" charset="-122"/>
                <a:cs typeface="Fraunces ExtraBold" pitchFamily="34" charset="-120"/>
              </a:rPr>
              <a:t>Environment Protection</a:t>
            </a:r>
            <a:endParaRPr lang="en-US" sz="2050" b="1" dirty="0"/>
          </a:p>
        </p:txBody>
      </p:sp>
      <p:sp>
        <p:nvSpPr>
          <p:cNvPr id="16" name="Text 14"/>
          <p:cNvSpPr/>
          <p:nvPr/>
        </p:nvSpPr>
        <p:spPr>
          <a:xfrm>
            <a:off x="1080515" y="4850264"/>
            <a:ext cx="4583692" cy="969466"/>
          </a:xfrm>
          <a:prstGeom prst="rect">
            <a:avLst/>
          </a:prstGeom>
          <a:noFill/>
          <a:ln/>
        </p:spPr>
        <p:txBody>
          <a:bodyPr wrap="square" lIns="0" tIns="0" rIns="0" bIns="0" rtlCol="0" anchor="t">
            <a:normAutofit lnSpcReduction="10000"/>
          </a:bodyPr>
          <a:lstStyle/>
          <a:p>
            <a:pPr marL="0" indent="0" algn="ctr">
              <a:lnSpc>
                <a:spcPct val="12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Centralized injection of cryptographic keys (Pepper) and API credentials to completely eliminate local codebase leakages</a:t>
            </a:r>
            <a:endParaRPr lang="en-US" dirty="0">
              <a:latin typeface="Aptos Display" panose="020B00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13" name="Image 0" descr="preencoded.png">
            <a:extLst>
              <a:ext uri="{FF2B5EF4-FFF2-40B4-BE49-F238E27FC236}">
                <a16:creationId xmlns:a16="http://schemas.microsoft.com/office/drawing/2014/main" id="{EC77339F-0D1E-60EF-A4A6-53F809BE57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64120" y="3656459"/>
            <a:ext cx="3604924" cy="1016506"/>
          </a:xfrm>
          <a:prstGeom prst="rect">
            <a:avLst/>
          </a:prstGeom>
        </p:spPr>
      </p:pic>
      <p:pic>
        <p:nvPicPr>
          <p:cNvPr id="14" name="Image 0" descr="preencoded.png">
            <a:extLst>
              <a:ext uri="{FF2B5EF4-FFF2-40B4-BE49-F238E27FC236}">
                <a16:creationId xmlns:a16="http://schemas.microsoft.com/office/drawing/2014/main" id="{8426C6E0-16BA-C95B-B889-4B332FDCC5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61964" y="3656459"/>
            <a:ext cx="3604924" cy="1016506"/>
          </a:xfrm>
          <a:prstGeom prst="rect">
            <a:avLst/>
          </a:prstGeom>
        </p:spPr>
      </p:pic>
      <p:sp>
        <p:nvSpPr>
          <p:cNvPr id="2" name="Text 0"/>
          <p:cNvSpPr/>
          <p:nvPr/>
        </p:nvSpPr>
        <p:spPr>
          <a:xfrm>
            <a:off x="746503" y="679152"/>
            <a:ext cx="10698689" cy="1453555"/>
          </a:xfrm>
          <a:prstGeom prst="rect">
            <a:avLst/>
          </a:prstGeom>
          <a:noFill/>
          <a:ln/>
        </p:spPr>
        <p:txBody>
          <a:bodyPr wrap="square" lIns="0" tIns="0" rIns="0" bIns="0" rtlCol="0" anchor="t">
            <a:normAutofit/>
          </a:bodyPr>
          <a:lstStyle/>
          <a:p>
            <a:pPr marL="0" indent="0" algn="l">
              <a:lnSpc>
                <a:spcPct val="104000"/>
              </a:lnSpc>
              <a:buNone/>
            </a:pPr>
            <a:r>
              <a:rPr lang="en-US" sz="4550" b="1" dirty="0">
                <a:solidFill>
                  <a:srgbClr val="265834"/>
                </a:solidFill>
                <a:latin typeface="Fraunces ExtraBold" pitchFamily="34" charset="0"/>
                <a:ea typeface="Fraunces ExtraBold" pitchFamily="34" charset="-122"/>
                <a:cs typeface="Fraunces ExtraBold" pitchFamily="34" charset="-120"/>
              </a:rPr>
              <a:t>Persistent Strategy: PostgreSQL Shift</a:t>
            </a:r>
            <a:endParaRPr lang="en-US" sz="4550" b="1" dirty="0"/>
          </a:p>
        </p:txBody>
      </p:sp>
      <p:sp>
        <p:nvSpPr>
          <p:cNvPr id="3" name="Text 1"/>
          <p:cNvSpPr/>
          <p:nvPr/>
        </p:nvSpPr>
        <p:spPr>
          <a:xfrm>
            <a:off x="746503" y="1914128"/>
            <a:ext cx="8715355" cy="436066"/>
          </a:xfrm>
          <a:prstGeom prst="rect">
            <a:avLst/>
          </a:prstGeom>
          <a:noFill/>
          <a:ln/>
        </p:spPr>
        <p:txBody>
          <a:bodyPr wrap="none" lIns="0" tIns="0" rIns="0" bIns="0" rtlCol="0" anchor="t"/>
          <a:lstStyle/>
          <a:p>
            <a:pPr marL="0" indent="0" algn="l">
              <a:lnSpc>
                <a:spcPct val="104000"/>
              </a:lnSpc>
              <a:buNone/>
            </a:pPr>
            <a:r>
              <a:rPr lang="en-US" sz="2700" b="1" dirty="0">
                <a:solidFill>
                  <a:srgbClr val="265834"/>
                </a:solidFill>
                <a:latin typeface="Fraunces ExtraBold" pitchFamily="34" charset="0"/>
                <a:ea typeface="Fraunces ExtraBold" pitchFamily="34" charset="-122"/>
                <a:cs typeface="Fraunces ExtraBold" pitchFamily="34" charset="-120"/>
              </a:rPr>
              <a:t>Optimization through Cloud-Native Migration</a:t>
            </a:r>
            <a:endParaRPr lang="en-US" sz="2700" b="1"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4382" y="3708788"/>
            <a:ext cx="3604924" cy="1016506"/>
          </a:xfrm>
          <a:prstGeom prst="rect">
            <a:avLst/>
          </a:prstGeom>
        </p:spPr>
      </p:pic>
      <p:sp>
        <p:nvSpPr>
          <p:cNvPr id="5" name="Text 2"/>
          <p:cNvSpPr/>
          <p:nvPr/>
        </p:nvSpPr>
        <p:spPr>
          <a:xfrm>
            <a:off x="838887" y="3976372"/>
            <a:ext cx="2907235" cy="510938"/>
          </a:xfrm>
          <a:prstGeom prst="rect">
            <a:avLst/>
          </a:prstGeom>
          <a:noFill/>
          <a:ln/>
        </p:spPr>
        <p:txBody>
          <a:bodyPr wrap="none" lIns="0" tIns="0" rIns="0" bIns="0" rtlCol="0" anchor="t"/>
          <a:lstStyle/>
          <a:p>
            <a:pPr marL="0" indent="0" algn="l">
              <a:lnSpc>
                <a:spcPct val="104000"/>
              </a:lnSpc>
              <a:buNone/>
            </a:pPr>
            <a:r>
              <a:rPr lang="en-US" sz="2250" b="1" dirty="0">
                <a:solidFill>
                  <a:srgbClr val="030303"/>
                </a:solidFill>
                <a:latin typeface="Fraunces ExtraBold" pitchFamily="34" charset="0"/>
                <a:ea typeface="Fraunces ExtraBold" pitchFamily="34" charset="-122"/>
                <a:cs typeface="Fraunces ExtraBold" pitchFamily="34" charset="-120"/>
              </a:rPr>
              <a:t>Memory Efficiency</a:t>
            </a:r>
            <a:endParaRPr lang="en-US" sz="2250" b="1" dirty="0"/>
          </a:p>
        </p:txBody>
      </p:sp>
      <p:sp>
        <p:nvSpPr>
          <p:cNvPr id="6" name="Text 3"/>
          <p:cNvSpPr/>
          <p:nvPr/>
        </p:nvSpPr>
        <p:spPr>
          <a:xfrm>
            <a:off x="979066" y="4100313"/>
            <a:ext cx="2948509" cy="1476772"/>
          </a:xfrm>
          <a:prstGeom prst="rect">
            <a:avLst/>
          </a:prstGeom>
          <a:noFill/>
          <a:ln/>
        </p:spPr>
        <p:txBody>
          <a:bodyPr wrap="square" lIns="0" tIns="0" rIns="0" bIns="0" rtlCol="0" anchor="t">
            <a:normAutofit/>
          </a:bodyPr>
          <a:lstStyle/>
          <a:p>
            <a:pPr marL="0" indent="0" algn="l">
              <a:lnSpc>
                <a:spcPct val="132000"/>
              </a:lnSpc>
              <a:buNone/>
            </a:pPr>
            <a:endParaRPr lang="en-US" sz="2000" dirty="0">
              <a:latin typeface="Aptos Display" panose="020B0004020202020204" pitchFamily="34" charset="0"/>
            </a:endParaRPr>
          </a:p>
        </p:txBody>
      </p:sp>
      <p:sp>
        <p:nvSpPr>
          <p:cNvPr id="8" name="Text 4"/>
          <p:cNvSpPr/>
          <p:nvPr/>
        </p:nvSpPr>
        <p:spPr>
          <a:xfrm>
            <a:off x="4946757" y="4034768"/>
            <a:ext cx="2907235" cy="363339"/>
          </a:xfrm>
          <a:prstGeom prst="rect">
            <a:avLst/>
          </a:prstGeom>
          <a:noFill/>
          <a:ln/>
        </p:spPr>
        <p:txBody>
          <a:bodyPr wrap="none" lIns="0" tIns="0" rIns="0" bIns="0" rtlCol="0" anchor="t"/>
          <a:lstStyle/>
          <a:p>
            <a:pPr marL="0" indent="0" algn="l">
              <a:lnSpc>
                <a:spcPct val="104000"/>
              </a:lnSpc>
              <a:buNone/>
            </a:pPr>
            <a:r>
              <a:rPr lang="en-US" sz="2250" b="1" dirty="0">
                <a:solidFill>
                  <a:srgbClr val="030303"/>
                </a:solidFill>
                <a:latin typeface="Fraunces ExtraBold" pitchFamily="34" charset="0"/>
                <a:ea typeface="Fraunces ExtraBold" pitchFamily="34" charset="-122"/>
                <a:cs typeface="Fraunces ExtraBold" pitchFamily="34" charset="-120"/>
              </a:rPr>
              <a:t>JSONB Support</a:t>
            </a:r>
            <a:endParaRPr lang="en-US" sz="2250" b="1" dirty="0"/>
          </a:p>
        </p:txBody>
      </p:sp>
      <p:sp>
        <p:nvSpPr>
          <p:cNvPr id="9" name="Text 5"/>
          <p:cNvSpPr/>
          <p:nvPr/>
        </p:nvSpPr>
        <p:spPr>
          <a:xfrm>
            <a:off x="4621593" y="4100313"/>
            <a:ext cx="2948509" cy="1845965"/>
          </a:xfrm>
          <a:prstGeom prst="rect">
            <a:avLst/>
          </a:prstGeom>
          <a:noFill/>
          <a:ln/>
        </p:spPr>
        <p:txBody>
          <a:bodyPr wrap="square" lIns="0" tIns="0" rIns="0" bIns="0" rtlCol="0" anchor="t">
            <a:normAutofit/>
          </a:bodyPr>
          <a:lstStyle/>
          <a:p>
            <a:pPr marL="0" indent="0" algn="l">
              <a:lnSpc>
                <a:spcPct val="132000"/>
              </a:lnSpc>
              <a:buNone/>
            </a:pPr>
            <a:endParaRPr lang="en-US" sz="2000" dirty="0">
              <a:latin typeface="Aptos Display" panose="020B0004020202020204" pitchFamily="34" charset="0"/>
            </a:endParaRPr>
          </a:p>
        </p:txBody>
      </p:sp>
      <p:sp>
        <p:nvSpPr>
          <p:cNvPr id="11" name="Text 6"/>
          <p:cNvSpPr/>
          <p:nvPr/>
        </p:nvSpPr>
        <p:spPr>
          <a:xfrm>
            <a:off x="8586279" y="4008951"/>
            <a:ext cx="3500582" cy="445780"/>
          </a:xfrm>
          <a:prstGeom prst="rect">
            <a:avLst/>
          </a:prstGeom>
          <a:noFill/>
          <a:ln/>
        </p:spPr>
        <p:txBody>
          <a:bodyPr wrap="square" lIns="0" tIns="0" rIns="0" bIns="0" rtlCol="0" anchor="t">
            <a:normAutofit/>
          </a:bodyPr>
          <a:lstStyle/>
          <a:p>
            <a:pPr marL="0" indent="0" algn="l">
              <a:lnSpc>
                <a:spcPct val="104000"/>
              </a:lnSpc>
              <a:buNone/>
            </a:pPr>
            <a:r>
              <a:rPr lang="en-US" sz="2250" b="1" dirty="0">
                <a:solidFill>
                  <a:srgbClr val="030303"/>
                </a:solidFill>
                <a:latin typeface="Fraunces ExtraBold" pitchFamily="34" charset="0"/>
                <a:ea typeface="Fraunces ExtraBold" pitchFamily="34" charset="-122"/>
                <a:cs typeface="Fraunces ExtraBold" pitchFamily="34" charset="-120"/>
              </a:rPr>
              <a:t>Self-Healing Migrations</a:t>
            </a:r>
            <a:endParaRPr lang="en-US" sz="2250" b="1" dirty="0"/>
          </a:p>
        </p:txBody>
      </p:sp>
      <p:sp>
        <p:nvSpPr>
          <p:cNvPr id="12" name="Text 7"/>
          <p:cNvSpPr/>
          <p:nvPr/>
        </p:nvSpPr>
        <p:spPr>
          <a:xfrm>
            <a:off x="8264120" y="4100314"/>
            <a:ext cx="2948509" cy="1845965"/>
          </a:xfrm>
          <a:prstGeom prst="rect">
            <a:avLst/>
          </a:prstGeom>
          <a:noFill/>
          <a:ln/>
        </p:spPr>
        <p:txBody>
          <a:bodyPr wrap="square" lIns="0" tIns="0" rIns="0" bIns="0" rtlCol="0" anchor="t">
            <a:normAutofit/>
          </a:bodyPr>
          <a:lstStyle/>
          <a:p>
            <a:pPr marL="0" indent="0" algn="l">
              <a:lnSpc>
                <a:spcPct val="132000"/>
              </a:lnSpc>
              <a:buNone/>
            </a:pPr>
            <a:endParaRPr lang="en-US" sz="2000" dirty="0">
              <a:latin typeface="Aptos Display" panose="020B00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61574" y="1818084"/>
            <a:ext cx="9079975" cy="738287"/>
          </a:xfrm>
          <a:prstGeom prst="rect">
            <a:avLst/>
          </a:prstGeom>
          <a:noFill/>
          <a:ln/>
        </p:spPr>
        <p:txBody>
          <a:bodyPr wrap="none" lIns="0" tIns="0" rIns="0" bIns="0" rtlCol="0" anchor="t"/>
          <a:lstStyle/>
          <a:p>
            <a:pPr marL="0" indent="0" algn="l">
              <a:lnSpc>
                <a:spcPct val="104000"/>
              </a:lnSpc>
              <a:buNone/>
            </a:pPr>
            <a:r>
              <a:rPr lang="en-US" sz="4650" b="1" dirty="0">
                <a:solidFill>
                  <a:srgbClr val="265834"/>
                </a:solidFill>
                <a:latin typeface="Fraunces ExtraBold" pitchFamily="34" charset="0"/>
                <a:ea typeface="Fraunces ExtraBold" pitchFamily="34" charset="-122"/>
                <a:cs typeface="Fraunces ExtraBold" pitchFamily="34" charset="-120"/>
              </a:rPr>
              <a:t>Security &amp; Defense-in-Depth</a:t>
            </a:r>
            <a:endParaRPr lang="en-US" sz="4650" b="1" dirty="0"/>
          </a:p>
        </p:txBody>
      </p:sp>
      <p:sp>
        <p:nvSpPr>
          <p:cNvPr id="3" name="Text 1"/>
          <p:cNvSpPr/>
          <p:nvPr/>
        </p:nvSpPr>
        <p:spPr>
          <a:xfrm>
            <a:off x="661574" y="2650827"/>
            <a:ext cx="4360853" cy="369193"/>
          </a:xfrm>
          <a:prstGeom prst="rect">
            <a:avLst/>
          </a:prstGeom>
          <a:noFill/>
          <a:ln/>
        </p:spPr>
        <p:txBody>
          <a:bodyPr wrap="none" lIns="0" tIns="0" rIns="0" bIns="0" rtlCol="0" anchor="t"/>
          <a:lstStyle/>
          <a:p>
            <a:pPr marL="0" indent="0" algn="l">
              <a:lnSpc>
                <a:spcPct val="104000"/>
              </a:lnSpc>
              <a:buNone/>
            </a:pPr>
            <a:r>
              <a:rPr lang="en-US" sz="2300" b="1" dirty="0">
                <a:solidFill>
                  <a:srgbClr val="265834"/>
                </a:solidFill>
                <a:latin typeface="Fraunces ExtraBold" pitchFamily="34" charset="0"/>
                <a:ea typeface="Fraunces ExtraBold" pitchFamily="34" charset="-122"/>
                <a:cs typeface="Fraunces ExtraBold" pitchFamily="34" charset="-120"/>
              </a:rPr>
              <a:t>Multi-Layered</a:t>
            </a:r>
            <a:r>
              <a:rPr lang="en-US" sz="2300" dirty="0">
                <a:solidFill>
                  <a:srgbClr val="265834"/>
                </a:solidFill>
                <a:latin typeface="Fraunces ExtraBold" pitchFamily="34" charset="0"/>
                <a:ea typeface="Fraunces ExtraBold" pitchFamily="34" charset="-122"/>
                <a:cs typeface="Fraunces ExtraBold" pitchFamily="34" charset="-120"/>
              </a:rPr>
              <a:t> </a:t>
            </a:r>
            <a:r>
              <a:rPr lang="en-US" sz="2300" b="1" dirty="0">
                <a:solidFill>
                  <a:srgbClr val="265834"/>
                </a:solidFill>
                <a:latin typeface="Fraunces ExtraBold" pitchFamily="34" charset="0"/>
                <a:ea typeface="Fraunces ExtraBold" pitchFamily="34" charset="-122"/>
                <a:cs typeface="Fraunces ExtraBold" pitchFamily="34" charset="-120"/>
              </a:rPr>
              <a:t>Protection</a:t>
            </a:r>
            <a:endParaRPr lang="en-US" sz="2300" b="1" dirty="0"/>
          </a:p>
        </p:txBody>
      </p:sp>
      <p:sp>
        <p:nvSpPr>
          <p:cNvPr id="4" name="Text 2"/>
          <p:cNvSpPr/>
          <p:nvPr/>
        </p:nvSpPr>
        <p:spPr>
          <a:xfrm>
            <a:off x="661574" y="3393887"/>
            <a:ext cx="10868547" cy="1586676"/>
          </a:xfrm>
          <a:prstGeom prst="rect">
            <a:avLst/>
          </a:prstGeom>
          <a:noFill/>
          <a:ln/>
        </p:spPr>
        <p:txBody>
          <a:bodyPr wrap="square" lIns="0" tIns="0" rIns="0" bIns="0" rtlCol="0" anchor="t"/>
          <a:lstStyle/>
          <a:p>
            <a:pPr marL="0" indent="0" algn="l">
              <a:lnSpc>
                <a:spcPct val="133000"/>
              </a:lnSpc>
              <a:buNone/>
            </a:pPr>
            <a:r>
              <a:rPr lang="en-US" sz="2400" b="1" dirty="0">
                <a:solidFill>
                  <a:srgbClr val="030303"/>
                </a:solidFill>
                <a:latin typeface="Aptos Display" panose="020B0004020202020204" pitchFamily="34" charset="0"/>
                <a:ea typeface="Instrument Sans" pitchFamily="34" charset="-122"/>
                <a:cs typeface="Instrument Sans" pitchFamily="34" charset="-120"/>
              </a:rPr>
              <a:t>Cryptographic Hardening:</a:t>
            </a:r>
            <a:r>
              <a:rPr lang="en-US" sz="2400" dirty="0">
                <a:solidFill>
                  <a:srgbClr val="030303"/>
                </a:solidFill>
                <a:latin typeface="Aptos Display" panose="020B0004020202020204" pitchFamily="34" charset="0"/>
                <a:ea typeface="Instrument Sans" pitchFamily="34" charset="-122"/>
                <a:cs typeface="Instrument Sans" pitchFamily="34" charset="-120"/>
              </a:rPr>
              <a:t> BCrypt + Password Pepper environment isolation.</a:t>
            </a:r>
            <a:endParaRPr lang="en-US" sz="2400" dirty="0">
              <a:latin typeface="Aptos Display" panose="020B0004020202020204" pitchFamily="34" charset="0"/>
            </a:endParaRPr>
          </a:p>
          <a:p>
            <a:pPr marL="0" indent="0" algn="l">
              <a:lnSpc>
                <a:spcPct val="133000"/>
              </a:lnSpc>
              <a:buNone/>
            </a:pPr>
            <a:r>
              <a:rPr lang="en-US" sz="2400" b="1" dirty="0">
                <a:solidFill>
                  <a:srgbClr val="030303"/>
                </a:solidFill>
                <a:latin typeface="Aptos Display" panose="020B0004020202020204" pitchFamily="34" charset="0"/>
                <a:ea typeface="Instrument Sans" pitchFamily="34" charset="-122"/>
                <a:cs typeface="Instrument Sans" pitchFamily="34" charset="-120"/>
              </a:rPr>
              <a:t>Exploit Mitigation:</a:t>
            </a:r>
            <a:r>
              <a:rPr lang="en-US" sz="2400" dirty="0">
                <a:solidFill>
                  <a:srgbClr val="030303"/>
                </a:solidFill>
                <a:latin typeface="Aptos Display" panose="020B0004020202020204" pitchFamily="34" charset="0"/>
                <a:ea typeface="Instrument Sans" pitchFamily="34" charset="-122"/>
                <a:cs typeface="Instrument Sans" pitchFamily="34" charset="-120"/>
              </a:rPr>
              <a:t> LINQ parameterization blocking all SQL Injection attempts.</a:t>
            </a:r>
            <a:endParaRPr lang="en-US" sz="2400" dirty="0">
              <a:latin typeface="Aptos Display" panose="020B0004020202020204" pitchFamily="34" charset="0"/>
            </a:endParaRPr>
          </a:p>
          <a:p>
            <a:pPr marL="0" indent="0" algn="l">
              <a:lnSpc>
                <a:spcPct val="133000"/>
              </a:lnSpc>
              <a:buNone/>
            </a:pPr>
            <a:r>
              <a:rPr lang="en-US" sz="2400" b="1" dirty="0">
                <a:solidFill>
                  <a:srgbClr val="030303"/>
                </a:solidFill>
                <a:latin typeface="Aptos Display" panose="020B0004020202020204" pitchFamily="34" charset="0"/>
                <a:ea typeface="Instrument Sans" pitchFamily="34" charset="-122"/>
                <a:cs typeface="Instrument Sans" pitchFamily="34" charset="-120"/>
              </a:rPr>
              <a:t>Zero-Leak Middleware:</a:t>
            </a:r>
            <a:r>
              <a:rPr lang="en-US" sz="2400" dirty="0">
                <a:solidFill>
                  <a:srgbClr val="030303"/>
                </a:solidFill>
                <a:latin typeface="Aptos Display" panose="020B0004020202020204" pitchFamily="34" charset="0"/>
                <a:ea typeface="Instrument Sans" pitchFamily="34" charset="-122"/>
                <a:cs typeface="Instrument Sans" pitchFamily="34" charset="-120"/>
              </a:rPr>
              <a:t> Global interception masking internal stack traces.</a:t>
            </a:r>
            <a:endParaRPr lang="en-US" sz="2400" dirty="0">
              <a:latin typeface="Aptos Display" panose="020B00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661574" y="753269"/>
            <a:ext cx="10824892" cy="664468"/>
          </a:xfrm>
          <a:prstGeom prst="rect">
            <a:avLst/>
          </a:prstGeom>
          <a:noFill/>
          <a:ln/>
        </p:spPr>
        <p:txBody>
          <a:bodyPr wrap="none" lIns="0" tIns="0" rIns="0" bIns="0" rtlCol="0" anchor="t"/>
          <a:lstStyle/>
          <a:p>
            <a:pPr marL="0" indent="0" algn="l">
              <a:lnSpc>
                <a:spcPct val="104000"/>
              </a:lnSpc>
              <a:buNone/>
            </a:pPr>
            <a:r>
              <a:rPr lang="en-US" sz="4150" b="1" dirty="0">
                <a:solidFill>
                  <a:srgbClr val="265834"/>
                </a:solidFill>
                <a:latin typeface="Fraunces ExtraBold" pitchFamily="34" charset="0"/>
                <a:ea typeface="Fraunces ExtraBold" pitchFamily="34" charset="-122"/>
                <a:cs typeface="Fraunces ExtraBold" pitchFamily="34" charset="-120"/>
              </a:rPr>
              <a:t>Governed AI Core: Gemini Integration</a:t>
            </a:r>
            <a:endParaRPr lang="en-US" sz="4150" b="1" dirty="0"/>
          </a:p>
        </p:txBody>
      </p:sp>
      <p:sp>
        <p:nvSpPr>
          <p:cNvPr id="3" name="Text 1"/>
          <p:cNvSpPr/>
          <p:nvPr/>
        </p:nvSpPr>
        <p:spPr>
          <a:xfrm>
            <a:off x="661574" y="1494234"/>
            <a:ext cx="8073525" cy="398661"/>
          </a:xfrm>
          <a:prstGeom prst="rect">
            <a:avLst/>
          </a:prstGeom>
          <a:noFill/>
          <a:ln/>
        </p:spPr>
        <p:txBody>
          <a:bodyPr wrap="none" lIns="0" tIns="0" rIns="0" bIns="0" rtlCol="0" anchor="t"/>
          <a:lstStyle/>
          <a:p>
            <a:pPr marL="0" indent="0" algn="l">
              <a:lnSpc>
                <a:spcPct val="104000"/>
              </a:lnSpc>
              <a:buNone/>
            </a:pPr>
            <a:r>
              <a:rPr lang="en-US" sz="2500" b="1" dirty="0">
                <a:solidFill>
                  <a:srgbClr val="265834"/>
                </a:solidFill>
                <a:latin typeface="Fraunces ExtraBold" pitchFamily="34" charset="0"/>
                <a:ea typeface="Fraunces ExtraBold" pitchFamily="34" charset="-122"/>
                <a:cs typeface="Fraunces ExtraBold" pitchFamily="34" charset="-120"/>
              </a:rPr>
              <a:t>Prompt Engineering &amp; Strict Contract Parsing</a:t>
            </a:r>
            <a:endParaRPr lang="en-US" sz="2500" b="1" dirty="0"/>
          </a:p>
        </p:txBody>
      </p:sp>
      <p:sp>
        <p:nvSpPr>
          <p:cNvPr id="4" name="Shape 2"/>
          <p:cNvSpPr/>
          <p:nvPr/>
        </p:nvSpPr>
        <p:spPr>
          <a:xfrm>
            <a:off x="661574" y="2179935"/>
            <a:ext cx="10868547" cy="1518543"/>
          </a:xfrm>
          <a:prstGeom prst="roundRect">
            <a:avLst>
              <a:gd name="adj" fmla="val 12603"/>
            </a:avLst>
          </a:prstGeom>
          <a:solidFill>
            <a:srgbClr val="E8F3E8"/>
          </a:solidFill>
          <a:ln/>
        </p:spPr>
        <p:txBody>
          <a:bodyPr/>
          <a:lstStyle/>
          <a:p>
            <a:endParaRPr lang="en-US"/>
          </a:p>
        </p:txBody>
      </p:sp>
      <p:sp>
        <p:nvSpPr>
          <p:cNvPr id="5" name="Shape 3"/>
          <p:cNvSpPr/>
          <p:nvPr/>
        </p:nvSpPr>
        <p:spPr>
          <a:xfrm>
            <a:off x="874195" y="2505521"/>
            <a:ext cx="106261" cy="106263"/>
          </a:xfrm>
          <a:prstGeom prst="roundRect">
            <a:avLst>
              <a:gd name="adj" fmla="val 358542"/>
            </a:avLst>
          </a:prstGeom>
          <a:solidFill>
            <a:srgbClr val="438951"/>
          </a:solidFill>
          <a:ln/>
        </p:spPr>
        <p:txBody>
          <a:bodyPr/>
          <a:lstStyle/>
          <a:p>
            <a:endParaRPr lang="en-US"/>
          </a:p>
        </p:txBody>
      </p:sp>
      <p:sp>
        <p:nvSpPr>
          <p:cNvPr id="6" name="Text 4"/>
          <p:cNvSpPr/>
          <p:nvPr/>
        </p:nvSpPr>
        <p:spPr>
          <a:xfrm>
            <a:off x="1171744" y="2392561"/>
            <a:ext cx="3672193" cy="332184"/>
          </a:xfrm>
          <a:prstGeom prst="rect">
            <a:avLst/>
          </a:prstGeom>
          <a:noFill/>
          <a:ln/>
        </p:spPr>
        <p:txBody>
          <a:bodyPr wrap="none" lIns="0" tIns="0" rIns="0" bIns="0" rtlCol="0" anchor="t"/>
          <a:lstStyle/>
          <a:p>
            <a:pPr marL="0" indent="0" algn="l">
              <a:lnSpc>
                <a:spcPct val="104000"/>
              </a:lnSpc>
              <a:buNone/>
            </a:pPr>
            <a:r>
              <a:rPr lang="en-US" sz="2050" b="1" dirty="0">
                <a:solidFill>
                  <a:srgbClr val="030303"/>
                </a:solidFill>
                <a:latin typeface="Fraunces ExtraBold" pitchFamily="34" charset="0"/>
                <a:ea typeface="Fraunces ExtraBold" pitchFamily="34" charset="-122"/>
                <a:cs typeface="Fraunces ExtraBold" pitchFamily="34" charset="-120"/>
              </a:rPr>
              <a:t>Brand Neutrality Guardrail</a:t>
            </a:r>
            <a:endParaRPr lang="en-US" sz="2050" b="1" dirty="0"/>
          </a:p>
        </p:txBody>
      </p:sp>
      <p:sp>
        <p:nvSpPr>
          <p:cNvPr id="7" name="Text 5"/>
          <p:cNvSpPr/>
          <p:nvPr/>
        </p:nvSpPr>
        <p:spPr>
          <a:xfrm>
            <a:off x="1171744" y="2839541"/>
            <a:ext cx="10145756" cy="646311"/>
          </a:xfrm>
          <a:prstGeom prst="rect">
            <a:avLst/>
          </a:prstGeom>
          <a:noFill/>
          <a:ln/>
        </p:spPr>
        <p:txBody>
          <a:bodyPr wrap="square" lIns="0" tIns="0" rIns="0" bIns="0" rtlCol="0" anchor="t">
            <a:noAutofit/>
          </a:bodyPr>
          <a:lstStyle/>
          <a:p>
            <a:pPr marL="0" indent="0" algn="l">
              <a:lnSpc>
                <a:spcPct val="127000"/>
              </a:lnSpc>
              <a:buNone/>
            </a:pPr>
            <a:r>
              <a:rPr lang="en-US" sz="2000" dirty="0">
                <a:solidFill>
                  <a:srgbClr val="030303"/>
                </a:solidFill>
                <a:latin typeface="Aptos Display" panose="020B0004020202020204" pitchFamily="34" charset="0"/>
                <a:ea typeface="Instrument Sans" pitchFamily="34" charset="-122"/>
                <a:cs typeface="Instrument Sans" pitchFamily="34" charset="-120"/>
              </a:rPr>
              <a:t>System prompt explicitly restricts commercial brands, extracting only generic Active Ingredients like "Neem Oil".</a:t>
            </a:r>
            <a:endParaRPr lang="en-US" sz="2000" dirty="0">
              <a:latin typeface="Aptos Display" panose="020B0004020202020204" pitchFamily="34" charset="0"/>
            </a:endParaRPr>
          </a:p>
        </p:txBody>
      </p:sp>
      <p:sp>
        <p:nvSpPr>
          <p:cNvPr id="8" name="Shape 6"/>
          <p:cNvSpPr/>
          <p:nvPr/>
        </p:nvSpPr>
        <p:spPr>
          <a:xfrm>
            <a:off x="661574" y="4081165"/>
            <a:ext cx="10868547" cy="2023467"/>
          </a:xfrm>
          <a:prstGeom prst="roundRect">
            <a:avLst>
              <a:gd name="adj" fmla="val 9458"/>
            </a:avLst>
          </a:prstGeom>
          <a:solidFill>
            <a:srgbClr val="E8F3E8"/>
          </a:solidFill>
          <a:ln/>
        </p:spPr>
        <p:txBody>
          <a:bodyPr/>
          <a:lstStyle/>
          <a:p>
            <a:endParaRPr lang="en-US"/>
          </a:p>
        </p:txBody>
      </p:sp>
      <p:sp>
        <p:nvSpPr>
          <p:cNvPr id="9" name="Shape 7"/>
          <p:cNvSpPr/>
          <p:nvPr/>
        </p:nvSpPr>
        <p:spPr>
          <a:xfrm>
            <a:off x="874195" y="4406751"/>
            <a:ext cx="106261" cy="106263"/>
          </a:xfrm>
          <a:prstGeom prst="roundRect">
            <a:avLst>
              <a:gd name="adj" fmla="val 358542"/>
            </a:avLst>
          </a:prstGeom>
          <a:solidFill>
            <a:srgbClr val="438951"/>
          </a:solidFill>
          <a:ln/>
        </p:spPr>
        <p:txBody>
          <a:bodyPr/>
          <a:lstStyle/>
          <a:p>
            <a:endParaRPr lang="en-US"/>
          </a:p>
        </p:txBody>
      </p:sp>
      <p:sp>
        <p:nvSpPr>
          <p:cNvPr id="10" name="Text 8"/>
          <p:cNvSpPr/>
          <p:nvPr/>
        </p:nvSpPr>
        <p:spPr>
          <a:xfrm>
            <a:off x="1171744" y="4293791"/>
            <a:ext cx="3354006" cy="332184"/>
          </a:xfrm>
          <a:prstGeom prst="rect">
            <a:avLst/>
          </a:prstGeom>
          <a:noFill/>
          <a:ln/>
        </p:spPr>
        <p:txBody>
          <a:bodyPr wrap="none" lIns="0" tIns="0" rIns="0" bIns="0" rtlCol="0" anchor="t"/>
          <a:lstStyle/>
          <a:p>
            <a:pPr marL="0" indent="0" algn="l">
              <a:lnSpc>
                <a:spcPct val="104000"/>
              </a:lnSpc>
              <a:buNone/>
            </a:pPr>
            <a:r>
              <a:rPr lang="en-US" sz="2050" b="1" dirty="0">
                <a:solidFill>
                  <a:srgbClr val="030303"/>
                </a:solidFill>
                <a:latin typeface="Fraunces ExtraBold" pitchFamily="34" charset="0"/>
                <a:ea typeface="Fraunces ExtraBold" pitchFamily="34" charset="-122"/>
                <a:cs typeface="Fraunces ExtraBold" pitchFamily="34" charset="-120"/>
              </a:rPr>
              <a:t>Dual-Structured Parsing</a:t>
            </a:r>
            <a:endParaRPr lang="en-US" sz="2050" b="1" dirty="0"/>
          </a:p>
        </p:txBody>
      </p:sp>
      <p:sp>
        <p:nvSpPr>
          <p:cNvPr id="11" name="Text 9"/>
          <p:cNvSpPr/>
          <p:nvPr/>
        </p:nvSpPr>
        <p:spPr>
          <a:xfrm>
            <a:off x="1171744" y="4740771"/>
            <a:ext cx="10145756" cy="323155"/>
          </a:xfrm>
          <a:prstGeom prst="rect">
            <a:avLst/>
          </a:prstGeom>
          <a:noFill/>
          <a:ln/>
        </p:spPr>
        <p:txBody>
          <a:bodyPr wrap="none" lIns="0" tIns="0" rIns="0" bIns="0" rtlCol="0" anchor="t"/>
          <a:lstStyle/>
          <a:p>
            <a:pPr marL="0" indent="0" algn="l">
              <a:lnSpc>
                <a:spcPct val="127000"/>
              </a:lnSpc>
              <a:buNone/>
            </a:pPr>
            <a:r>
              <a:rPr lang="en-US" sz="2000" dirty="0">
                <a:solidFill>
                  <a:srgbClr val="030303"/>
                </a:solidFill>
                <a:latin typeface="Aptos Display" panose="020B0004020202020204" pitchFamily="34" charset="0"/>
                <a:ea typeface="Instrument Sans" pitchFamily="34" charset="-122"/>
                <a:cs typeface="Instrument Sans" pitchFamily="34" charset="-120"/>
              </a:rPr>
              <a:t>Separates the AI response into two streams:</a:t>
            </a:r>
            <a:endParaRPr lang="en-US" sz="2000" dirty="0">
              <a:latin typeface="Aptos Display" panose="020B0004020202020204" pitchFamily="34" charset="0"/>
            </a:endParaRPr>
          </a:p>
        </p:txBody>
      </p:sp>
      <p:sp>
        <p:nvSpPr>
          <p:cNvPr id="12" name="Text 10"/>
          <p:cNvSpPr/>
          <p:nvPr/>
        </p:nvSpPr>
        <p:spPr>
          <a:xfrm>
            <a:off x="1171744" y="5178723"/>
            <a:ext cx="10145756" cy="713284"/>
          </a:xfrm>
          <a:prstGeom prst="rect">
            <a:avLst/>
          </a:prstGeom>
          <a:noFill/>
          <a:ln/>
        </p:spPr>
        <p:txBody>
          <a:bodyPr wrap="square" lIns="0" tIns="0" rIns="0" bIns="0" rtlCol="0" anchor="t">
            <a:normAutofit lnSpcReduction="10000"/>
          </a:bodyPr>
          <a:lstStyle/>
          <a:p>
            <a:pPr marL="342900" indent="-342900" algn="l">
              <a:lnSpc>
                <a:spcPct val="127000"/>
              </a:lnSpc>
              <a:buSzPct val="100000"/>
              <a:buChar char="•"/>
            </a:pPr>
            <a:r>
              <a:rPr lang="en-US" sz="2000" b="1" dirty="0">
                <a:solidFill>
                  <a:srgbClr val="030303"/>
                </a:solidFill>
                <a:latin typeface="Aptos Display" panose="020B0004020202020204" pitchFamily="34" charset="0"/>
                <a:ea typeface="Instrument Sans" pitchFamily="34" charset="-122"/>
                <a:cs typeface="Instrument Sans" pitchFamily="34" charset="-120"/>
              </a:rPr>
              <a:t>Treatment:</a:t>
            </a:r>
            <a:r>
              <a:rPr lang="en-US" sz="2000" dirty="0">
                <a:solidFill>
                  <a:srgbClr val="030303"/>
                </a:solidFill>
                <a:latin typeface="Aptos Display" panose="020B0004020202020204" pitchFamily="34" charset="0"/>
                <a:ea typeface="Instrument Sans" pitchFamily="34" charset="-122"/>
                <a:cs typeface="Instrument Sans" pitchFamily="34" charset="-120"/>
              </a:rPr>
              <a:t> Natural Arabic storytelling narrative for high-quality UX.</a:t>
            </a:r>
            <a:endParaRPr lang="en-US" sz="2000" dirty="0">
              <a:latin typeface="Aptos Display" panose="020B0004020202020204" pitchFamily="34" charset="0"/>
            </a:endParaRPr>
          </a:p>
          <a:p>
            <a:pPr marL="342900" indent="-342900" algn="l">
              <a:lnSpc>
                <a:spcPct val="127000"/>
              </a:lnSpc>
              <a:buSzPct val="100000"/>
              <a:buChar char="•"/>
            </a:pPr>
            <a:r>
              <a:rPr lang="en-US" sz="2000" b="1" dirty="0">
                <a:solidFill>
                  <a:srgbClr val="030303"/>
                </a:solidFill>
                <a:latin typeface="Aptos Display" panose="020B0004020202020204" pitchFamily="34" charset="0"/>
                <a:ea typeface="Instrument Sans" pitchFamily="34" charset="-122"/>
                <a:cs typeface="Instrument Sans" pitchFamily="34" charset="-120"/>
              </a:rPr>
              <a:t>Care Advice:</a:t>
            </a:r>
            <a:r>
              <a:rPr lang="en-US" sz="2000" dirty="0">
                <a:solidFill>
                  <a:srgbClr val="030303"/>
                </a:solidFill>
                <a:latin typeface="Aptos Display" panose="020B0004020202020204" pitchFamily="34" charset="0"/>
                <a:ea typeface="Instrument Sans" pitchFamily="34" charset="-122"/>
                <a:cs typeface="Instrument Sans" pitchFamily="34" charset="-120"/>
              </a:rPr>
              <a:t> Rigid JSON parsed strictly into a validated C# DTO (Watering, Soil, Light)</a:t>
            </a:r>
            <a:endParaRPr lang="en-US" sz="2000" dirty="0">
              <a:latin typeface="Aptos Display" panose="020B00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661574" y="710753"/>
            <a:ext cx="4850683" cy="443012"/>
          </a:xfrm>
          <a:prstGeom prst="rect">
            <a:avLst/>
          </a:prstGeom>
          <a:noFill/>
          <a:ln/>
        </p:spPr>
        <p:txBody>
          <a:bodyPr wrap="none" lIns="0" tIns="0" rIns="0" bIns="0" rtlCol="0" anchor="t"/>
          <a:lstStyle/>
          <a:p>
            <a:pPr marL="0" indent="0" algn="l">
              <a:lnSpc>
                <a:spcPct val="104000"/>
              </a:lnSpc>
              <a:buNone/>
            </a:pPr>
            <a:r>
              <a:rPr lang="en-US" sz="2750" b="1" dirty="0">
                <a:solidFill>
                  <a:srgbClr val="265834"/>
                </a:solidFill>
                <a:latin typeface="Fraunces ExtraBold" pitchFamily="34" charset="0"/>
                <a:ea typeface="Fraunces ExtraBold" pitchFamily="34" charset="-122"/>
                <a:cs typeface="Fraunces ExtraBold" pitchFamily="34" charset="-120"/>
              </a:rPr>
              <a:t>Hybrid AI Orchestrator</a:t>
            </a:r>
            <a:endParaRPr lang="en-US" sz="2750" b="1" dirty="0"/>
          </a:p>
        </p:txBody>
      </p:sp>
      <p:sp>
        <p:nvSpPr>
          <p:cNvPr id="3" name="Text 1"/>
          <p:cNvSpPr/>
          <p:nvPr/>
        </p:nvSpPr>
        <p:spPr>
          <a:xfrm>
            <a:off x="648408" y="1353830"/>
            <a:ext cx="10022835" cy="609411"/>
          </a:xfrm>
          <a:prstGeom prst="rect">
            <a:avLst/>
          </a:prstGeom>
          <a:noFill/>
          <a:ln/>
        </p:spPr>
        <p:txBody>
          <a:bodyPr wrap="none" lIns="0" tIns="0" rIns="0" bIns="0" rtlCol="0" anchor="t"/>
          <a:lstStyle/>
          <a:p>
            <a:pPr marL="0" indent="0">
              <a:lnSpc>
                <a:spcPct val="11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The backend bridges lightweight edge computing (Flutter client's MobileNetV2) with cloud intelligence </a:t>
            </a:r>
          </a:p>
          <a:p>
            <a:pPr marL="0" indent="0">
              <a:lnSpc>
                <a:spcPct val="11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(Google Gemini 2.5 Flash API):</a:t>
            </a:r>
            <a:endParaRPr lang="en-US" dirty="0">
              <a:latin typeface="Aptos Display" panose="020B0004020202020204" pitchFamily="34" charset="0"/>
            </a:endParaRPr>
          </a:p>
        </p:txBody>
      </p:sp>
      <p:pic>
        <p:nvPicPr>
          <p:cNvPr id="4" name="Image 0" descr="preencoded.png"/>
          <p:cNvPicPr>
            <a:picLocks noChangeAspect="1"/>
          </p:cNvPicPr>
          <p:nvPr/>
        </p:nvPicPr>
        <p:blipFill>
          <a:blip r:embed="rId3"/>
          <a:stretch>
            <a:fillRect/>
          </a:stretch>
        </p:blipFill>
        <p:spPr>
          <a:xfrm>
            <a:off x="661574" y="2096095"/>
            <a:ext cx="3622783" cy="708819"/>
          </a:xfrm>
          <a:prstGeom prst="rect">
            <a:avLst/>
          </a:prstGeom>
        </p:spPr>
      </p:pic>
      <p:sp>
        <p:nvSpPr>
          <p:cNvPr id="5" name="Text 2"/>
          <p:cNvSpPr/>
          <p:nvPr/>
        </p:nvSpPr>
        <p:spPr>
          <a:xfrm>
            <a:off x="838774" y="2937768"/>
            <a:ext cx="3268382" cy="553839"/>
          </a:xfrm>
          <a:prstGeom prst="rect">
            <a:avLst/>
          </a:prstGeom>
          <a:noFill/>
          <a:ln/>
        </p:spPr>
        <p:txBody>
          <a:bodyPr wrap="square" lIns="0" tIns="0" rIns="0" bIns="0" rtlCol="0" anchor="t">
            <a:normAutofit/>
          </a:bodyPr>
          <a:lstStyle/>
          <a:p>
            <a:pPr marL="0" indent="0" algn="l">
              <a:lnSpc>
                <a:spcPct val="104000"/>
              </a:lnSpc>
              <a:buNone/>
            </a:pPr>
            <a:r>
              <a:rPr lang="en-US" b="1" dirty="0">
                <a:solidFill>
                  <a:srgbClr val="030303"/>
                </a:solidFill>
                <a:latin typeface="Fraunces ExtraBold" pitchFamily="34" charset="0"/>
                <a:ea typeface="Fraunces ExtraBold" pitchFamily="34" charset="-122"/>
                <a:cs typeface="Fraunces ExtraBold" pitchFamily="34" charset="-120"/>
              </a:rPr>
              <a:t>1. Receives TFLite classification</a:t>
            </a:r>
            <a:endParaRPr lang="en-US" b="1" dirty="0"/>
          </a:p>
        </p:txBody>
      </p:sp>
      <p:sp>
        <p:nvSpPr>
          <p:cNvPr id="6" name="Text 3"/>
          <p:cNvSpPr/>
          <p:nvPr/>
        </p:nvSpPr>
        <p:spPr>
          <a:xfrm>
            <a:off x="838774" y="3577292"/>
            <a:ext cx="3268382" cy="248047"/>
          </a:xfrm>
          <a:prstGeom prst="rect">
            <a:avLst/>
          </a:prstGeom>
          <a:noFill/>
          <a:ln/>
        </p:spPr>
        <p:txBody>
          <a:bodyPr wrap="none" lIns="0" tIns="0" rIns="0" bIns="0" rtlCol="0" anchor="t"/>
          <a:lstStyle/>
          <a:p>
            <a:pPr marL="0" indent="0" algn="l">
              <a:lnSpc>
                <a:spcPct val="11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from mobile client</a:t>
            </a:r>
            <a:endParaRPr lang="en-US" dirty="0">
              <a:latin typeface="Aptos Display" panose="020B0004020202020204" pitchFamily="34" charset="0"/>
            </a:endParaRPr>
          </a:p>
        </p:txBody>
      </p:sp>
      <p:pic>
        <p:nvPicPr>
          <p:cNvPr id="7" name="Image 1" descr="preencoded.png"/>
          <p:cNvPicPr>
            <a:picLocks noChangeAspect="1"/>
          </p:cNvPicPr>
          <p:nvPr/>
        </p:nvPicPr>
        <p:blipFill>
          <a:blip r:embed="rId4"/>
          <a:stretch>
            <a:fillRect/>
          </a:stretch>
        </p:blipFill>
        <p:spPr>
          <a:xfrm>
            <a:off x="4284357" y="2096095"/>
            <a:ext cx="3622882" cy="708819"/>
          </a:xfrm>
          <a:prstGeom prst="rect">
            <a:avLst/>
          </a:prstGeom>
        </p:spPr>
      </p:pic>
      <p:sp>
        <p:nvSpPr>
          <p:cNvPr id="8" name="Text 4"/>
          <p:cNvSpPr/>
          <p:nvPr/>
        </p:nvSpPr>
        <p:spPr>
          <a:xfrm>
            <a:off x="4461557" y="2937768"/>
            <a:ext cx="3268482" cy="553839"/>
          </a:xfrm>
          <a:prstGeom prst="rect">
            <a:avLst/>
          </a:prstGeom>
          <a:noFill/>
          <a:ln/>
        </p:spPr>
        <p:txBody>
          <a:bodyPr wrap="square" lIns="0" tIns="0" rIns="0" bIns="0" rtlCol="0" anchor="t">
            <a:noAutofit/>
          </a:bodyPr>
          <a:lstStyle/>
          <a:p>
            <a:pPr marL="0" indent="0" algn="l">
              <a:lnSpc>
                <a:spcPct val="104000"/>
              </a:lnSpc>
              <a:buNone/>
            </a:pPr>
            <a:r>
              <a:rPr lang="en-US" b="1" dirty="0">
                <a:solidFill>
                  <a:srgbClr val="030303"/>
                </a:solidFill>
                <a:latin typeface="Fraunces ExtraBold" pitchFamily="34" charset="0"/>
                <a:ea typeface="Fraunces ExtraBold" pitchFamily="34" charset="-122"/>
                <a:cs typeface="Fraunces ExtraBold" pitchFamily="34" charset="-120"/>
              </a:rPr>
              <a:t>2. Checks ConditionsDictionary cache</a:t>
            </a:r>
            <a:endParaRPr lang="en-US" b="1" dirty="0"/>
          </a:p>
        </p:txBody>
      </p:sp>
      <p:sp>
        <p:nvSpPr>
          <p:cNvPr id="9" name="Text 5"/>
          <p:cNvSpPr/>
          <p:nvPr/>
        </p:nvSpPr>
        <p:spPr>
          <a:xfrm>
            <a:off x="4461557" y="3577292"/>
            <a:ext cx="3268482" cy="248047"/>
          </a:xfrm>
          <a:prstGeom prst="rect">
            <a:avLst/>
          </a:prstGeom>
          <a:noFill/>
          <a:ln/>
        </p:spPr>
        <p:txBody>
          <a:bodyPr wrap="none" lIns="0" tIns="0" rIns="0" bIns="0" rtlCol="0" anchor="t"/>
          <a:lstStyle/>
          <a:p>
            <a:pPr marL="0" indent="0" algn="l">
              <a:lnSpc>
                <a:spcPct val="11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for previously generated advice</a:t>
            </a:r>
            <a:endParaRPr lang="en-US" dirty="0">
              <a:latin typeface="Aptos Display" panose="020B0004020202020204" pitchFamily="34" charset="0"/>
            </a:endParaRPr>
          </a:p>
        </p:txBody>
      </p:sp>
      <p:pic>
        <p:nvPicPr>
          <p:cNvPr id="10" name="Image 2" descr="preencoded.png"/>
          <p:cNvPicPr>
            <a:picLocks noChangeAspect="1"/>
          </p:cNvPicPr>
          <p:nvPr/>
        </p:nvPicPr>
        <p:blipFill>
          <a:blip r:embed="rId5"/>
          <a:stretch>
            <a:fillRect/>
          </a:stretch>
        </p:blipFill>
        <p:spPr>
          <a:xfrm>
            <a:off x="7907239" y="2096095"/>
            <a:ext cx="3622882" cy="708819"/>
          </a:xfrm>
          <a:prstGeom prst="rect">
            <a:avLst/>
          </a:prstGeom>
        </p:spPr>
      </p:pic>
      <p:sp>
        <p:nvSpPr>
          <p:cNvPr id="11" name="Text 6"/>
          <p:cNvSpPr/>
          <p:nvPr/>
        </p:nvSpPr>
        <p:spPr>
          <a:xfrm>
            <a:off x="8084439" y="2937768"/>
            <a:ext cx="2215003" cy="276920"/>
          </a:xfrm>
          <a:prstGeom prst="rect">
            <a:avLst/>
          </a:prstGeom>
          <a:noFill/>
          <a:ln/>
        </p:spPr>
        <p:txBody>
          <a:bodyPr wrap="none" lIns="0" tIns="0" rIns="0" bIns="0" rtlCol="0" anchor="t"/>
          <a:lstStyle/>
          <a:p>
            <a:pPr marL="0" indent="0" algn="l">
              <a:lnSpc>
                <a:spcPct val="104000"/>
              </a:lnSpc>
              <a:buNone/>
            </a:pPr>
            <a:r>
              <a:rPr lang="en-US" b="1" dirty="0">
                <a:solidFill>
                  <a:srgbClr val="030303"/>
                </a:solidFill>
                <a:latin typeface="Fraunces ExtraBold" pitchFamily="34" charset="0"/>
                <a:ea typeface="Fraunces ExtraBold" pitchFamily="34" charset="-122"/>
                <a:cs typeface="Fraunces ExtraBold" pitchFamily="34" charset="-120"/>
              </a:rPr>
              <a:t>3. Cache Hit</a:t>
            </a:r>
            <a:endParaRPr lang="en-US" b="1" dirty="0"/>
          </a:p>
        </p:txBody>
      </p:sp>
      <p:sp>
        <p:nvSpPr>
          <p:cNvPr id="12" name="Text 7"/>
          <p:cNvSpPr/>
          <p:nvPr/>
        </p:nvSpPr>
        <p:spPr>
          <a:xfrm>
            <a:off x="8084439" y="3300372"/>
            <a:ext cx="3268482" cy="496094"/>
          </a:xfrm>
          <a:prstGeom prst="rect">
            <a:avLst/>
          </a:prstGeom>
          <a:noFill/>
          <a:ln/>
        </p:spPr>
        <p:txBody>
          <a:bodyPr wrap="square" lIns="0" tIns="0" rIns="0" bIns="0" rtlCol="0" anchor="t">
            <a:noAutofit/>
          </a:bodyPr>
          <a:lstStyle/>
          <a:p>
            <a:pPr marL="0" indent="0" algn="l">
              <a:lnSpc>
                <a:spcPct val="11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Returns cached treatment instantly (&lt;50ms)</a:t>
            </a:r>
            <a:endParaRPr lang="en-US" dirty="0">
              <a:latin typeface="Aptos Display" panose="020B0004020202020204" pitchFamily="34" charset="0"/>
            </a:endParaRPr>
          </a:p>
        </p:txBody>
      </p:sp>
      <p:pic>
        <p:nvPicPr>
          <p:cNvPr id="13" name="Image 3" descr="preencoded.png"/>
          <p:cNvPicPr>
            <a:picLocks noChangeAspect="1"/>
          </p:cNvPicPr>
          <p:nvPr/>
        </p:nvPicPr>
        <p:blipFill>
          <a:blip r:embed="rId6"/>
          <a:stretch>
            <a:fillRect/>
          </a:stretch>
        </p:blipFill>
        <p:spPr>
          <a:xfrm>
            <a:off x="661574" y="3996531"/>
            <a:ext cx="3622783" cy="708819"/>
          </a:xfrm>
          <a:prstGeom prst="rect">
            <a:avLst/>
          </a:prstGeom>
        </p:spPr>
      </p:pic>
      <p:sp>
        <p:nvSpPr>
          <p:cNvPr id="14" name="Text 8"/>
          <p:cNvSpPr/>
          <p:nvPr/>
        </p:nvSpPr>
        <p:spPr>
          <a:xfrm>
            <a:off x="838774" y="4838204"/>
            <a:ext cx="2215003" cy="276920"/>
          </a:xfrm>
          <a:prstGeom prst="rect">
            <a:avLst/>
          </a:prstGeom>
          <a:noFill/>
          <a:ln/>
        </p:spPr>
        <p:txBody>
          <a:bodyPr wrap="none" lIns="0" tIns="0" rIns="0" bIns="0" rtlCol="0" anchor="t"/>
          <a:lstStyle/>
          <a:p>
            <a:pPr marL="0" indent="0" algn="l">
              <a:lnSpc>
                <a:spcPct val="104000"/>
              </a:lnSpc>
              <a:buNone/>
            </a:pPr>
            <a:r>
              <a:rPr lang="en-US" b="1" dirty="0">
                <a:solidFill>
                  <a:srgbClr val="030303"/>
                </a:solidFill>
                <a:latin typeface="Fraunces ExtraBold" pitchFamily="34" charset="0"/>
                <a:ea typeface="Fraunces ExtraBold" pitchFamily="34" charset="-122"/>
                <a:cs typeface="Fraunces ExtraBold" pitchFamily="34" charset="-120"/>
              </a:rPr>
              <a:t>4. Cache Miss</a:t>
            </a:r>
            <a:endParaRPr lang="en-US" b="1" dirty="0"/>
          </a:p>
        </p:txBody>
      </p:sp>
      <p:sp>
        <p:nvSpPr>
          <p:cNvPr id="15" name="Text 9"/>
          <p:cNvSpPr/>
          <p:nvPr/>
        </p:nvSpPr>
        <p:spPr>
          <a:xfrm>
            <a:off x="838774" y="5200808"/>
            <a:ext cx="3268382" cy="496094"/>
          </a:xfrm>
          <a:prstGeom prst="rect">
            <a:avLst/>
          </a:prstGeom>
          <a:noFill/>
          <a:ln/>
        </p:spPr>
        <p:txBody>
          <a:bodyPr wrap="square" lIns="0" tIns="0" rIns="0" bIns="0" rtlCol="0" anchor="t">
            <a:noAutofit/>
          </a:bodyPr>
          <a:lstStyle/>
          <a:p>
            <a:pPr marL="0" indent="0" algn="l">
              <a:lnSpc>
                <a:spcPct val="11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Queries Gemini 2.5 Flash API for narrative treatment plan</a:t>
            </a:r>
            <a:endParaRPr lang="en-US" dirty="0">
              <a:latin typeface="Aptos Display" panose="020B0004020202020204" pitchFamily="34" charset="0"/>
            </a:endParaRPr>
          </a:p>
        </p:txBody>
      </p:sp>
      <p:pic>
        <p:nvPicPr>
          <p:cNvPr id="16" name="Image 4" descr="preencoded.png"/>
          <p:cNvPicPr>
            <a:picLocks noChangeAspect="1"/>
          </p:cNvPicPr>
          <p:nvPr/>
        </p:nvPicPr>
        <p:blipFill>
          <a:blip r:embed="rId7"/>
          <a:stretch>
            <a:fillRect/>
          </a:stretch>
        </p:blipFill>
        <p:spPr>
          <a:xfrm>
            <a:off x="4284357" y="3996531"/>
            <a:ext cx="3622882" cy="708819"/>
          </a:xfrm>
          <a:prstGeom prst="rect">
            <a:avLst/>
          </a:prstGeom>
        </p:spPr>
      </p:pic>
      <p:sp>
        <p:nvSpPr>
          <p:cNvPr id="17" name="Text 10"/>
          <p:cNvSpPr/>
          <p:nvPr/>
        </p:nvSpPr>
        <p:spPr>
          <a:xfrm>
            <a:off x="4461557" y="4838204"/>
            <a:ext cx="2229290" cy="276920"/>
          </a:xfrm>
          <a:prstGeom prst="rect">
            <a:avLst/>
          </a:prstGeom>
          <a:noFill/>
          <a:ln/>
        </p:spPr>
        <p:txBody>
          <a:bodyPr wrap="none" lIns="0" tIns="0" rIns="0" bIns="0" rtlCol="0" anchor="t"/>
          <a:lstStyle/>
          <a:p>
            <a:pPr marL="0" indent="0" algn="l">
              <a:lnSpc>
                <a:spcPct val="104000"/>
              </a:lnSpc>
              <a:buNone/>
            </a:pPr>
            <a:r>
              <a:rPr lang="en-US" b="1" dirty="0">
                <a:solidFill>
                  <a:srgbClr val="030303"/>
                </a:solidFill>
                <a:latin typeface="Fraunces ExtraBold" pitchFamily="34" charset="0"/>
                <a:ea typeface="Fraunces ExtraBold" pitchFamily="34" charset="-122"/>
                <a:cs typeface="Fraunces ExtraBold" pitchFamily="34" charset="-120"/>
              </a:rPr>
              <a:t>5. Persists response</a:t>
            </a:r>
            <a:endParaRPr lang="en-US" b="1" dirty="0"/>
          </a:p>
        </p:txBody>
      </p:sp>
      <p:sp>
        <p:nvSpPr>
          <p:cNvPr id="18" name="Text 11"/>
          <p:cNvSpPr/>
          <p:nvPr/>
        </p:nvSpPr>
        <p:spPr>
          <a:xfrm>
            <a:off x="4461557" y="5200808"/>
            <a:ext cx="3268482" cy="496094"/>
          </a:xfrm>
          <a:prstGeom prst="rect">
            <a:avLst/>
          </a:prstGeom>
          <a:noFill/>
          <a:ln/>
        </p:spPr>
        <p:txBody>
          <a:bodyPr wrap="square" lIns="0" tIns="0" rIns="0" bIns="0" rtlCol="0" anchor="t">
            <a:noAutofit/>
          </a:bodyPr>
          <a:lstStyle/>
          <a:p>
            <a:pPr marL="0" indent="0" algn="l">
              <a:lnSpc>
                <a:spcPct val="11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to ConditionsDictionary for future queries</a:t>
            </a:r>
            <a:endParaRPr lang="en-US" dirty="0">
              <a:latin typeface="Aptos Display" panose="020B0004020202020204" pitchFamily="34" charset="0"/>
            </a:endParaRPr>
          </a:p>
        </p:txBody>
      </p:sp>
      <p:pic>
        <p:nvPicPr>
          <p:cNvPr id="19" name="Image 5" descr="preencoded.png"/>
          <p:cNvPicPr>
            <a:picLocks noChangeAspect="1"/>
          </p:cNvPicPr>
          <p:nvPr/>
        </p:nvPicPr>
        <p:blipFill>
          <a:blip r:embed="rId8"/>
          <a:stretch>
            <a:fillRect/>
          </a:stretch>
        </p:blipFill>
        <p:spPr>
          <a:xfrm>
            <a:off x="7907239" y="3996531"/>
            <a:ext cx="3622882" cy="708819"/>
          </a:xfrm>
          <a:prstGeom prst="rect">
            <a:avLst/>
          </a:prstGeom>
        </p:spPr>
      </p:pic>
      <p:sp>
        <p:nvSpPr>
          <p:cNvPr id="20" name="Text 12"/>
          <p:cNvSpPr/>
          <p:nvPr/>
        </p:nvSpPr>
        <p:spPr>
          <a:xfrm>
            <a:off x="8084439" y="4838204"/>
            <a:ext cx="3103386" cy="276920"/>
          </a:xfrm>
          <a:prstGeom prst="rect">
            <a:avLst/>
          </a:prstGeom>
          <a:noFill/>
          <a:ln/>
        </p:spPr>
        <p:txBody>
          <a:bodyPr wrap="none" lIns="0" tIns="0" rIns="0" bIns="0" rtlCol="0" anchor="t"/>
          <a:lstStyle/>
          <a:p>
            <a:pPr marL="0" indent="0" algn="l">
              <a:lnSpc>
                <a:spcPct val="104000"/>
              </a:lnSpc>
              <a:buNone/>
            </a:pPr>
            <a:r>
              <a:rPr lang="en-US" b="1" dirty="0">
                <a:solidFill>
                  <a:srgbClr val="030303"/>
                </a:solidFill>
                <a:latin typeface="Fraunces ExtraBold" pitchFamily="34" charset="0"/>
                <a:ea typeface="Fraunces ExtraBold" pitchFamily="34" charset="-122"/>
                <a:cs typeface="Fraunces ExtraBold" pitchFamily="34" charset="-120"/>
              </a:rPr>
              <a:t>6. Returns structured JSON</a:t>
            </a:r>
            <a:endParaRPr lang="en-US" b="1" dirty="0"/>
          </a:p>
        </p:txBody>
      </p:sp>
      <p:sp>
        <p:nvSpPr>
          <p:cNvPr id="21" name="Text 13"/>
          <p:cNvSpPr/>
          <p:nvPr/>
        </p:nvSpPr>
        <p:spPr>
          <a:xfrm>
            <a:off x="8084439" y="5200808"/>
            <a:ext cx="3268482" cy="248047"/>
          </a:xfrm>
          <a:prstGeom prst="rect">
            <a:avLst/>
          </a:prstGeom>
          <a:noFill/>
          <a:ln/>
        </p:spPr>
        <p:txBody>
          <a:bodyPr wrap="none" lIns="0" tIns="0" rIns="0" bIns="0" rtlCol="0" anchor="t"/>
          <a:lstStyle/>
          <a:p>
            <a:pPr marL="0" indent="0" algn="l">
              <a:lnSpc>
                <a:spcPct val="117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to mobile client for display</a:t>
            </a:r>
            <a:endParaRPr lang="en-US" dirty="0">
              <a:latin typeface="Aptos Display" panose="020B00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61574" y="733227"/>
            <a:ext cx="8387148" cy="701477"/>
          </a:xfrm>
          <a:prstGeom prst="rect">
            <a:avLst/>
          </a:prstGeom>
          <a:noFill/>
          <a:ln/>
        </p:spPr>
        <p:txBody>
          <a:bodyPr wrap="none" lIns="0" tIns="0" rIns="0" bIns="0" rtlCol="0" anchor="t"/>
          <a:lstStyle/>
          <a:p>
            <a:pPr marL="0" indent="0" algn="l">
              <a:lnSpc>
                <a:spcPct val="104000"/>
              </a:lnSpc>
              <a:buNone/>
            </a:pPr>
            <a:r>
              <a:rPr lang="en-US" sz="4400" b="1" dirty="0">
                <a:solidFill>
                  <a:srgbClr val="265834"/>
                </a:solidFill>
                <a:latin typeface="Fraunces ExtraBold" pitchFamily="34" charset="0"/>
                <a:ea typeface="Fraunces ExtraBold" pitchFamily="34" charset="-122"/>
                <a:cs typeface="Fraunces ExtraBold" pitchFamily="34" charset="-120"/>
              </a:rPr>
              <a:t>Resilient Mobile Experience</a:t>
            </a:r>
            <a:endParaRPr lang="en-US" sz="4400" b="1" dirty="0"/>
          </a:p>
        </p:txBody>
      </p:sp>
      <p:pic>
        <p:nvPicPr>
          <p:cNvPr id="3" name="Image 0" descr="preencoded.png"/>
          <p:cNvPicPr>
            <a:picLocks noChangeAspect="1"/>
          </p:cNvPicPr>
          <p:nvPr/>
        </p:nvPicPr>
        <p:blipFill>
          <a:blip r:embed="rId3"/>
          <a:stretch>
            <a:fillRect/>
          </a:stretch>
        </p:blipFill>
        <p:spPr>
          <a:xfrm>
            <a:off x="987202" y="1861145"/>
            <a:ext cx="10217291" cy="4263628"/>
          </a:xfrm>
          <a:prstGeom prst="rect">
            <a:avLst/>
          </a:prstGeom>
        </p:spPr>
      </p:pic>
      <p:sp>
        <p:nvSpPr>
          <p:cNvPr id="4" name="Text 1"/>
          <p:cNvSpPr/>
          <p:nvPr/>
        </p:nvSpPr>
        <p:spPr>
          <a:xfrm>
            <a:off x="6979119" y="2057636"/>
            <a:ext cx="2323139" cy="290400"/>
          </a:xfrm>
          <a:prstGeom prst="rect">
            <a:avLst/>
          </a:prstGeom>
          <a:noFill/>
          <a:ln/>
        </p:spPr>
        <p:txBody>
          <a:bodyPr wrap="none" lIns="0" tIns="0" rIns="0" bIns="0" rtlCol="0" anchor="t"/>
          <a:lstStyle/>
          <a:p>
            <a:pPr marL="0" indent="0" algn="l">
              <a:lnSpc>
                <a:spcPct val="104000"/>
              </a:lnSpc>
              <a:buNone/>
            </a:pPr>
            <a:r>
              <a:rPr lang="en-US" sz="1800" b="1" dirty="0">
                <a:solidFill>
                  <a:srgbClr val="265834"/>
                </a:solidFill>
                <a:latin typeface="Fraunces ExtraBold" pitchFamily="34" charset="0"/>
                <a:ea typeface="Fraunces ExtraBold" pitchFamily="34" charset="-122"/>
                <a:cs typeface="Fraunces ExtraBold" pitchFamily="34" charset="-120"/>
              </a:rPr>
              <a:t>RAM Cache Hit</a:t>
            </a:r>
            <a:endParaRPr lang="en-US" sz="1800" b="1" dirty="0"/>
          </a:p>
        </p:txBody>
      </p:sp>
      <p:sp>
        <p:nvSpPr>
          <p:cNvPr id="5" name="Text 2"/>
          <p:cNvSpPr/>
          <p:nvPr/>
        </p:nvSpPr>
        <p:spPr>
          <a:xfrm>
            <a:off x="6979119" y="2430638"/>
            <a:ext cx="3982247" cy="453023"/>
          </a:xfrm>
          <a:prstGeom prst="rect">
            <a:avLst/>
          </a:prstGeom>
          <a:noFill/>
          <a:ln/>
        </p:spPr>
        <p:txBody>
          <a:bodyPr wrap="square" lIns="0" tIns="0" rIns="0" bIns="0" rtlCol="0" anchor="t">
            <a:noAutofit/>
          </a:bodyPr>
          <a:lstStyle/>
          <a:p>
            <a:pPr marL="0" indent="0" algn="l">
              <a:lnSpc>
                <a:spcPct val="102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Utilizing a 10-item LRU policy for 0ms UI rendering latency of recent scans.</a:t>
            </a:r>
            <a:endParaRPr lang="en-US" dirty="0">
              <a:latin typeface="Aptos Display" panose="020B0004020202020204" pitchFamily="34" charset="0"/>
            </a:endParaRPr>
          </a:p>
        </p:txBody>
      </p:sp>
      <p:sp>
        <p:nvSpPr>
          <p:cNvPr id="6" name="Text 3"/>
          <p:cNvSpPr/>
          <p:nvPr/>
        </p:nvSpPr>
        <p:spPr>
          <a:xfrm>
            <a:off x="6979281" y="3445101"/>
            <a:ext cx="2323139" cy="290400"/>
          </a:xfrm>
          <a:prstGeom prst="rect">
            <a:avLst/>
          </a:prstGeom>
          <a:noFill/>
          <a:ln/>
        </p:spPr>
        <p:txBody>
          <a:bodyPr wrap="none" lIns="0" tIns="0" rIns="0" bIns="0" rtlCol="0" anchor="t"/>
          <a:lstStyle/>
          <a:p>
            <a:pPr marL="0" indent="0" algn="l">
              <a:lnSpc>
                <a:spcPct val="104000"/>
              </a:lnSpc>
              <a:buNone/>
            </a:pPr>
            <a:r>
              <a:rPr lang="en-US" sz="1800" b="1" dirty="0">
                <a:solidFill>
                  <a:srgbClr val="265834"/>
                </a:solidFill>
                <a:latin typeface="Fraunces ExtraBold" pitchFamily="34" charset="0"/>
                <a:ea typeface="Fraunces ExtraBold" pitchFamily="34" charset="-122"/>
                <a:cs typeface="Fraunces ExtraBold" pitchFamily="34" charset="-120"/>
              </a:rPr>
              <a:t>SQLite Persistence</a:t>
            </a:r>
            <a:endParaRPr lang="en-US" sz="1800" b="1" dirty="0"/>
          </a:p>
        </p:txBody>
      </p:sp>
      <p:sp>
        <p:nvSpPr>
          <p:cNvPr id="7" name="Text 4"/>
          <p:cNvSpPr/>
          <p:nvPr/>
        </p:nvSpPr>
        <p:spPr>
          <a:xfrm>
            <a:off x="6979281" y="3818103"/>
            <a:ext cx="3982246" cy="453023"/>
          </a:xfrm>
          <a:prstGeom prst="rect">
            <a:avLst/>
          </a:prstGeom>
          <a:noFill/>
          <a:ln/>
        </p:spPr>
        <p:txBody>
          <a:bodyPr wrap="square" lIns="0" tIns="0" rIns="0" bIns="0" rtlCol="0" anchor="t">
            <a:noAutofit/>
          </a:bodyPr>
          <a:lstStyle/>
          <a:p>
            <a:pPr marL="0" indent="0" algn="l">
              <a:lnSpc>
                <a:spcPct val="102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Offline request queueing allowing users to diagnose plants in disconnected nurseries.</a:t>
            </a:r>
            <a:endParaRPr lang="en-US" dirty="0">
              <a:latin typeface="Aptos Display" panose="020B0004020202020204" pitchFamily="34" charset="0"/>
            </a:endParaRPr>
          </a:p>
        </p:txBody>
      </p:sp>
      <p:sp>
        <p:nvSpPr>
          <p:cNvPr id="8" name="Text 5"/>
          <p:cNvSpPr/>
          <p:nvPr/>
        </p:nvSpPr>
        <p:spPr>
          <a:xfrm>
            <a:off x="6979281" y="4876287"/>
            <a:ext cx="2323139" cy="290400"/>
          </a:xfrm>
          <a:prstGeom prst="rect">
            <a:avLst/>
          </a:prstGeom>
          <a:noFill/>
          <a:ln/>
        </p:spPr>
        <p:txBody>
          <a:bodyPr wrap="none" lIns="0" tIns="0" rIns="0" bIns="0" rtlCol="0" anchor="t"/>
          <a:lstStyle/>
          <a:p>
            <a:pPr marL="0" indent="0" algn="l">
              <a:lnSpc>
                <a:spcPct val="104000"/>
              </a:lnSpc>
              <a:buNone/>
            </a:pPr>
            <a:r>
              <a:rPr lang="en-US" sz="1800" b="1" dirty="0">
                <a:solidFill>
                  <a:srgbClr val="265834"/>
                </a:solidFill>
                <a:latin typeface="Fraunces ExtraBold" pitchFamily="34" charset="0"/>
                <a:ea typeface="Fraunces ExtraBold" pitchFamily="34" charset="-122"/>
                <a:cs typeface="Fraunces ExtraBold" pitchFamily="34" charset="-120"/>
              </a:rPr>
              <a:t>Sync Policy</a:t>
            </a:r>
            <a:endParaRPr lang="en-US" sz="1800" b="1" dirty="0"/>
          </a:p>
        </p:txBody>
      </p:sp>
      <p:sp>
        <p:nvSpPr>
          <p:cNvPr id="9" name="Text 6"/>
          <p:cNvSpPr/>
          <p:nvPr/>
        </p:nvSpPr>
        <p:spPr>
          <a:xfrm>
            <a:off x="6979281" y="5249289"/>
            <a:ext cx="3982246" cy="453023"/>
          </a:xfrm>
          <a:prstGeom prst="rect">
            <a:avLst/>
          </a:prstGeom>
          <a:noFill/>
          <a:ln/>
        </p:spPr>
        <p:txBody>
          <a:bodyPr wrap="square" lIns="0" tIns="0" rIns="0" bIns="0" rtlCol="0" anchor="t">
            <a:noAutofit/>
          </a:bodyPr>
          <a:lstStyle/>
          <a:p>
            <a:pPr marL="0" indent="0" algn="l">
              <a:lnSpc>
                <a:spcPct val="102000"/>
              </a:lnSpc>
              <a:buNone/>
            </a:pPr>
            <a:r>
              <a:rPr lang="en-US" dirty="0">
                <a:solidFill>
                  <a:srgbClr val="030303"/>
                </a:solidFill>
                <a:latin typeface="Aptos Display" panose="020B0004020202020204" pitchFamily="34" charset="0"/>
                <a:ea typeface="Instrument Sans" pitchFamily="34" charset="-122"/>
                <a:cs typeface="Instrument Sans" pitchFamily="34" charset="-120"/>
              </a:rPr>
              <a:t>Background workers push GUIDs and timestamps</a:t>
            </a:r>
            <a:endParaRPr lang="en-US" dirty="0">
              <a:latin typeface="Aptos Display" panose="020B00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574" y="3187109"/>
            <a:ext cx="11183955" cy="590649"/>
          </a:xfrm>
          <a:prstGeom prst="rect">
            <a:avLst/>
          </a:prstGeom>
          <a:noFill/>
          <a:ln/>
        </p:spPr>
        <p:txBody>
          <a:bodyPr wrap="none" lIns="0" tIns="0" rIns="0" bIns="0" rtlCol="0" anchor="t"/>
          <a:lstStyle/>
          <a:p>
            <a:pPr marL="0" indent="0" algn="l">
              <a:lnSpc>
                <a:spcPct val="104000"/>
              </a:lnSpc>
              <a:buNone/>
            </a:pPr>
            <a:r>
              <a:rPr lang="en-US" sz="3700" b="1" dirty="0">
                <a:solidFill>
                  <a:srgbClr val="265834"/>
                </a:solidFill>
                <a:latin typeface="Fraunces ExtraBold" pitchFamily="34" charset="0"/>
                <a:ea typeface="Fraunces ExtraBold" pitchFamily="34" charset="-122"/>
                <a:cs typeface="Fraunces ExtraBold" pitchFamily="34" charset="-120"/>
              </a:rPr>
              <a:t>Multi -Layered Testing &amp; Security Resilience</a:t>
            </a:r>
            <a:endParaRPr lang="en-US" sz="3700" b="1" dirty="0"/>
          </a:p>
        </p:txBody>
      </p:sp>
      <p:sp>
        <p:nvSpPr>
          <p:cNvPr id="3" name="Text 1"/>
          <p:cNvSpPr/>
          <p:nvPr/>
        </p:nvSpPr>
        <p:spPr>
          <a:xfrm>
            <a:off x="674953" y="3801316"/>
            <a:ext cx="3444789" cy="354409"/>
          </a:xfrm>
          <a:prstGeom prst="rect">
            <a:avLst/>
          </a:prstGeom>
          <a:noFill/>
          <a:ln/>
        </p:spPr>
        <p:txBody>
          <a:bodyPr wrap="none" lIns="0" tIns="0" rIns="0" bIns="0" rtlCol="0" anchor="t"/>
          <a:lstStyle/>
          <a:p>
            <a:pPr marL="0" indent="0" algn="l">
              <a:lnSpc>
                <a:spcPct val="104000"/>
              </a:lnSpc>
              <a:buNone/>
            </a:pPr>
            <a:r>
              <a:rPr lang="en-US" sz="2200" b="1" dirty="0">
                <a:solidFill>
                  <a:srgbClr val="265834"/>
                </a:solidFill>
                <a:latin typeface="Fraunces ExtraBold" pitchFamily="34" charset="0"/>
                <a:ea typeface="Fraunces ExtraBold" pitchFamily="34" charset="-122"/>
                <a:cs typeface="Fraunces ExtraBold" pitchFamily="34" charset="-120"/>
              </a:rPr>
              <a:t>Testing Layers</a:t>
            </a:r>
            <a:endParaRPr lang="en-US" sz="2200" b="1" dirty="0"/>
          </a:p>
        </p:txBody>
      </p:sp>
      <p:sp>
        <p:nvSpPr>
          <p:cNvPr id="17" name="TextBox 16">
            <a:extLst>
              <a:ext uri="{FF2B5EF4-FFF2-40B4-BE49-F238E27FC236}">
                <a16:creationId xmlns:a16="http://schemas.microsoft.com/office/drawing/2014/main" id="{D49694DF-4581-BC3D-D947-5EADE74817BA}"/>
              </a:ext>
            </a:extLst>
          </p:cNvPr>
          <p:cNvSpPr txBox="1"/>
          <p:nvPr/>
        </p:nvSpPr>
        <p:spPr>
          <a:xfrm>
            <a:off x="429319" y="554239"/>
            <a:ext cx="6094562" cy="765081"/>
          </a:xfrm>
          <a:prstGeom prst="rect">
            <a:avLst/>
          </a:prstGeom>
          <a:noFill/>
        </p:spPr>
        <p:txBody>
          <a:bodyPr wrap="square">
            <a:spAutoFit/>
          </a:bodyPr>
          <a:lstStyle/>
          <a:p>
            <a:pPr marL="0" indent="0" algn="l">
              <a:lnSpc>
                <a:spcPct val="104000"/>
              </a:lnSpc>
              <a:buNone/>
            </a:pPr>
            <a:r>
              <a:rPr lang="en-US" sz="4400" b="1" dirty="0">
                <a:solidFill>
                  <a:srgbClr val="265834"/>
                </a:solidFill>
                <a:latin typeface="Fraunces ExtraBold" pitchFamily="34" charset="0"/>
                <a:ea typeface="Fraunces ExtraBold" pitchFamily="34" charset="-122"/>
                <a:cs typeface="Fraunces ExtraBold" pitchFamily="34" charset="-120"/>
              </a:rPr>
              <a:t>Testing Tech Stack</a:t>
            </a:r>
            <a:endParaRPr lang="en-US" sz="4400" b="1" dirty="0"/>
          </a:p>
        </p:txBody>
      </p:sp>
      <p:sp>
        <p:nvSpPr>
          <p:cNvPr id="18" name="Shape 13">
            <a:extLst>
              <a:ext uri="{FF2B5EF4-FFF2-40B4-BE49-F238E27FC236}">
                <a16:creationId xmlns:a16="http://schemas.microsoft.com/office/drawing/2014/main" id="{A9ABC108-DA11-9C9E-3C23-59C042E1A793}"/>
              </a:ext>
            </a:extLst>
          </p:cNvPr>
          <p:cNvSpPr/>
          <p:nvPr/>
        </p:nvSpPr>
        <p:spPr>
          <a:xfrm>
            <a:off x="3616505" y="1994753"/>
            <a:ext cx="824282" cy="432534"/>
          </a:xfrm>
          <a:prstGeom prst="roundRect">
            <a:avLst>
              <a:gd name="adj" fmla="val 38988"/>
            </a:avLst>
          </a:prstGeom>
          <a:noFill/>
          <a:ln w="6350">
            <a:solidFill>
              <a:srgbClr val="438951"/>
            </a:solidFill>
            <a:prstDash val="solid"/>
          </a:ln>
        </p:spPr>
        <p:txBody>
          <a:bodyPr/>
          <a:lstStyle/>
          <a:p>
            <a:endParaRPr lang="en-US" b="1"/>
          </a:p>
        </p:txBody>
      </p:sp>
      <p:sp>
        <p:nvSpPr>
          <p:cNvPr id="19" name="Text 14">
            <a:extLst>
              <a:ext uri="{FF2B5EF4-FFF2-40B4-BE49-F238E27FC236}">
                <a16:creationId xmlns:a16="http://schemas.microsoft.com/office/drawing/2014/main" id="{88062EA3-4857-F0F9-7D6A-141188B9554C}"/>
              </a:ext>
            </a:extLst>
          </p:cNvPr>
          <p:cNvSpPr/>
          <p:nvPr/>
        </p:nvSpPr>
        <p:spPr>
          <a:xfrm>
            <a:off x="2760048" y="2078078"/>
            <a:ext cx="767972" cy="198337"/>
          </a:xfrm>
          <a:prstGeom prst="rect">
            <a:avLst/>
          </a:prstGeom>
          <a:noFill/>
          <a:ln/>
        </p:spPr>
        <p:txBody>
          <a:bodyPr wrap="none" lIns="0" tIns="0" rIns="0" bIns="0" rtlCol="0" anchor="t"/>
          <a:lstStyle/>
          <a:p>
            <a:pPr marL="0" indent="0" algn="l">
              <a:lnSpc>
                <a:spcPct val="123000"/>
              </a:lnSpc>
              <a:buNone/>
            </a:pPr>
            <a:r>
              <a:rPr lang="en-US" sz="1400" b="1" dirty="0">
                <a:solidFill>
                  <a:srgbClr val="438951"/>
                </a:solidFill>
                <a:latin typeface="Instrument Sans" pitchFamily="34" charset="0"/>
                <a:ea typeface="Instrument Sans" pitchFamily="34" charset="-122"/>
                <a:cs typeface="Instrument Sans" pitchFamily="34" charset="-120"/>
              </a:rPr>
              <a:t>XUNIT</a:t>
            </a:r>
            <a:endParaRPr lang="en-US" sz="1400" b="1" dirty="0"/>
          </a:p>
        </p:txBody>
      </p:sp>
      <p:sp>
        <p:nvSpPr>
          <p:cNvPr id="21" name="Text 16">
            <a:extLst>
              <a:ext uri="{FF2B5EF4-FFF2-40B4-BE49-F238E27FC236}">
                <a16:creationId xmlns:a16="http://schemas.microsoft.com/office/drawing/2014/main" id="{5FED2C11-585E-151C-C79D-F8F823765182}"/>
              </a:ext>
            </a:extLst>
          </p:cNvPr>
          <p:cNvSpPr/>
          <p:nvPr/>
        </p:nvSpPr>
        <p:spPr>
          <a:xfrm>
            <a:off x="3793475" y="2088039"/>
            <a:ext cx="493518" cy="287669"/>
          </a:xfrm>
          <a:prstGeom prst="rect">
            <a:avLst/>
          </a:prstGeom>
          <a:noFill/>
          <a:ln/>
        </p:spPr>
        <p:txBody>
          <a:bodyPr wrap="none" lIns="0" tIns="0" rIns="0" bIns="0" rtlCol="0" anchor="t"/>
          <a:lstStyle/>
          <a:p>
            <a:pPr marL="0" indent="0" algn="l">
              <a:lnSpc>
                <a:spcPct val="123000"/>
              </a:lnSpc>
              <a:buNone/>
            </a:pPr>
            <a:r>
              <a:rPr lang="en-US" sz="1400" b="1" dirty="0">
                <a:solidFill>
                  <a:srgbClr val="438951"/>
                </a:solidFill>
                <a:latin typeface="Instrument Sans" pitchFamily="34" charset="0"/>
                <a:ea typeface="Instrument Sans" pitchFamily="34" charset="-122"/>
                <a:cs typeface="Instrument Sans" pitchFamily="34" charset="-120"/>
              </a:rPr>
              <a:t>MOQ</a:t>
            </a:r>
            <a:endParaRPr lang="en-US" sz="1400" b="1" dirty="0"/>
          </a:p>
        </p:txBody>
      </p:sp>
      <p:sp>
        <p:nvSpPr>
          <p:cNvPr id="23" name="Text 18">
            <a:extLst>
              <a:ext uri="{FF2B5EF4-FFF2-40B4-BE49-F238E27FC236}">
                <a16:creationId xmlns:a16="http://schemas.microsoft.com/office/drawing/2014/main" id="{6E9300D9-010B-CEB5-9BC3-C88D5B53C88F}"/>
              </a:ext>
            </a:extLst>
          </p:cNvPr>
          <p:cNvSpPr/>
          <p:nvPr/>
        </p:nvSpPr>
        <p:spPr>
          <a:xfrm>
            <a:off x="4802126" y="2076033"/>
            <a:ext cx="2200815" cy="237728"/>
          </a:xfrm>
          <a:prstGeom prst="rect">
            <a:avLst/>
          </a:prstGeom>
          <a:noFill/>
          <a:ln/>
        </p:spPr>
        <p:txBody>
          <a:bodyPr wrap="none" lIns="0" tIns="0" rIns="0" bIns="0" rtlCol="0" anchor="t"/>
          <a:lstStyle/>
          <a:p>
            <a:pPr marL="0" indent="0" algn="l">
              <a:lnSpc>
                <a:spcPct val="123000"/>
              </a:lnSpc>
              <a:buNone/>
            </a:pPr>
            <a:r>
              <a:rPr lang="en-US" sz="1400" b="1" dirty="0">
                <a:solidFill>
                  <a:srgbClr val="438951"/>
                </a:solidFill>
                <a:latin typeface="Instrument Sans" pitchFamily="34" charset="0"/>
                <a:ea typeface="Instrument Sans" pitchFamily="34" charset="-122"/>
                <a:cs typeface="Instrument Sans" pitchFamily="34" charset="-120"/>
              </a:rPr>
              <a:t>FLUENTASSERTIONS</a:t>
            </a:r>
            <a:endParaRPr lang="en-US" sz="1400" b="1" dirty="0"/>
          </a:p>
        </p:txBody>
      </p:sp>
      <p:sp>
        <p:nvSpPr>
          <p:cNvPr id="25" name="Text 20">
            <a:extLst>
              <a:ext uri="{FF2B5EF4-FFF2-40B4-BE49-F238E27FC236}">
                <a16:creationId xmlns:a16="http://schemas.microsoft.com/office/drawing/2014/main" id="{8C6E7DC5-9A35-A1AC-ED42-A68F629C48B3}"/>
              </a:ext>
            </a:extLst>
          </p:cNvPr>
          <p:cNvSpPr/>
          <p:nvPr/>
        </p:nvSpPr>
        <p:spPr>
          <a:xfrm>
            <a:off x="7196996" y="2088039"/>
            <a:ext cx="1250443" cy="364057"/>
          </a:xfrm>
          <a:prstGeom prst="rect">
            <a:avLst/>
          </a:prstGeom>
          <a:noFill/>
          <a:ln/>
        </p:spPr>
        <p:txBody>
          <a:bodyPr wrap="none" lIns="0" tIns="0" rIns="0" bIns="0" rtlCol="0" anchor="t"/>
          <a:lstStyle/>
          <a:p>
            <a:pPr marL="0" indent="0" algn="l">
              <a:lnSpc>
                <a:spcPct val="123000"/>
              </a:lnSpc>
              <a:buNone/>
            </a:pPr>
            <a:r>
              <a:rPr lang="en-US" sz="1400" b="1" dirty="0">
                <a:solidFill>
                  <a:srgbClr val="438951"/>
                </a:solidFill>
                <a:latin typeface="Instrument Sans" pitchFamily="34" charset="0"/>
                <a:ea typeface="Instrument Sans" pitchFamily="34" charset="-122"/>
                <a:cs typeface="Instrument Sans" pitchFamily="34" charset="-120"/>
              </a:rPr>
              <a:t>COVERLET</a:t>
            </a:r>
            <a:endParaRPr lang="en-US" sz="1400" b="1" dirty="0"/>
          </a:p>
        </p:txBody>
      </p:sp>
      <p:sp>
        <p:nvSpPr>
          <p:cNvPr id="26" name="Shape 13">
            <a:extLst>
              <a:ext uri="{FF2B5EF4-FFF2-40B4-BE49-F238E27FC236}">
                <a16:creationId xmlns:a16="http://schemas.microsoft.com/office/drawing/2014/main" id="{8FE5E005-4EC8-EE38-FCC3-A4DE9CBBF32D}"/>
              </a:ext>
            </a:extLst>
          </p:cNvPr>
          <p:cNvSpPr/>
          <p:nvPr/>
        </p:nvSpPr>
        <p:spPr>
          <a:xfrm>
            <a:off x="2629141" y="1978630"/>
            <a:ext cx="847459" cy="432534"/>
          </a:xfrm>
          <a:prstGeom prst="roundRect">
            <a:avLst>
              <a:gd name="adj" fmla="val 38988"/>
            </a:avLst>
          </a:prstGeom>
          <a:noFill/>
          <a:ln w="6350">
            <a:solidFill>
              <a:srgbClr val="438951"/>
            </a:solidFill>
            <a:prstDash val="solid"/>
          </a:ln>
        </p:spPr>
        <p:txBody>
          <a:bodyPr/>
          <a:lstStyle/>
          <a:p>
            <a:endParaRPr lang="en-US" b="1"/>
          </a:p>
        </p:txBody>
      </p:sp>
      <p:sp>
        <p:nvSpPr>
          <p:cNvPr id="27" name="Shape 13">
            <a:extLst>
              <a:ext uri="{FF2B5EF4-FFF2-40B4-BE49-F238E27FC236}">
                <a16:creationId xmlns:a16="http://schemas.microsoft.com/office/drawing/2014/main" id="{4B5A5A9E-DDF8-EA1D-2C59-EFA4690CDE72}"/>
              </a:ext>
            </a:extLst>
          </p:cNvPr>
          <p:cNvSpPr/>
          <p:nvPr/>
        </p:nvSpPr>
        <p:spPr>
          <a:xfrm>
            <a:off x="4580692" y="1989610"/>
            <a:ext cx="2282344" cy="432534"/>
          </a:xfrm>
          <a:prstGeom prst="roundRect">
            <a:avLst>
              <a:gd name="adj" fmla="val 38988"/>
            </a:avLst>
          </a:prstGeom>
          <a:noFill/>
          <a:ln w="6350">
            <a:solidFill>
              <a:srgbClr val="438951"/>
            </a:solidFill>
            <a:prstDash val="solid"/>
          </a:ln>
        </p:spPr>
        <p:txBody>
          <a:bodyPr/>
          <a:lstStyle/>
          <a:p>
            <a:endParaRPr lang="en-US" b="1"/>
          </a:p>
        </p:txBody>
      </p:sp>
      <p:sp>
        <p:nvSpPr>
          <p:cNvPr id="28" name="Shape 13">
            <a:extLst>
              <a:ext uri="{FF2B5EF4-FFF2-40B4-BE49-F238E27FC236}">
                <a16:creationId xmlns:a16="http://schemas.microsoft.com/office/drawing/2014/main" id="{3D8B9D6C-50E2-6AE4-6277-803F38E71A8A}"/>
              </a:ext>
            </a:extLst>
          </p:cNvPr>
          <p:cNvSpPr/>
          <p:nvPr/>
        </p:nvSpPr>
        <p:spPr>
          <a:xfrm>
            <a:off x="7002940" y="1997066"/>
            <a:ext cx="1373303" cy="432534"/>
          </a:xfrm>
          <a:prstGeom prst="roundRect">
            <a:avLst>
              <a:gd name="adj" fmla="val 38988"/>
            </a:avLst>
          </a:prstGeom>
          <a:noFill/>
          <a:ln w="6350">
            <a:solidFill>
              <a:srgbClr val="438951"/>
            </a:solidFill>
            <a:prstDash val="solid"/>
          </a:ln>
        </p:spPr>
        <p:txBody>
          <a:bodyPr/>
          <a:lstStyle/>
          <a:p>
            <a:endParaRPr lang="en-US" b="1"/>
          </a:p>
        </p:txBody>
      </p:sp>
      <p:sp>
        <p:nvSpPr>
          <p:cNvPr id="5" name="Shape 2">
            <a:extLst>
              <a:ext uri="{FF2B5EF4-FFF2-40B4-BE49-F238E27FC236}">
                <a16:creationId xmlns:a16="http://schemas.microsoft.com/office/drawing/2014/main" id="{E97B0DFA-BAF0-90E7-7C05-89E61B72DB42}"/>
              </a:ext>
            </a:extLst>
          </p:cNvPr>
          <p:cNvSpPr/>
          <p:nvPr/>
        </p:nvSpPr>
        <p:spPr>
          <a:xfrm rot="5400000">
            <a:off x="5822130" y="1400952"/>
            <a:ext cx="45719" cy="7960659"/>
          </a:xfrm>
          <a:prstGeom prst="roundRect">
            <a:avLst>
              <a:gd name="adj" fmla="val 753500"/>
            </a:avLst>
          </a:prstGeom>
          <a:solidFill>
            <a:srgbClr val="CED9CE"/>
          </a:solidFill>
          <a:ln/>
        </p:spPr>
        <p:txBody>
          <a:bodyPr/>
          <a:lstStyle/>
          <a:p>
            <a:pPr algn="ctr"/>
            <a:endParaRPr lang="en-US"/>
          </a:p>
        </p:txBody>
      </p:sp>
      <p:sp>
        <p:nvSpPr>
          <p:cNvPr id="7" name="Shape 3">
            <a:extLst>
              <a:ext uri="{FF2B5EF4-FFF2-40B4-BE49-F238E27FC236}">
                <a16:creationId xmlns:a16="http://schemas.microsoft.com/office/drawing/2014/main" id="{04C18D9A-2643-8407-A90A-3D5D375ACD2B}"/>
              </a:ext>
            </a:extLst>
          </p:cNvPr>
          <p:cNvSpPr/>
          <p:nvPr/>
        </p:nvSpPr>
        <p:spPr>
          <a:xfrm rot="16200000">
            <a:off x="2325120" y="5133133"/>
            <a:ext cx="425241" cy="25400"/>
          </a:xfrm>
          <a:prstGeom prst="roundRect">
            <a:avLst>
              <a:gd name="adj" fmla="val 753470"/>
            </a:avLst>
          </a:prstGeom>
          <a:solidFill>
            <a:srgbClr val="CED9CE"/>
          </a:solidFill>
          <a:ln/>
        </p:spPr>
        <p:txBody>
          <a:bodyPr/>
          <a:lstStyle/>
          <a:p>
            <a:pPr algn="ctr"/>
            <a:endParaRPr lang="en-US">
              <a:solidFill>
                <a:srgbClr val="265834"/>
              </a:solidFill>
            </a:endParaRPr>
          </a:p>
        </p:txBody>
      </p:sp>
      <p:sp>
        <p:nvSpPr>
          <p:cNvPr id="8" name="Shape 3">
            <a:extLst>
              <a:ext uri="{FF2B5EF4-FFF2-40B4-BE49-F238E27FC236}">
                <a16:creationId xmlns:a16="http://schemas.microsoft.com/office/drawing/2014/main" id="{D8A5A579-CABA-526E-373D-B0827E795A14}"/>
              </a:ext>
            </a:extLst>
          </p:cNvPr>
          <p:cNvSpPr/>
          <p:nvPr/>
        </p:nvSpPr>
        <p:spPr>
          <a:xfrm rot="16200000">
            <a:off x="4377986" y="5581201"/>
            <a:ext cx="425241" cy="25400"/>
          </a:xfrm>
          <a:prstGeom prst="roundRect">
            <a:avLst>
              <a:gd name="adj" fmla="val 753470"/>
            </a:avLst>
          </a:prstGeom>
          <a:solidFill>
            <a:srgbClr val="CED9CE"/>
          </a:solidFill>
          <a:ln/>
        </p:spPr>
        <p:txBody>
          <a:bodyPr/>
          <a:lstStyle/>
          <a:p>
            <a:pPr algn="ctr"/>
            <a:endParaRPr lang="en-US">
              <a:solidFill>
                <a:srgbClr val="265834"/>
              </a:solidFill>
            </a:endParaRPr>
          </a:p>
        </p:txBody>
      </p:sp>
      <p:sp>
        <p:nvSpPr>
          <p:cNvPr id="9" name="Shape 3">
            <a:extLst>
              <a:ext uri="{FF2B5EF4-FFF2-40B4-BE49-F238E27FC236}">
                <a16:creationId xmlns:a16="http://schemas.microsoft.com/office/drawing/2014/main" id="{6B244677-D49F-00A3-373B-735C9F88CA67}"/>
              </a:ext>
            </a:extLst>
          </p:cNvPr>
          <p:cNvSpPr/>
          <p:nvPr/>
        </p:nvSpPr>
        <p:spPr>
          <a:xfrm rot="16200000">
            <a:off x="6208614" y="5155960"/>
            <a:ext cx="425241" cy="25400"/>
          </a:xfrm>
          <a:prstGeom prst="roundRect">
            <a:avLst>
              <a:gd name="adj" fmla="val 753470"/>
            </a:avLst>
          </a:prstGeom>
          <a:solidFill>
            <a:srgbClr val="CED9CE"/>
          </a:solidFill>
          <a:ln/>
        </p:spPr>
        <p:txBody>
          <a:bodyPr/>
          <a:lstStyle/>
          <a:p>
            <a:pPr algn="ctr"/>
            <a:endParaRPr lang="en-US">
              <a:solidFill>
                <a:srgbClr val="265834"/>
              </a:solidFill>
            </a:endParaRPr>
          </a:p>
        </p:txBody>
      </p:sp>
      <p:sp>
        <p:nvSpPr>
          <p:cNvPr id="10" name="Shape 3">
            <a:extLst>
              <a:ext uri="{FF2B5EF4-FFF2-40B4-BE49-F238E27FC236}">
                <a16:creationId xmlns:a16="http://schemas.microsoft.com/office/drawing/2014/main" id="{11D9B92B-283E-4BF8-F5B8-A7D9285236F1}"/>
              </a:ext>
            </a:extLst>
          </p:cNvPr>
          <p:cNvSpPr/>
          <p:nvPr/>
        </p:nvSpPr>
        <p:spPr>
          <a:xfrm rot="16200000">
            <a:off x="8697772" y="5558375"/>
            <a:ext cx="425241" cy="25400"/>
          </a:xfrm>
          <a:prstGeom prst="roundRect">
            <a:avLst>
              <a:gd name="adj" fmla="val 753470"/>
            </a:avLst>
          </a:prstGeom>
          <a:solidFill>
            <a:srgbClr val="CED9CE"/>
          </a:solidFill>
          <a:ln/>
        </p:spPr>
        <p:txBody>
          <a:bodyPr/>
          <a:lstStyle/>
          <a:p>
            <a:pPr algn="ctr"/>
            <a:endParaRPr lang="en-US">
              <a:solidFill>
                <a:srgbClr val="265834"/>
              </a:solidFill>
            </a:endParaRPr>
          </a:p>
        </p:txBody>
      </p:sp>
      <p:sp>
        <p:nvSpPr>
          <p:cNvPr id="11" name="Shape 4">
            <a:extLst>
              <a:ext uri="{FF2B5EF4-FFF2-40B4-BE49-F238E27FC236}">
                <a16:creationId xmlns:a16="http://schemas.microsoft.com/office/drawing/2014/main" id="{44C1F1F6-F26C-1774-A28F-D4137E30A229}"/>
              </a:ext>
            </a:extLst>
          </p:cNvPr>
          <p:cNvSpPr/>
          <p:nvPr/>
        </p:nvSpPr>
        <p:spPr>
          <a:xfrm>
            <a:off x="2458019" y="5278699"/>
            <a:ext cx="159441" cy="159445"/>
          </a:xfrm>
          <a:prstGeom prst="roundRect">
            <a:avLst>
              <a:gd name="adj" fmla="val 238954"/>
            </a:avLst>
          </a:prstGeom>
          <a:solidFill>
            <a:srgbClr val="438951"/>
          </a:solidFill>
          <a:ln/>
        </p:spPr>
        <p:txBody>
          <a:bodyPr/>
          <a:lstStyle/>
          <a:p>
            <a:pPr algn="ctr"/>
            <a:endParaRPr lang="en-US"/>
          </a:p>
        </p:txBody>
      </p:sp>
      <p:sp>
        <p:nvSpPr>
          <p:cNvPr id="12" name="Shape 4">
            <a:extLst>
              <a:ext uri="{FF2B5EF4-FFF2-40B4-BE49-F238E27FC236}">
                <a16:creationId xmlns:a16="http://schemas.microsoft.com/office/drawing/2014/main" id="{114F8333-E9BA-E2B1-D1BA-BD31738D8DB8}"/>
              </a:ext>
            </a:extLst>
          </p:cNvPr>
          <p:cNvSpPr/>
          <p:nvPr/>
        </p:nvSpPr>
        <p:spPr>
          <a:xfrm>
            <a:off x="4498185" y="5301558"/>
            <a:ext cx="159441" cy="159445"/>
          </a:xfrm>
          <a:prstGeom prst="roundRect">
            <a:avLst>
              <a:gd name="adj" fmla="val 238954"/>
            </a:avLst>
          </a:prstGeom>
          <a:solidFill>
            <a:srgbClr val="438951"/>
          </a:solidFill>
          <a:ln/>
        </p:spPr>
        <p:txBody>
          <a:bodyPr/>
          <a:lstStyle/>
          <a:p>
            <a:pPr algn="ctr"/>
            <a:endParaRPr lang="en-US"/>
          </a:p>
        </p:txBody>
      </p:sp>
      <p:sp>
        <p:nvSpPr>
          <p:cNvPr id="13" name="Shape 4">
            <a:extLst>
              <a:ext uri="{FF2B5EF4-FFF2-40B4-BE49-F238E27FC236}">
                <a16:creationId xmlns:a16="http://schemas.microsoft.com/office/drawing/2014/main" id="{6781EE18-DE16-57E1-BA56-DB9B26BAA273}"/>
              </a:ext>
            </a:extLst>
          </p:cNvPr>
          <p:cNvSpPr/>
          <p:nvPr/>
        </p:nvSpPr>
        <p:spPr>
          <a:xfrm>
            <a:off x="6341513" y="5316949"/>
            <a:ext cx="159441" cy="159445"/>
          </a:xfrm>
          <a:prstGeom prst="roundRect">
            <a:avLst>
              <a:gd name="adj" fmla="val 238954"/>
            </a:avLst>
          </a:prstGeom>
          <a:solidFill>
            <a:srgbClr val="438951"/>
          </a:solidFill>
          <a:ln/>
        </p:spPr>
        <p:txBody>
          <a:bodyPr/>
          <a:lstStyle/>
          <a:p>
            <a:pPr algn="ctr"/>
            <a:endParaRPr lang="en-US"/>
          </a:p>
        </p:txBody>
      </p:sp>
      <p:sp>
        <p:nvSpPr>
          <p:cNvPr id="14" name="Shape 4">
            <a:extLst>
              <a:ext uri="{FF2B5EF4-FFF2-40B4-BE49-F238E27FC236}">
                <a16:creationId xmlns:a16="http://schemas.microsoft.com/office/drawing/2014/main" id="{9316FA10-7DBB-8CE2-EDA2-2290FF835844}"/>
              </a:ext>
            </a:extLst>
          </p:cNvPr>
          <p:cNvSpPr/>
          <p:nvPr/>
        </p:nvSpPr>
        <p:spPr>
          <a:xfrm>
            <a:off x="8834407" y="5301557"/>
            <a:ext cx="159441" cy="159445"/>
          </a:xfrm>
          <a:prstGeom prst="roundRect">
            <a:avLst>
              <a:gd name="adj" fmla="val 238954"/>
            </a:avLst>
          </a:prstGeom>
          <a:solidFill>
            <a:srgbClr val="438951"/>
          </a:solidFill>
          <a:ln/>
        </p:spPr>
        <p:txBody>
          <a:bodyPr/>
          <a:lstStyle/>
          <a:p>
            <a:pPr algn="ctr"/>
            <a:endParaRPr lang="en-US"/>
          </a:p>
        </p:txBody>
      </p:sp>
      <p:sp>
        <p:nvSpPr>
          <p:cNvPr id="15" name="TextBox 14">
            <a:extLst>
              <a:ext uri="{FF2B5EF4-FFF2-40B4-BE49-F238E27FC236}">
                <a16:creationId xmlns:a16="http://schemas.microsoft.com/office/drawing/2014/main" id="{E848AEB7-6432-ECD3-08BA-5ABEC11C51CD}"/>
              </a:ext>
            </a:extLst>
          </p:cNvPr>
          <p:cNvSpPr txBox="1"/>
          <p:nvPr/>
        </p:nvSpPr>
        <p:spPr>
          <a:xfrm>
            <a:off x="1991942" y="4562408"/>
            <a:ext cx="1314719" cy="369332"/>
          </a:xfrm>
          <a:prstGeom prst="rect">
            <a:avLst/>
          </a:prstGeom>
          <a:noFill/>
        </p:spPr>
        <p:txBody>
          <a:bodyPr wrap="none" rtlCol="0">
            <a:spAutoFit/>
          </a:bodyPr>
          <a:lstStyle/>
          <a:p>
            <a:pPr algn="ctr"/>
            <a:r>
              <a:rPr lang="en-US" b="1" dirty="0"/>
              <a:t>Unit Testing</a:t>
            </a:r>
          </a:p>
        </p:txBody>
      </p:sp>
      <p:sp>
        <p:nvSpPr>
          <p:cNvPr id="16" name="TextBox 15">
            <a:extLst>
              <a:ext uri="{FF2B5EF4-FFF2-40B4-BE49-F238E27FC236}">
                <a16:creationId xmlns:a16="http://schemas.microsoft.com/office/drawing/2014/main" id="{61FBEAF1-0DA0-3633-57AF-43872495C783}"/>
              </a:ext>
            </a:extLst>
          </p:cNvPr>
          <p:cNvSpPr txBox="1"/>
          <p:nvPr/>
        </p:nvSpPr>
        <p:spPr>
          <a:xfrm>
            <a:off x="3445942" y="5829380"/>
            <a:ext cx="2556405" cy="646331"/>
          </a:xfrm>
          <a:prstGeom prst="rect">
            <a:avLst/>
          </a:prstGeom>
          <a:noFill/>
        </p:spPr>
        <p:txBody>
          <a:bodyPr wrap="none" rtlCol="0">
            <a:spAutoFit/>
          </a:bodyPr>
          <a:lstStyle/>
          <a:p>
            <a:pPr algn="ctr"/>
            <a:r>
              <a:rPr lang="en-US" b="1" dirty="0">
                <a:solidFill>
                  <a:srgbClr val="030303"/>
                </a:solidFill>
                <a:latin typeface="Aptos Display" panose="020B0004020202020204" pitchFamily="34" charset="0"/>
                <a:ea typeface="Instrument Sans" pitchFamily="34" charset="-122"/>
                <a:cs typeface="Instrument Sans" pitchFamily="34" charset="-120"/>
              </a:rPr>
              <a:t>Integration (E2E) Testing</a:t>
            </a:r>
            <a:endParaRPr lang="en-US" dirty="0">
              <a:latin typeface="Aptos Display" panose="020B0004020202020204" pitchFamily="34" charset="0"/>
            </a:endParaRPr>
          </a:p>
          <a:p>
            <a:pPr algn="ctr"/>
            <a:endParaRPr lang="en-US" dirty="0"/>
          </a:p>
        </p:txBody>
      </p:sp>
      <p:sp>
        <p:nvSpPr>
          <p:cNvPr id="20" name="TextBox 19">
            <a:extLst>
              <a:ext uri="{FF2B5EF4-FFF2-40B4-BE49-F238E27FC236}">
                <a16:creationId xmlns:a16="http://schemas.microsoft.com/office/drawing/2014/main" id="{5C09AA7F-367C-D181-B28D-5EE39172DEF7}"/>
              </a:ext>
            </a:extLst>
          </p:cNvPr>
          <p:cNvSpPr txBox="1"/>
          <p:nvPr/>
        </p:nvSpPr>
        <p:spPr>
          <a:xfrm>
            <a:off x="5513119" y="4598710"/>
            <a:ext cx="1975669" cy="646331"/>
          </a:xfrm>
          <a:prstGeom prst="rect">
            <a:avLst/>
          </a:prstGeom>
          <a:noFill/>
        </p:spPr>
        <p:txBody>
          <a:bodyPr wrap="none" rtlCol="0">
            <a:spAutoFit/>
          </a:bodyPr>
          <a:lstStyle/>
          <a:p>
            <a:pPr algn="ctr"/>
            <a:r>
              <a:rPr lang="en-US" b="1" dirty="0">
                <a:solidFill>
                  <a:srgbClr val="030303"/>
                </a:solidFill>
                <a:latin typeface="Aptos Display" panose="020B0004020202020204" pitchFamily="34" charset="0"/>
                <a:ea typeface="Instrument Sans" pitchFamily="34" charset="-122"/>
                <a:cs typeface="Instrument Sans" pitchFamily="34" charset="-120"/>
              </a:rPr>
              <a:t>Security &amp; Fuzzing</a:t>
            </a:r>
          </a:p>
          <a:p>
            <a:pPr algn="ctr"/>
            <a:endParaRPr lang="en-US" dirty="0"/>
          </a:p>
        </p:txBody>
      </p:sp>
      <p:sp>
        <p:nvSpPr>
          <p:cNvPr id="22" name="TextBox 21">
            <a:extLst>
              <a:ext uri="{FF2B5EF4-FFF2-40B4-BE49-F238E27FC236}">
                <a16:creationId xmlns:a16="http://schemas.microsoft.com/office/drawing/2014/main" id="{9C119A18-7F53-554D-2F70-AD331BE4EF64}"/>
              </a:ext>
            </a:extLst>
          </p:cNvPr>
          <p:cNvSpPr txBox="1"/>
          <p:nvPr/>
        </p:nvSpPr>
        <p:spPr>
          <a:xfrm>
            <a:off x="7968352" y="5745709"/>
            <a:ext cx="2078326" cy="646331"/>
          </a:xfrm>
          <a:prstGeom prst="rect">
            <a:avLst/>
          </a:prstGeom>
          <a:noFill/>
        </p:spPr>
        <p:txBody>
          <a:bodyPr wrap="none" rtlCol="0">
            <a:spAutoFit/>
          </a:bodyPr>
          <a:lstStyle/>
          <a:p>
            <a:pPr algn="ctr"/>
            <a:r>
              <a:rPr lang="en-US" b="1" dirty="0">
                <a:solidFill>
                  <a:srgbClr val="030303"/>
                </a:solidFill>
                <a:latin typeface="Aptos Display" panose="020B0004020202020204" pitchFamily="34" charset="0"/>
                <a:ea typeface="Instrument Sans" pitchFamily="34" charset="-122"/>
                <a:cs typeface="Instrument Sans" pitchFamily="34" charset="-120"/>
              </a:rPr>
              <a:t>Exception Handling</a:t>
            </a:r>
            <a:endParaRPr lang="en-US" dirty="0">
              <a:latin typeface="Aptos Display" panose="020B0004020202020204" pitchFamily="34" charset="0"/>
            </a:endParaRPr>
          </a:p>
          <a:p>
            <a:pPr algn="ct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2">
    <p:bg>
      <p:bgPr>
        <a:gradFill>
          <a:gsLst>
            <a:gs pos="16000">
              <a:srgbClr val="146A18"/>
            </a:gs>
            <a:gs pos="47000">
              <a:srgbClr val="0B9912">
                <a:alpha val="95000"/>
                <a:lumMod val="100000"/>
              </a:srgbClr>
            </a:gs>
            <a:gs pos="100000">
              <a:srgbClr val="146A18"/>
            </a:gs>
          </a:gsLst>
          <a:lin ang="13500000" scaled="1"/>
        </a:gradFill>
        <a:effectLst/>
      </p:bgPr>
    </p:bg>
    <p:spTree>
      <p:nvGrpSpPr>
        <p:cNvPr id="1" name=""/>
        <p:cNvGrpSpPr/>
        <p:nvPr/>
      </p:nvGrpSpPr>
      <p:grpSpPr>
        <a:xfrm>
          <a:off x="0" y="0"/>
          <a:ext cx="0" cy="0"/>
          <a:chOff x="0" y="0"/>
          <a:chExt cx="0" cy="0"/>
        </a:xfrm>
      </p:grpSpPr>
      <p:sp>
        <p:nvSpPr>
          <p:cNvPr id="2" name="Text 0"/>
          <p:cNvSpPr/>
          <p:nvPr/>
        </p:nvSpPr>
        <p:spPr>
          <a:xfrm>
            <a:off x="2837684" y="3059807"/>
            <a:ext cx="6516326" cy="738287"/>
          </a:xfrm>
          <a:prstGeom prst="rect">
            <a:avLst/>
          </a:prstGeom>
          <a:noFill/>
          <a:ln/>
        </p:spPr>
        <p:txBody>
          <a:bodyPr wrap="none" lIns="0" tIns="0" rIns="0" bIns="0" rtlCol="0" anchor="t"/>
          <a:lstStyle/>
          <a:p>
            <a:pPr marL="0" indent="0" algn="ctr">
              <a:lnSpc>
                <a:spcPct val="104000"/>
              </a:lnSpc>
              <a:buNone/>
            </a:pPr>
            <a:r>
              <a:rPr lang="en-US" sz="4650" b="1" dirty="0">
                <a:solidFill>
                  <a:srgbClr val="FFFFFF"/>
                </a:solidFill>
                <a:latin typeface="Fraunces ExtraBold" pitchFamily="34" charset="0"/>
                <a:cs typeface="Fraunces ExtraBold" pitchFamily="34" charset="-120"/>
              </a:rPr>
              <a:t>App Demo</a:t>
            </a:r>
            <a:endParaRPr lang="en-US" sz="4650"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App Demo">
            <a:hlinkClick r:id="" action="ppaction://media"/>
            <a:extLst>
              <a:ext uri="{FF2B5EF4-FFF2-40B4-BE49-F238E27FC236}">
                <a16:creationId xmlns:a16="http://schemas.microsoft.com/office/drawing/2014/main" id="{F9342179-4740-9D30-4676-5A9484F4AEC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564062" y="190500"/>
            <a:ext cx="3063875" cy="6477000"/>
          </a:xfrm>
          <a:prstGeom prst="rect">
            <a:avLst/>
          </a:prstGeom>
        </p:spPr>
      </p:pic>
      <p:sp>
        <p:nvSpPr>
          <p:cNvPr id="4" name="TextBox 3">
            <a:extLst>
              <a:ext uri="{FF2B5EF4-FFF2-40B4-BE49-F238E27FC236}">
                <a16:creationId xmlns:a16="http://schemas.microsoft.com/office/drawing/2014/main" id="{19ED5909-086C-0EBF-3548-1ECBF6F30684}"/>
              </a:ext>
            </a:extLst>
          </p:cNvPr>
          <p:cNvSpPr txBox="1"/>
          <p:nvPr/>
        </p:nvSpPr>
        <p:spPr>
          <a:xfrm>
            <a:off x="410993" y="375059"/>
            <a:ext cx="2303024" cy="552652"/>
          </a:xfrm>
          <a:prstGeom prst="rect">
            <a:avLst/>
          </a:prstGeom>
          <a:noFill/>
        </p:spPr>
        <p:txBody>
          <a:bodyPr wrap="square">
            <a:spAutoFit/>
          </a:bodyPr>
          <a:lstStyle/>
          <a:p>
            <a:pPr marL="0" indent="0" algn="l">
              <a:lnSpc>
                <a:spcPct val="104000"/>
              </a:lnSpc>
              <a:buNone/>
            </a:pPr>
            <a:r>
              <a:rPr lang="en-US" sz="3000" b="1" dirty="0">
                <a:solidFill>
                  <a:srgbClr val="265834"/>
                </a:solidFill>
                <a:latin typeface="Fraunces ExtraBold" pitchFamily="34" charset="0"/>
              </a:rPr>
              <a:t>App Demo</a:t>
            </a:r>
            <a:endParaRPr lang="en-US" sz="3000" b="1" dirty="0"/>
          </a:p>
        </p:txBody>
      </p:sp>
    </p:spTree>
    <p:extLst>
      <p:ext uri="{BB962C8B-B14F-4D97-AF65-F5344CB8AC3E}">
        <p14:creationId xmlns:p14="http://schemas.microsoft.com/office/powerpoint/2010/main" val="2052742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526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9">
    <p:bg>
      <p:bgPr>
        <a:gradFill flip="none" rotWithShape="1">
          <a:gsLst>
            <a:gs pos="16000">
              <a:srgbClr val="146A18"/>
            </a:gs>
            <a:gs pos="47000">
              <a:srgbClr val="0B9912">
                <a:alpha val="95000"/>
                <a:lumMod val="100000"/>
              </a:srgbClr>
            </a:gs>
            <a:gs pos="100000">
              <a:srgbClr val="146A18"/>
            </a:gs>
          </a:gsLst>
          <a:lin ang="13500000" scaled="1"/>
          <a:tileRect/>
        </a:gradFill>
        <a:effectLst/>
      </p:bgPr>
    </p:bg>
    <p:spTree>
      <p:nvGrpSpPr>
        <p:cNvPr id="1" name=""/>
        <p:cNvGrpSpPr/>
        <p:nvPr/>
      </p:nvGrpSpPr>
      <p:grpSpPr>
        <a:xfrm>
          <a:off x="0" y="0"/>
          <a:ext cx="0" cy="0"/>
          <a:chOff x="0" y="0"/>
          <a:chExt cx="0" cy="0"/>
        </a:xfrm>
      </p:grpSpPr>
      <p:sp>
        <p:nvSpPr>
          <p:cNvPr id="2" name="Text 0"/>
          <p:cNvSpPr/>
          <p:nvPr/>
        </p:nvSpPr>
        <p:spPr>
          <a:xfrm>
            <a:off x="2837684" y="3059807"/>
            <a:ext cx="6516326" cy="738287"/>
          </a:xfrm>
          <a:prstGeom prst="rect">
            <a:avLst/>
          </a:prstGeom>
          <a:noFill/>
          <a:ln/>
        </p:spPr>
        <p:txBody>
          <a:bodyPr wrap="none" lIns="0" tIns="0" rIns="0" bIns="0" rtlCol="0" anchor="t"/>
          <a:lstStyle/>
          <a:p>
            <a:pPr marL="0" indent="0" algn="ctr">
              <a:lnSpc>
                <a:spcPct val="104000"/>
              </a:lnSpc>
              <a:buNone/>
            </a:pPr>
            <a:r>
              <a:rPr lang="en-US" sz="4650" b="1" dirty="0">
                <a:solidFill>
                  <a:srgbClr val="FFFFFF"/>
                </a:solidFill>
                <a:latin typeface="Fraunces ExtraBold" pitchFamily="34" charset="0"/>
                <a:ea typeface="Fraunces ExtraBold" pitchFamily="34" charset="-122"/>
                <a:cs typeface="Fraunces ExtraBold" pitchFamily="34" charset="-120"/>
              </a:rPr>
              <a:t>06.Conclusion</a:t>
            </a:r>
            <a:endParaRPr lang="en-US" sz="4650"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746503" y="690364"/>
            <a:ext cx="5261141" cy="581422"/>
          </a:xfrm>
          <a:prstGeom prst="rect">
            <a:avLst/>
          </a:prstGeom>
          <a:noFill/>
          <a:ln/>
        </p:spPr>
        <p:txBody>
          <a:bodyPr wrap="none" lIns="0" tIns="0" rIns="0" bIns="0" rtlCol="0" anchor="t"/>
          <a:lstStyle/>
          <a:p>
            <a:pPr marL="0" indent="0" algn="l">
              <a:lnSpc>
                <a:spcPct val="104000"/>
              </a:lnSpc>
              <a:buNone/>
            </a:pPr>
            <a:r>
              <a:rPr lang="en-US" sz="3650" b="1" dirty="0">
                <a:solidFill>
                  <a:srgbClr val="265834"/>
                </a:solidFill>
                <a:latin typeface="Fraunces ExtraBold" pitchFamily="34" charset="0"/>
                <a:ea typeface="Fraunces ExtraBold" pitchFamily="34" charset="-122"/>
                <a:cs typeface="Fraunces ExtraBold" pitchFamily="34" charset="-120"/>
              </a:rPr>
              <a:t>Conclusion</a:t>
            </a:r>
            <a:endParaRPr lang="en-US" sz="3650" b="1" dirty="0"/>
          </a:p>
        </p:txBody>
      </p:sp>
      <p:sp>
        <p:nvSpPr>
          <p:cNvPr id="3" name="Text 1"/>
          <p:cNvSpPr/>
          <p:nvPr/>
        </p:nvSpPr>
        <p:spPr>
          <a:xfrm>
            <a:off x="746503" y="1491555"/>
            <a:ext cx="10698689" cy="2492177"/>
          </a:xfrm>
          <a:prstGeom prst="rect">
            <a:avLst/>
          </a:prstGeom>
          <a:noFill/>
          <a:ln/>
        </p:spPr>
        <p:txBody>
          <a:bodyPr wrap="square" lIns="0" tIns="0" rIns="0" bIns="0" rtlCol="0" anchor="t">
            <a:normAutofit/>
          </a:bodyPr>
          <a:lstStyle/>
          <a:p>
            <a:pPr lvl="1">
              <a:lnSpc>
                <a:spcPct val="119000"/>
              </a:lnSpc>
              <a:spcAft>
                <a:spcPts val="1250"/>
              </a:spcAft>
            </a:pPr>
            <a:r>
              <a:rPr lang="en-US" dirty="0" err="1">
                <a:solidFill>
                  <a:srgbClr val="030303"/>
                </a:solidFill>
                <a:latin typeface="Aptos Display" panose="020B0004020202020204" pitchFamily="34" charset="0"/>
                <a:ea typeface="Instrument Sans" pitchFamily="34" charset="-122"/>
                <a:cs typeface="Instrument Sans" pitchFamily="34" charset="-120"/>
              </a:rPr>
              <a:t>FloraAI</a:t>
            </a:r>
            <a:r>
              <a:rPr lang="en-US" dirty="0">
                <a:solidFill>
                  <a:srgbClr val="030303"/>
                </a:solidFill>
                <a:latin typeface="Aptos Display" panose="020B0004020202020204" pitchFamily="34" charset="0"/>
                <a:ea typeface="Instrument Sans" pitchFamily="34" charset="-122"/>
                <a:cs typeface="Instrument Sans" pitchFamily="34" charset="-120"/>
              </a:rPr>
              <a:t> achieves 95.25% validation accuracy using the optimized MobileNetV2 architecture, delivering professional-grade plant disease diagnosis on consumer mobile hardware.     </a:t>
            </a:r>
            <a:endParaRPr lang="en-US" dirty="0">
              <a:latin typeface="Aptos Display" panose="020B0004020202020204" pitchFamily="34" charset="0"/>
            </a:endParaRPr>
          </a:p>
          <a:p>
            <a:pPr lvl="1">
              <a:lnSpc>
                <a:spcPct val="119000"/>
              </a:lnSpc>
            </a:pPr>
            <a:r>
              <a:rPr lang="en-US" dirty="0" err="1">
                <a:solidFill>
                  <a:srgbClr val="030303"/>
                </a:solidFill>
                <a:latin typeface="Aptos Display" panose="020B0004020202020204" pitchFamily="34" charset="0"/>
                <a:ea typeface="Instrument Sans" pitchFamily="34" charset="-122"/>
                <a:cs typeface="Instrument Sans" pitchFamily="34" charset="-120"/>
              </a:rPr>
              <a:t>FloraAI</a:t>
            </a:r>
            <a:r>
              <a:rPr lang="en-US" dirty="0">
                <a:solidFill>
                  <a:srgbClr val="030303"/>
                </a:solidFill>
                <a:latin typeface="Aptos Display" panose="020B0004020202020204" pitchFamily="34" charset="0"/>
                <a:ea typeface="Instrument Sans" pitchFamily="34" charset="-122"/>
                <a:cs typeface="Instrument Sans" pitchFamily="34" charset="-120"/>
              </a:rPr>
              <a:t> operates as a tool for precision horticulture, translating complex pathological patterns into actionable advice for non-specialist users. The system democratizes access to expert-level plant care guidance regardless of technical expertise or botanical knowledge.     </a:t>
            </a:r>
            <a:endParaRPr lang="en-US" dirty="0">
              <a:latin typeface="Aptos Display" panose="020B0004020202020204" pitchFamily="34" charset="0"/>
            </a:endParaRPr>
          </a:p>
        </p:txBody>
      </p:sp>
      <p:sp>
        <p:nvSpPr>
          <p:cNvPr id="4" name="Shape 2"/>
          <p:cNvSpPr/>
          <p:nvPr/>
        </p:nvSpPr>
        <p:spPr>
          <a:xfrm>
            <a:off x="746503" y="3798910"/>
            <a:ext cx="10698689" cy="2019102"/>
          </a:xfrm>
          <a:prstGeom prst="roundRect">
            <a:avLst>
              <a:gd name="adj" fmla="val 8294"/>
            </a:avLst>
          </a:prstGeom>
          <a:solidFill>
            <a:srgbClr val="FAFFFA"/>
          </a:solidFill>
          <a:ln w="25399">
            <a:solidFill>
              <a:srgbClr val="CED9CE"/>
            </a:solidFill>
            <a:prstDash val="solid"/>
          </a:ln>
        </p:spPr>
        <p:txBody>
          <a:bodyPr/>
          <a:lstStyle/>
          <a:p>
            <a:endParaRPr lang="en-US"/>
          </a:p>
        </p:txBody>
      </p:sp>
      <p:sp>
        <p:nvSpPr>
          <p:cNvPr id="5" name="Text 3"/>
          <p:cNvSpPr/>
          <p:nvPr/>
        </p:nvSpPr>
        <p:spPr>
          <a:xfrm>
            <a:off x="957933" y="4010346"/>
            <a:ext cx="2389326" cy="290711"/>
          </a:xfrm>
          <a:prstGeom prst="rect">
            <a:avLst/>
          </a:prstGeom>
          <a:noFill/>
          <a:ln/>
        </p:spPr>
        <p:txBody>
          <a:bodyPr wrap="none" lIns="0" tIns="0" rIns="0" bIns="0" rtlCol="0" anchor="t"/>
          <a:lstStyle/>
          <a:p>
            <a:pPr marL="0" indent="0" algn="l">
              <a:lnSpc>
                <a:spcPct val="104000"/>
              </a:lnSpc>
              <a:buNone/>
            </a:pPr>
            <a:r>
              <a:rPr lang="en-US" sz="1800" dirty="0">
                <a:solidFill>
                  <a:srgbClr val="030303"/>
                </a:solidFill>
                <a:latin typeface="Fraunces ExtraBold" pitchFamily="34" charset="0"/>
                <a:ea typeface="Fraunces ExtraBold" pitchFamily="34" charset="-122"/>
                <a:cs typeface="Fraunces ExtraBold" pitchFamily="34" charset="-120"/>
              </a:rPr>
              <a:t>Privacy &amp; Efficiency</a:t>
            </a:r>
            <a:endParaRPr lang="en-US" sz="1800" dirty="0"/>
          </a:p>
        </p:txBody>
      </p:sp>
      <p:sp>
        <p:nvSpPr>
          <p:cNvPr id="6" name="Text 4"/>
          <p:cNvSpPr/>
          <p:nvPr/>
        </p:nvSpPr>
        <p:spPr>
          <a:xfrm>
            <a:off x="957933" y="4388964"/>
            <a:ext cx="10275829" cy="1217613"/>
          </a:xfrm>
          <a:prstGeom prst="rect">
            <a:avLst/>
          </a:prstGeom>
          <a:noFill/>
          <a:ln/>
        </p:spPr>
        <p:txBody>
          <a:bodyPr wrap="square" lIns="0" tIns="0" rIns="0" bIns="0" rtlCol="0" anchor="t">
            <a:normAutofit fontScale="92500"/>
          </a:bodyPr>
          <a:lstStyle/>
          <a:p>
            <a:pPr marL="342900" indent="-342900" algn="l">
              <a:lnSpc>
                <a:spcPct val="119000"/>
              </a:lnSpc>
              <a:buSzPct val="100000"/>
              <a:buChar char="•"/>
            </a:pPr>
            <a:r>
              <a:rPr lang="en-US" b="1" dirty="0">
                <a:solidFill>
                  <a:srgbClr val="030303"/>
                </a:solidFill>
                <a:latin typeface="Aptos Display" panose="020B0004020202020204" pitchFamily="34" charset="0"/>
                <a:ea typeface="Instrument Sans" pitchFamily="34" charset="-122"/>
                <a:cs typeface="Instrument Sans" pitchFamily="34" charset="-120"/>
              </a:rPr>
              <a:t>Edge AI Approach</a:t>
            </a:r>
            <a:r>
              <a:rPr lang="en-US" dirty="0">
                <a:solidFill>
                  <a:srgbClr val="030303"/>
                </a:solidFill>
                <a:latin typeface="Aptos Display" panose="020B0004020202020204" pitchFamily="34" charset="0"/>
                <a:ea typeface="Instrument Sans" pitchFamily="34" charset="-122"/>
                <a:cs typeface="Instrument Sans" pitchFamily="34" charset="-120"/>
              </a:rPr>
              <a:t>: Processes images locally, preserving user privacy by eliminating cloud metadata exposure</a:t>
            </a:r>
            <a:endParaRPr lang="en-US" dirty="0">
              <a:latin typeface="Aptos Display" panose="020B0004020202020204" pitchFamily="34" charset="0"/>
            </a:endParaRPr>
          </a:p>
          <a:p>
            <a:pPr marL="342900" indent="-342900" algn="l">
              <a:lnSpc>
                <a:spcPct val="119000"/>
              </a:lnSpc>
              <a:buSzPct val="100000"/>
              <a:buChar char="•"/>
            </a:pPr>
            <a:r>
              <a:rPr lang="en-US" b="1" dirty="0">
                <a:solidFill>
                  <a:srgbClr val="030303"/>
                </a:solidFill>
                <a:latin typeface="Aptos Display" panose="020B0004020202020204" pitchFamily="34" charset="0"/>
                <a:ea typeface="Instrument Sans" pitchFamily="34" charset="-122"/>
                <a:cs typeface="Instrument Sans" pitchFamily="34" charset="-120"/>
              </a:rPr>
              <a:t>Hybrid Cloud Model</a:t>
            </a:r>
            <a:r>
              <a:rPr lang="en-US" dirty="0">
                <a:solidFill>
                  <a:srgbClr val="030303"/>
                </a:solidFill>
                <a:latin typeface="Aptos Display" panose="020B0004020202020204" pitchFamily="34" charset="0"/>
                <a:ea typeface="Instrument Sans" pitchFamily="34" charset="-122"/>
                <a:cs typeface="Instrument Sans" pitchFamily="34" charset="-120"/>
              </a:rPr>
              <a:t>: Provides deep, narrative care instructions in Arabic </a:t>
            </a:r>
          </a:p>
          <a:p>
            <a:pPr marL="342900" indent="-342900" algn="l">
              <a:lnSpc>
                <a:spcPct val="119000"/>
              </a:lnSpc>
              <a:buSzPct val="100000"/>
              <a:buChar char="•"/>
            </a:pPr>
            <a:r>
              <a:rPr lang="en-US" b="1" dirty="0">
                <a:solidFill>
                  <a:srgbClr val="030303"/>
                </a:solidFill>
                <a:latin typeface="Aptos Display" panose="020B0004020202020204" pitchFamily="34" charset="0"/>
                <a:ea typeface="Instrument Sans" pitchFamily="34" charset="-122"/>
                <a:cs typeface="Instrument Sans" pitchFamily="34" charset="-120"/>
              </a:rPr>
              <a:t>Offline-First Architecture</a:t>
            </a:r>
            <a:r>
              <a:rPr lang="en-US" dirty="0">
                <a:solidFill>
                  <a:srgbClr val="030303"/>
                </a:solidFill>
                <a:latin typeface="Aptos Display" panose="020B0004020202020204" pitchFamily="34" charset="0"/>
                <a:ea typeface="Instrument Sans" pitchFamily="34" charset="-122"/>
                <a:cs typeface="Instrument Sans" pitchFamily="34" charset="-120"/>
              </a:rPr>
              <a:t>: Core diagnostic functionality remains fully operational without internet connectivity</a:t>
            </a:r>
            <a:endParaRPr lang="en-US" dirty="0">
              <a:latin typeface="Aptos Display" panose="020B0004020202020204" pitchFamily="34" charset="0"/>
            </a:endParaRPr>
          </a:p>
          <a:p>
            <a:pPr marL="342900" indent="-342900" algn="l">
              <a:lnSpc>
                <a:spcPct val="119000"/>
              </a:lnSpc>
              <a:buSzPct val="100000"/>
              <a:buChar char="•"/>
            </a:pPr>
            <a:r>
              <a:rPr lang="en-US" b="1" dirty="0">
                <a:solidFill>
                  <a:srgbClr val="030303"/>
                </a:solidFill>
                <a:latin typeface="Aptos Display" panose="020B0004020202020204" pitchFamily="34" charset="0"/>
                <a:ea typeface="Instrument Sans" pitchFamily="34" charset="-122"/>
                <a:cs typeface="Instrument Sans" pitchFamily="34" charset="-120"/>
              </a:rPr>
              <a:t>Cost-Neutral Scaling</a:t>
            </a:r>
            <a:r>
              <a:rPr lang="en-US" dirty="0">
                <a:solidFill>
                  <a:srgbClr val="030303"/>
                </a:solidFill>
                <a:latin typeface="Aptos Display" panose="020B0004020202020204" pitchFamily="34" charset="0"/>
                <a:ea typeface="Instrument Sans" pitchFamily="34" charset="-122"/>
                <a:cs typeface="Instrument Sans" pitchFamily="34" charset="-120"/>
              </a:rPr>
              <a:t>: One-time model optimization investment replaces recurring API billing</a:t>
            </a:r>
            <a:endParaRPr lang="en-US" dirty="0">
              <a:latin typeface="Aptos Display" panose="020B00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2">
    <p:bg>
      <p:bgPr>
        <a:gradFill>
          <a:gsLst>
            <a:gs pos="16000">
              <a:srgbClr val="146A18"/>
            </a:gs>
            <a:gs pos="47000">
              <a:srgbClr val="0B9912">
                <a:alpha val="95000"/>
                <a:lumMod val="100000"/>
              </a:srgbClr>
            </a:gs>
            <a:gs pos="100000">
              <a:srgbClr val="146A18"/>
            </a:gs>
          </a:gsLst>
          <a:lin ang="13500000" scaled="1"/>
        </a:gradFill>
        <a:effectLst/>
      </p:bgPr>
    </p:bg>
    <p:spTree>
      <p:nvGrpSpPr>
        <p:cNvPr id="1" name=""/>
        <p:cNvGrpSpPr/>
        <p:nvPr/>
      </p:nvGrpSpPr>
      <p:grpSpPr>
        <a:xfrm>
          <a:off x="0" y="0"/>
          <a:ext cx="0" cy="0"/>
          <a:chOff x="0" y="0"/>
          <a:chExt cx="0" cy="0"/>
        </a:xfrm>
      </p:grpSpPr>
      <p:sp>
        <p:nvSpPr>
          <p:cNvPr id="2" name="Text 0"/>
          <p:cNvSpPr/>
          <p:nvPr/>
        </p:nvSpPr>
        <p:spPr>
          <a:xfrm>
            <a:off x="2837684" y="3059807"/>
            <a:ext cx="6516326" cy="738287"/>
          </a:xfrm>
          <a:prstGeom prst="rect">
            <a:avLst/>
          </a:prstGeom>
          <a:noFill/>
          <a:ln/>
        </p:spPr>
        <p:txBody>
          <a:bodyPr wrap="none" lIns="0" tIns="0" rIns="0" bIns="0" rtlCol="0" anchor="t"/>
          <a:lstStyle/>
          <a:p>
            <a:pPr marL="0" indent="0" algn="ctr">
              <a:lnSpc>
                <a:spcPct val="104000"/>
              </a:lnSpc>
              <a:buNone/>
            </a:pPr>
            <a:r>
              <a:rPr lang="en-US" sz="4650" b="1" dirty="0">
                <a:solidFill>
                  <a:srgbClr val="FFFFFF"/>
                </a:solidFill>
                <a:latin typeface="Fraunces ExtraBold" pitchFamily="34" charset="0"/>
                <a:ea typeface="Fraunces ExtraBold" pitchFamily="34" charset="-122"/>
                <a:cs typeface="Fraunces ExtraBold" pitchFamily="34" charset="-120"/>
              </a:rPr>
              <a:t>07. Future Work </a:t>
            </a:r>
            <a:endParaRPr lang="en-US" sz="4650"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661574" y="718939"/>
            <a:ext cx="5334958" cy="590649"/>
          </a:xfrm>
          <a:prstGeom prst="rect">
            <a:avLst/>
          </a:prstGeom>
          <a:noFill/>
          <a:ln/>
        </p:spPr>
        <p:txBody>
          <a:bodyPr wrap="none" lIns="0" tIns="0" rIns="0" bIns="0" rtlCol="0" anchor="t"/>
          <a:lstStyle/>
          <a:p>
            <a:pPr marL="0" indent="0" algn="l">
              <a:lnSpc>
                <a:spcPct val="104000"/>
              </a:lnSpc>
              <a:buNone/>
            </a:pPr>
            <a:r>
              <a:rPr lang="en-US" sz="3700" b="1" dirty="0">
                <a:solidFill>
                  <a:srgbClr val="265834"/>
                </a:solidFill>
                <a:latin typeface="Fraunces ExtraBold" pitchFamily="34" charset="0"/>
                <a:ea typeface="Fraunces ExtraBold" pitchFamily="34" charset="-122"/>
                <a:cs typeface="Fraunces ExtraBold" pitchFamily="34" charset="-120"/>
              </a:rPr>
              <a:t>Future</a:t>
            </a:r>
            <a:r>
              <a:rPr lang="en-US" sz="3700" dirty="0">
                <a:solidFill>
                  <a:srgbClr val="265834"/>
                </a:solidFill>
                <a:latin typeface="Fraunces ExtraBold" pitchFamily="34" charset="0"/>
                <a:ea typeface="Fraunces ExtraBold" pitchFamily="34" charset="-122"/>
                <a:cs typeface="Fraunces ExtraBold" pitchFamily="34" charset="-120"/>
              </a:rPr>
              <a:t> </a:t>
            </a:r>
            <a:r>
              <a:rPr lang="en-US" sz="3700" b="1" dirty="0">
                <a:solidFill>
                  <a:srgbClr val="265834"/>
                </a:solidFill>
                <a:latin typeface="Fraunces ExtraBold" pitchFamily="34" charset="0"/>
                <a:ea typeface="Fraunces ExtraBold" pitchFamily="34" charset="-122"/>
                <a:cs typeface="Fraunces ExtraBold" pitchFamily="34" charset="-120"/>
              </a:rPr>
              <a:t>Work</a:t>
            </a:r>
            <a:endParaRPr lang="en-US" sz="3700" b="1"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574" y="1536402"/>
            <a:ext cx="5358671" cy="2225675"/>
          </a:xfrm>
          <a:prstGeom prst="rect">
            <a:avLst/>
          </a:prstGeom>
        </p:spPr>
      </p:pic>
      <p:sp>
        <p:nvSpPr>
          <p:cNvPr id="4" name="Text 1"/>
          <p:cNvSpPr/>
          <p:nvPr/>
        </p:nvSpPr>
        <p:spPr>
          <a:xfrm>
            <a:off x="3227456" y="1678186"/>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FFFFFF"/>
                </a:solidFill>
                <a:latin typeface="Fraunces ExtraBold" pitchFamily="34" charset="0"/>
                <a:ea typeface="Fraunces ExtraBold" pitchFamily="34" charset="-122"/>
                <a:cs typeface="Fraunces ExtraBold" pitchFamily="34" charset="-120"/>
              </a:rPr>
              <a:t>1</a:t>
            </a:r>
            <a:endParaRPr lang="en-US" sz="1750" dirty="0"/>
          </a:p>
        </p:txBody>
      </p:sp>
      <p:sp>
        <p:nvSpPr>
          <p:cNvPr id="5" name="Text 2"/>
          <p:cNvSpPr/>
          <p:nvPr/>
        </p:nvSpPr>
        <p:spPr>
          <a:xfrm>
            <a:off x="875980" y="2292350"/>
            <a:ext cx="3295270" cy="295275"/>
          </a:xfrm>
          <a:prstGeom prst="rect">
            <a:avLst/>
          </a:prstGeom>
          <a:noFill/>
          <a:ln/>
        </p:spPr>
        <p:txBody>
          <a:bodyPr wrap="none" lIns="0" tIns="0" rIns="0" bIns="0" rtlCol="0" anchor="t"/>
          <a:lstStyle/>
          <a:p>
            <a:pPr marL="0" indent="0" algn="l">
              <a:lnSpc>
                <a:spcPct val="104000"/>
              </a:lnSpc>
              <a:buNone/>
            </a:pPr>
            <a:r>
              <a:rPr lang="en-US" sz="1850" b="1" dirty="0">
                <a:solidFill>
                  <a:srgbClr val="030303"/>
                </a:solidFill>
                <a:latin typeface="Fraunces ExtraBold" pitchFamily="34" charset="0"/>
                <a:ea typeface="Fraunces ExtraBold" pitchFamily="34" charset="-122"/>
                <a:cs typeface="Fraunces ExtraBold" pitchFamily="34" charset="-120"/>
              </a:rPr>
              <a:t>Species Identification Head</a:t>
            </a:r>
            <a:endParaRPr lang="en-US" sz="1850" b="1" dirty="0"/>
          </a:p>
        </p:txBody>
      </p:sp>
      <p:sp>
        <p:nvSpPr>
          <p:cNvPr id="6" name="Text 3"/>
          <p:cNvSpPr/>
          <p:nvPr/>
        </p:nvSpPr>
        <p:spPr>
          <a:xfrm>
            <a:off x="875980" y="2678311"/>
            <a:ext cx="4929858" cy="869355"/>
          </a:xfrm>
          <a:prstGeom prst="rect">
            <a:avLst/>
          </a:prstGeom>
          <a:noFill/>
          <a:ln/>
        </p:spPr>
        <p:txBody>
          <a:bodyPr wrap="square" lIns="0" tIns="0" rIns="0" bIns="0" rtlCol="0" anchor="t">
            <a:normAutofit fontScale="92500" lnSpcReduction="10000"/>
          </a:bodyPr>
          <a:lstStyle/>
          <a:p>
            <a:pPr marL="342900" indent="-342900" algn="l">
              <a:lnSpc>
                <a:spcPct val="120000"/>
              </a:lnSpc>
              <a:buSzPct val="100000"/>
              <a:buChar char="•"/>
            </a:pPr>
            <a:r>
              <a:rPr lang="en-US" dirty="0">
                <a:solidFill>
                  <a:srgbClr val="030303"/>
                </a:solidFill>
                <a:latin typeface="Aptos Display" panose="020B0004020202020204" pitchFamily="34" charset="0"/>
                <a:ea typeface="Instrument Sans" pitchFamily="34" charset="-122"/>
                <a:cs typeface="Instrument Sans" pitchFamily="34" charset="-120"/>
              </a:rPr>
              <a:t>Multi-task model to detect host plant + pathogen simultaneously</a:t>
            </a:r>
            <a:endParaRPr lang="en-US" dirty="0">
              <a:latin typeface="Aptos Display" panose="020B0004020202020204" pitchFamily="34" charset="0"/>
            </a:endParaRPr>
          </a:p>
          <a:p>
            <a:pPr marL="342900" indent="-342900" algn="l">
              <a:lnSpc>
                <a:spcPct val="120000"/>
              </a:lnSpc>
              <a:buSzPct val="100000"/>
              <a:buChar char="•"/>
            </a:pPr>
            <a:r>
              <a:rPr lang="en-US" dirty="0">
                <a:solidFill>
                  <a:srgbClr val="030303"/>
                </a:solidFill>
                <a:latin typeface="Aptos Display" panose="020B0004020202020204" pitchFamily="34" charset="0"/>
                <a:ea typeface="Instrument Sans" pitchFamily="34" charset="-122"/>
                <a:cs typeface="Instrument Sans" pitchFamily="34" charset="-120"/>
              </a:rPr>
              <a:t>Enables species-specific diagnostic probabilities</a:t>
            </a:r>
            <a:endParaRPr lang="en-US" dirty="0">
              <a:latin typeface="Aptos Display" panose="020B0004020202020204" pitchFamily="34" charset="0"/>
            </a:endParaRPr>
          </a:p>
        </p:txBody>
      </p:sp>
      <p:sp>
        <p:nvSpPr>
          <p:cNvPr id="8" name="Text 4"/>
          <p:cNvSpPr/>
          <p:nvPr/>
        </p:nvSpPr>
        <p:spPr>
          <a:xfrm>
            <a:off x="8737332" y="1678186"/>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FFFFFF"/>
                </a:solidFill>
                <a:latin typeface="Fraunces ExtraBold" pitchFamily="34" charset="0"/>
                <a:ea typeface="Fraunces ExtraBold" pitchFamily="34" charset="-122"/>
                <a:cs typeface="Fraunces ExtraBold" pitchFamily="34" charset="-120"/>
              </a:rPr>
              <a:t>2</a:t>
            </a:r>
            <a:endParaRPr lang="en-US" sz="175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34651" y="1536402"/>
            <a:ext cx="5358671" cy="2225675"/>
          </a:xfrm>
          <a:prstGeom prst="rect">
            <a:avLst/>
          </a:prstGeom>
        </p:spPr>
      </p:pic>
      <p:sp>
        <p:nvSpPr>
          <p:cNvPr id="12" name="Text 7"/>
          <p:cNvSpPr/>
          <p:nvPr/>
        </p:nvSpPr>
        <p:spPr>
          <a:xfrm>
            <a:off x="8800533" y="1678185"/>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FFFFFF"/>
                </a:solidFill>
                <a:latin typeface="Fraunces ExtraBold" pitchFamily="34" charset="0"/>
                <a:ea typeface="Fraunces ExtraBold" pitchFamily="34" charset="-122"/>
                <a:cs typeface="Fraunces ExtraBold" pitchFamily="34" charset="-120"/>
              </a:rPr>
              <a:t>2</a:t>
            </a:r>
            <a:endParaRPr lang="en-US" sz="1750" dirty="0"/>
          </a:p>
        </p:txBody>
      </p:sp>
      <p:sp>
        <p:nvSpPr>
          <p:cNvPr id="13" name="Text 8"/>
          <p:cNvSpPr/>
          <p:nvPr/>
        </p:nvSpPr>
        <p:spPr>
          <a:xfrm>
            <a:off x="6449057" y="2145704"/>
            <a:ext cx="3445384" cy="295275"/>
          </a:xfrm>
          <a:prstGeom prst="rect">
            <a:avLst/>
          </a:prstGeom>
          <a:noFill/>
          <a:ln/>
        </p:spPr>
        <p:txBody>
          <a:bodyPr wrap="none" lIns="0" tIns="0" rIns="0" bIns="0" rtlCol="0" anchor="t"/>
          <a:lstStyle/>
          <a:p>
            <a:pPr>
              <a:lnSpc>
                <a:spcPct val="104000"/>
              </a:lnSpc>
            </a:pPr>
            <a:r>
              <a:rPr lang="en-US" sz="2000" b="1" dirty="0"/>
              <a:t>Climate &amp; Weather Integration</a:t>
            </a:r>
            <a:endParaRPr lang="en-US" sz="2000" dirty="0"/>
          </a:p>
          <a:p>
            <a:pPr marL="0" indent="0" algn="l">
              <a:lnSpc>
                <a:spcPct val="104000"/>
              </a:lnSpc>
              <a:buNone/>
            </a:pPr>
            <a:endParaRPr lang="en-US" sz="1850" b="1" dirty="0"/>
          </a:p>
        </p:txBody>
      </p:sp>
      <p:sp>
        <p:nvSpPr>
          <p:cNvPr id="14" name="Text 9"/>
          <p:cNvSpPr/>
          <p:nvPr/>
        </p:nvSpPr>
        <p:spPr>
          <a:xfrm>
            <a:off x="6449057" y="2440980"/>
            <a:ext cx="4929858" cy="1106686"/>
          </a:xfrm>
          <a:prstGeom prst="rect">
            <a:avLst/>
          </a:prstGeom>
          <a:noFill/>
          <a:ln/>
        </p:spPr>
        <p:txBody>
          <a:bodyPr wrap="square" lIns="0" tIns="0" rIns="0" bIns="0" rtlCol="0" anchor="t">
            <a:normAutofit fontScale="92500" lnSpcReduction="20000"/>
          </a:bodyPr>
          <a:lstStyle/>
          <a:p>
            <a:pPr marL="342900" indent="-342900">
              <a:lnSpc>
                <a:spcPct val="120000"/>
              </a:lnSpc>
              <a:buSzPct val="100000"/>
              <a:buFontTx/>
              <a:buChar char="•"/>
            </a:pPr>
            <a:r>
              <a:rPr lang="en-US" dirty="0"/>
              <a:t>Incorporate real-time local weather APIs                 (temperature, humidity, UV ) </a:t>
            </a:r>
          </a:p>
          <a:p>
            <a:pPr marL="342900" indent="-342900">
              <a:lnSpc>
                <a:spcPct val="120000"/>
              </a:lnSpc>
              <a:buSzPct val="100000"/>
              <a:buFontTx/>
              <a:buChar char="•"/>
            </a:pPr>
            <a:r>
              <a:rPr lang="en-US" dirty="0"/>
              <a:t>Dynamically adjust watering schedules and predict climate-driven disease risks</a:t>
            </a:r>
          </a:p>
          <a:p>
            <a:pPr marL="342900" indent="-342900">
              <a:lnSpc>
                <a:spcPct val="120000"/>
              </a:lnSpc>
              <a:buSzPct val="100000"/>
              <a:buFontTx/>
              <a:buChar char="•"/>
            </a:pPr>
            <a:endParaRPr lang="en-US" dirty="0"/>
          </a:p>
        </p:txBody>
      </p:sp>
      <p:pic>
        <p:nvPicPr>
          <p:cNvPr id="15"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41862" y="3942357"/>
            <a:ext cx="5358671" cy="2225675"/>
          </a:xfrm>
          <a:prstGeom prst="rect">
            <a:avLst/>
          </a:prstGeom>
        </p:spPr>
      </p:pic>
      <p:sp>
        <p:nvSpPr>
          <p:cNvPr id="16" name="Text 10"/>
          <p:cNvSpPr/>
          <p:nvPr/>
        </p:nvSpPr>
        <p:spPr>
          <a:xfrm>
            <a:off x="6007744" y="4084140"/>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FFFFFF"/>
                </a:solidFill>
                <a:latin typeface="Fraunces ExtraBold" pitchFamily="34" charset="0"/>
                <a:ea typeface="Fraunces ExtraBold" pitchFamily="34" charset="-122"/>
                <a:cs typeface="Fraunces ExtraBold" pitchFamily="34" charset="-120"/>
              </a:rPr>
              <a:t>3</a:t>
            </a:r>
            <a:endParaRPr lang="en-US" sz="1750" dirty="0"/>
          </a:p>
        </p:txBody>
      </p:sp>
      <p:sp>
        <p:nvSpPr>
          <p:cNvPr id="17" name="Text 11"/>
          <p:cNvSpPr/>
          <p:nvPr/>
        </p:nvSpPr>
        <p:spPr>
          <a:xfrm>
            <a:off x="3656269" y="4698304"/>
            <a:ext cx="3338727" cy="295275"/>
          </a:xfrm>
          <a:prstGeom prst="rect">
            <a:avLst/>
          </a:prstGeom>
          <a:noFill/>
          <a:ln/>
        </p:spPr>
        <p:txBody>
          <a:bodyPr wrap="none" lIns="0" tIns="0" rIns="0" bIns="0" rtlCol="0" anchor="t"/>
          <a:lstStyle/>
          <a:p>
            <a:pPr marL="0" indent="0" algn="l">
              <a:lnSpc>
                <a:spcPct val="104000"/>
              </a:lnSpc>
              <a:buNone/>
            </a:pPr>
            <a:r>
              <a:rPr lang="en-US" sz="1850" b="1" dirty="0">
                <a:solidFill>
                  <a:srgbClr val="030303"/>
                </a:solidFill>
                <a:latin typeface="Fraunces ExtraBold" pitchFamily="34" charset="0"/>
                <a:ea typeface="Fraunces ExtraBold" pitchFamily="34" charset="-122"/>
                <a:cs typeface="Fraunces ExtraBold" pitchFamily="34" charset="-120"/>
              </a:rPr>
              <a:t>Treatment Protocol Library</a:t>
            </a:r>
            <a:endParaRPr lang="en-US" sz="1850" b="1" dirty="0"/>
          </a:p>
        </p:txBody>
      </p:sp>
      <p:sp>
        <p:nvSpPr>
          <p:cNvPr id="18" name="Text 12"/>
          <p:cNvSpPr/>
          <p:nvPr/>
        </p:nvSpPr>
        <p:spPr>
          <a:xfrm>
            <a:off x="3656269" y="5084265"/>
            <a:ext cx="4929858" cy="869355"/>
          </a:xfrm>
          <a:prstGeom prst="rect">
            <a:avLst/>
          </a:prstGeom>
          <a:noFill/>
          <a:ln/>
        </p:spPr>
        <p:txBody>
          <a:bodyPr wrap="square" lIns="0" tIns="0" rIns="0" bIns="0" rtlCol="0" anchor="t">
            <a:normAutofit fontScale="92500" lnSpcReduction="10000"/>
          </a:bodyPr>
          <a:lstStyle/>
          <a:p>
            <a:pPr marL="342900" indent="-342900" algn="l">
              <a:lnSpc>
                <a:spcPct val="120000"/>
              </a:lnSpc>
              <a:buSzPct val="100000"/>
              <a:buChar char="•"/>
            </a:pPr>
            <a:r>
              <a:rPr lang="en-US" dirty="0">
                <a:solidFill>
                  <a:srgbClr val="030303"/>
                </a:solidFill>
                <a:latin typeface="Aptos Display" panose="020B0004020202020204" pitchFamily="34" charset="0"/>
                <a:ea typeface="Instrument Sans" pitchFamily="34" charset="-122"/>
                <a:cs typeface="Instrument Sans" pitchFamily="34" charset="-120"/>
              </a:rPr>
              <a:t>Step-by-step organic/chemical care guides with image references</a:t>
            </a:r>
            <a:endParaRPr lang="en-US" dirty="0">
              <a:latin typeface="Aptos Display" panose="020B0004020202020204" pitchFamily="34" charset="0"/>
            </a:endParaRPr>
          </a:p>
          <a:p>
            <a:pPr marL="342900" indent="-342900" algn="l">
              <a:lnSpc>
                <a:spcPct val="120000"/>
              </a:lnSpc>
              <a:buSzPct val="100000"/>
              <a:buChar char="•"/>
            </a:pPr>
            <a:r>
              <a:rPr lang="en-US" dirty="0">
                <a:solidFill>
                  <a:srgbClr val="030303"/>
                </a:solidFill>
                <a:latin typeface="Aptos Display" panose="020B0004020202020204" pitchFamily="34" charset="0"/>
                <a:ea typeface="Instrument Sans" pitchFamily="34" charset="-122"/>
                <a:cs typeface="Instrument Sans" pitchFamily="34" charset="-120"/>
              </a:rPr>
              <a:t>Integrated treatment planning beyond diagnosis</a:t>
            </a:r>
            <a:endParaRPr lang="en-US" dirty="0">
              <a:latin typeface="Aptos Display" panose="020B00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3">
            <a:alphaModFix amt="20000"/>
            <a:lum/>
          </a:blip>
          <a:srcRect/>
          <a:stretch>
            <a:fillRect t="-109000" b="-109000"/>
          </a:stretch>
        </a:blipFill>
        <a:effectLst/>
      </p:bgPr>
    </p:bg>
    <p:spTree>
      <p:nvGrpSpPr>
        <p:cNvPr id="1" name=""/>
        <p:cNvGrpSpPr/>
        <p:nvPr/>
      </p:nvGrpSpPr>
      <p:grpSpPr>
        <a:xfrm>
          <a:off x="0" y="0"/>
          <a:ext cx="0" cy="0"/>
          <a:chOff x="0" y="0"/>
          <a:chExt cx="0" cy="0"/>
        </a:xfrm>
      </p:grpSpPr>
      <p:sp>
        <p:nvSpPr>
          <p:cNvPr id="2" name="Text 0"/>
          <p:cNvSpPr/>
          <p:nvPr/>
        </p:nvSpPr>
        <p:spPr>
          <a:xfrm>
            <a:off x="356782" y="1775123"/>
            <a:ext cx="11478132" cy="1476673"/>
          </a:xfrm>
          <a:prstGeom prst="rect">
            <a:avLst/>
          </a:prstGeom>
          <a:noFill/>
          <a:ln/>
        </p:spPr>
        <p:txBody>
          <a:bodyPr wrap="none" lIns="0" tIns="0" rIns="0" bIns="0" rtlCol="0" anchor="t"/>
          <a:lstStyle/>
          <a:p>
            <a:pPr marL="0" indent="0" algn="ctr">
              <a:lnSpc>
                <a:spcPct val="104000"/>
              </a:lnSpc>
              <a:buNone/>
            </a:pPr>
            <a:r>
              <a:rPr lang="en-US" sz="9300" b="1" dirty="0">
                <a:solidFill>
                  <a:srgbClr val="265834"/>
                </a:solidFill>
                <a:latin typeface="Fraunces ExtraBold" pitchFamily="34" charset="0"/>
                <a:ea typeface="Fraunces ExtraBold" pitchFamily="34" charset="-122"/>
                <a:cs typeface="Fraunces ExtraBold" pitchFamily="34" charset="-120"/>
              </a:rPr>
              <a:t>Thank You </a:t>
            </a:r>
            <a:endParaRPr lang="en-US" sz="9300" b="1" dirty="0">
              <a:solidFill>
                <a:srgbClr val="265834"/>
              </a:solidFill>
            </a:endParaRPr>
          </a:p>
        </p:txBody>
      </p:sp>
      <p:sp>
        <p:nvSpPr>
          <p:cNvPr id="3" name="Text 1"/>
          <p:cNvSpPr/>
          <p:nvPr/>
        </p:nvSpPr>
        <p:spPr>
          <a:xfrm>
            <a:off x="356782" y="3606205"/>
            <a:ext cx="11478132" cy="1476673"/>
          </a:xfrm>
          <a:prstGeom prst="rect">
            <a:avLst/>
          </a:prstGeom>
          <a:noFill/>
          <a:ln/>
        </p:spPr>
        <p:txBody>
          <a:bodyPr wrap="none" lIns="0" tIns="0" rIns="0" bIns="0" rtlCol="0" anchor="t"/>
          <a:lstStyle/>
          <a:p>
            <a:pPr marL="0" indent="0" algn="ctr">
              <a:lnSpc>
                <a:spcPct val="104000"/>
              </a:lnSpc>
              <a:buNone/>
            </a:pPr>
            <a:r>
              <a:rPr lang="en-US" sz="9300" b="1" dirty="0">
                <a:solidFill>
                  <a:srgbClr val="265834"/>
                </a:solidFill>
                <a:latin typeface="Fraunces ExtraBold" pitchFamily="34" charset="0"/>
                <a:ea typeface="Fraunces ExtraBold" pitchFamily="34" charset="-122"/>
                <a:cs typeface="Fraunces ExtraBold" pitchFamily="34" charset="-120"/>
              </a:rPr>
              <a:t>For Listening</a:t>
            </a:r>
            <a:endParaRPr lang="en-US" sz="9300" b="1" dirty="0">
              <a:solidFill>
                <a:srgbClr val="265834"/>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32673D"/>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493</TotalTime>
  <Words>2363</Words>
  <Application>Microsoft Office PowerPoint</Application>
  <PresentationFormat>Widescreen</PresentationFormat>
  <Paragraphs>378</Paragraphs>
  <Slides>39</Slides>
  <Notes>38</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 Display</vt:lpstr>
      <vt:lpstr>Arial</vt:lpstr>
      <vt:lpstr>Fraunces ExtraBold</vt:lpstr>
      <vt:lpstr>Wingdings</vt:lpstr>
      <vt:lpstr>Instrument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Ahmed Hassan</dc:creator>
  <cp:lastModifiedBy>Ahmed Abu Almakarem</cp:lastModifiedBy>
  <cp:revision>10</cp:revision>
  <dcterms:created xsi:type="dcterms:W3CDTF">2026-06-15T15:46:16Z</dcterms:created>
  <dcterms:modified xsi:type="dcterms:W3CDTF">2026-06-17T18:01:42Z</dcterms:modified>
</cp:coreProperties>
</file>